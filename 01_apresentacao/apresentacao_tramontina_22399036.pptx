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8288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6977"/>
                </a:solidFill>
              </a:rPr>
              <a:t>PROJETO DE FABRICA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57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15F9F"/>
                </a:solidFill>
              </a:rPr>
              <a:t>Kit para Churrasco Tramontina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7212B"/>
                </a:solidFill>
              </a:rPr>
              <a:t>com Laminas em Aco Inox e Cabos em Madeira Natural — 3 Pecas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1005840" cy="27432"/>
          </a:xfrm>
          <a:prstGeom prst="rect">
            <a:avLst/>
          </a:prstGeom>
          <a:solidFill>
            <a:srgbClr val="B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55448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6977"/>
                </a:solidFill>
              </a:rPr>
              <a:t>SKU 22399036 · Tramontina · Arranjo Fisico Industrial — Grupo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92024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212B"/>
                </a:solidFill>
              </a:rPr>
              <a:t>Integrantes: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121408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 b="0">
                <a:solidFill>
                  <a:srgbClr val="17212B"/>
                </a:solidFill>
              </a:rPr>
              <a:t>Bernardo Gomes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17212B"/>
                </a:solidFill>
              </a:rPr>
              <a:t>Lucas de Mello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17212B"/>
                </a:solidFill>
              </a:rPr>
              <a:t>Clara Hermsdorff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17212B"/>
                </a:solidFill>
              </a:rPr>
              <a:t>João Deccax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17212B"/>
                </a:solidFill>
              </a:rPr>
              <a:t>André Baptista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3767328"/>
            <a:ext cx="1389888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3767328"/>
            <a:ext cx="45720" cy="804672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3803904"/>
            <a:ext cx="1261872" cy="418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15F9F"/>
                </a:solidFill>
              </a:rPr>
              <a:t>1.000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185757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kits bons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370832"/>
            <a:ext cx="1261872" cy="185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212B"/>
                </a:solidFill>
              </a:rPr>
              <a:t>Meta semanal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767328"/>
            <a:ext cx="1389888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0" y="3767328"/>
            <a:ext cx="45720" cy="804672"/>
          </a:xfrm>
          <a:prstGeom prst="rect">
            <a:avLst/>
          </a:prstGeom>
          <a:solidFill>
            <a:srgbClr val="2F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3803904"/>
            <a:ext cx="1261872" cy="418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7D57"/>
                </a:solidFill>
              </a:rPr>
              <a:t>384 m2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185757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24 x 16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370832"/>
            <a:ext cx="1261872" cy="185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212B"/>
                </a:solidFill>
              </a:rPr>
              <a:t>Area fabrica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3767328"/>
            <a:ext cx="1389888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0128" y="3767328"/>
            <a:ext cx="45720" cy="804672"/>
          </a:xfrm>
          <a:prstGeom prst="rect">
            <a:avLst/>
          </a:prstGeom>
          <a:solidFill>
            <a:srgbClr val="B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3803904"/>
            <a:ext cx="1261872" cy="418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7820"/>
                </a:solidFill>
              </a:rPr>
              <a:t>2x RTC.1313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4185757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Router CNC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4370832"/>
            <a:ext cx="1261872" cy="185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212B"/>
                </a:solidFill>
              </a:rPr>
              <a:t>Gargalo CNC</a:t>
            </a:r>
          </a:p>
        </p:txBody>
      </p:sp>
      <p:pic>
        <p:nvPicPr>
          <p:cNvPr id="25" name="Picture 24" descr="22399036_produto_principal_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73152"/>
            <a:ext cx="2971800" cy="4754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47472" y="497890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Projeto de Fabrica · Tramontina Kit Churrasco 22399036 · Grupo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3657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09728"/>
            <a:ext cx="1828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82296"/>
            <a:ext cx="8156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Objetivos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7890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Projeto de Fabrica · Tramontina Kit Churrasco 22399036 · Grupo A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04088"/>
            <a:ext cx="329184" cy="796442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04088"/>
            <a:ext cx="329184" cy="796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731520"/>
            <a:ext cx="8010144" cy="72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7212B"/>
                </a:solidFill>
              </a:rPr>
              <a:t>Desenvolver proposta básica de fábrica para o Kit para Churrasco Tramontina 3 Peças (ref. 22399036), com meta semanal de 1.000 kits bons.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555394"/>
            <a:ext cx="329184" cy="796442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555394"/>
            <a:ext cx="329184" cy="796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582826"/>
            <a:ext cx="8010144" cy="72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7212B"/>
                </a:solidFill>
              </a:rPr>
              <a:t>Dimensionar processos, equipamentos e arranjo físico para integrar setor metálico, setor madeira, montagem e embalagem em fluxo contínuo.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406700"/>
            <a:ext cx="329184" cy="796442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406700"/>
            <a:ext cx="329184" cy="796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434132"/>
            <a:ext cx="8010144" cy="72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7212B"/>
                </a:solidFill>
              </a:rPr>
              <a:t>Calcular quantidades de equipamentos com base em tempos-padrão estimados, eficiência, confiabilidade e rendimento de processo explicitados.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3258007"/>
            <a:ext cx="329184" cy="796442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258007"/>
            <a:ext cx="329184" cy="796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285439"/>
            <a:ext cx="8010144" cy="72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7212B"/>
                </a:solidFill>
              </a:rPr>
              <a:t>Selecionar segmentos de mercado visados e justificar a meta de produção proposta.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4109313"/>
            <a:ext cx="329184" cy="796442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4109313"/>
            <a:ext cx="329184" cy="796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136745"/>
            <a:ext cx="8010144" cy="72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7212B"/>
                </a:solidFill>
              </a:rPr>
              <a:t>Gerar documentação técnica auditável — tabelas, fluxograma, mapofluxograma, layout esquemático e memória de cálculo — com todas as fontes identificadas.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3657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09728"/>
            <a:ext cx="1828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82296"/>
            <a:ext cx="8156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Produto — Kit Churrasco Tramontina 22399036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7890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Projeto de Fabrica · Tramontina Kit Churrasco 22399036 · Grupo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7665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D6977"/>
                </a:solidFill>
              </a:rPr>
              <a:t>Composicao do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8778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212B"/>
                </a:solidFill>
              </a:rPr>
              <a:t>Faca Chef 8" · Garfo Trinchante · Tabua Retangular Macaranduba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225295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D6977"/>
                </a:solidFill>
              </a:rPr>
              <a:t>Materiais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426464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50" b="0">
                <a:solidFill>
                  <a:srgbClr val="17212B"/>
                </a:solidFill>
              </a:rPr>
              <a:t>• Laminas de aco inox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17212B"/>
                </a:solidFill>
              </a:rPr>
              <a:t>• Cabos de madeira natural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17212B"/>
                </a:solidFill>
              </a:rPr>
              <a:t>• Rebites de aluminio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17212B"/>
                </a:solidFill>
              </a:rPr>
              <a:t>• Tabua de madeira Macaranduba com acabamento natural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17212B"/>
                </a:solidFill>
              </a:rPr>
              <a:t>• Certificacao FSC C125626 informada na pagina/embalagem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3408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D6977"/>
                </a:solidFill>
              </a:rPr>
              <a:t>Embalagem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542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7212B"/>
                </a:solidFill>
              </a:rPr>
              <a:t>38.9 x 4.0 x 21.6 cm  |  1.23 kg</a:t>
            </a:r>
          </a:p>
        </p:txBody>
      </p:sp>
      <p:pic>
        <p:nvPicPr>
          <p:cNvPr id="13" name="Picture 12" descr="22315008_faca_chef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889504"/>
            <a:ext cx="1584959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7472" y="3822191"/>
            <a:ext cx="15849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Faca Chef 8"</a:t>
            </a:r>
          </a:p>
        </p:txBody>
      </p:sp>
      <p:pic>
        <p:nvPicPr>
          <p:cNvPr id="15" name="Picture 14" descr="22330000_garfo_trinchan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160" y="2889504"/>
            <a:ext cx="1584959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42160" y="3822191"/>
            <a:ext cx="15849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Garfo Trinchante</a:t>
            </a:r>
          </a:p>
        </p:txBody>
      </p:sp>
      <p:pic>
        <p:nvPicPr>
          <p:cNvPr id="17" name="Picture 16" descr="13102152_tabua_retangula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848" y="2889504"/>
            <a:ext cx="1584959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36848" y="3822191"/>
            <a:ext cx="15849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Tabua Macaranduba</a:t>
            </a:r>
          </a:p>
        </p:txBody>
      </p:sp>
      <p:pic>
        <p:nvPicPr>
          <p:cNvPr id="19" name="Picture 18" descr="22399036_item_aberto_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676656"/>
            <a:ext cx="33375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3657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09728"/>
            <a:ext cx="1828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82296"/>
            <a:ext cx="8156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Estrutura Pai-Filho — Arvore do Produto (BOM)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7890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Projeto de Fabrica · Tramontina Kit Churrasco 22399036 · Grupo A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676656"/>
            <a:ext cx="8449056" cy="45720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722376"/>
            <a:ext cx="8174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Kit 22399036 — Kit para Churrasco Tramontina 3 Pecas (embalado para envio)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133856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</a:rPr>
              <a:t>v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389888"/>
            <a:ext cx="4142232" cy="256032"/>
          </a:xfrm>
          <a:prstGeom prst="rect">
            <a:avLst/>
          </a:prstGeom>
          <a:solidFill>
            <a:srgbClr val="2F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426464"/>
            <a:ext cx="3995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FABRICAR INTERNAMENTE (3 itens)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664208"/>
            <a:ext cx="4142232" cy="967740"/>
          </a:xfrm>
          <a:prstGeom prst="rect">
            <a:avLst/>
          </a:prstGeom>
          <a:solidFill>
            <a:srgbClr val="FFFFFF"/>
          </a:solidFill>
          <a:ln w="635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1664208"/>
            <a:ext cx="45720" cy="967740"/>
          </a:xfrm>
          <a:prstGeom prst="rect">
            <a:avLst/>
          </a:prstGeom>
          <a:solidFill>
            <a:srgbClr val="2F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00784"/>
            <a:ext cx="3977640" cy="894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12B"/>
                </a:solidFill>
              </a:rPr>
              <a:t>Faca chef 8 pol. com lamina em aco inox, cabo de madeira natural e rebites de aluminio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668524"/>
            <a:ext cx="4142232" cy="967740"/>
          </a:xfrm>
          <a:prstGeom prst="rect">
            <a:avLst/>
          </a:prstGeom>
          <a:solidFill>
            <a:srgbClr val="FFFFFF"/>
          </a:solidFill>
          <a:ln w="635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2668524"/>
            <a:ext cx="45720" cy="967740"/>
          </a:xfrm>
          <a:prstGeom prst="rect">
            <a:avLst/>
          </a:prstGeom>
          <a:solidFill>
            <a:srgbClr val="2F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05100"/>
            <a:ext cx="3977640" cy="894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12B"/>
                </a:solidFill>
              </a:rPr>
              <a:t>Garfo trinchante com lamina em aco inox, cabo de madeira natural e rebites de aluminio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3672840"/>
            <a:ext cx="4142232" cy="967740"/>
          </a:xfrm>
          <a:prstGeom prst="rect">
            <a:avLst/>
          </a:prstGeom>
          <a:solidFill>
            <a:srgbClr val="FFFFFF"/>
          </a:solidFill>
          <a:ln w="635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" y="3672840"/>
            <a:ext cx="45720" cy="967740"/>
          </a:xfrm>
          <a:prstGeom prst="rect">
            <a:avLst/>
          </a:prstGeom>
          <a:solidFill>
            <a:srgbClr val="2F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09416"/>
            <a:ext cx="3977640" cy="894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12B"/>
                </a:solidFill>
              </a:rPr>
              <a:t>Tabua retangular em madeira Macaranduba com acabamento natural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54296" y="1389888"/>
            <a:ext cx="4142232" cy="256032"/>
          </a:xfrm>
          <a:prstGeom prst="rect">
            <a:avLst/>
          </a:prstGeom>
          <a:solidFill>
            <a:srgbClr val="B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1426464"/>
            <a:ext cx="3995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COMPRAR DE FORNECEDOR (4 itens)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54296" y="1664208"/>
            <a:ext cx="4142232" cy="716661"/>
          </a:xfrm>
          <a:prstGeom prst="rect">
            <a:avLst/>
          </a:prstGeom>
          <a:solidFill>
            <a:srgbClr val="FFFFFF"/>
          </a:solidFill>
          <a:ln w="6350">
            <a:solidFill>
              <a:srgbClr val="B0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54296" y="1664208"/>
            <a:ext cx="45720" cy="716661"/>
          </a:xfrm>
          <a:prstGeom prst="rect">
            <a:avLst/>
          </a:prstGeom>
          <a:solidFill>
            <a:srgbClr val="B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64024" y="1700784"/>
            <a:ext cx="3977640" cy="64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12B"/>
                </a:solidFill>
              </a:rPr>
              <a:t>Cartela/cinta impressa da embalagem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54296" y="2417445"/>
            <a:ext cx="4142232" cy="716661"/>
          </a:xfrm>
          <a:prstGeom prst="rect">
            <a:avLst/>
          </a:prstGeom>
          <a:solidFill>
            <a:srgbClr val="FFFFFF"/>
          </a:solidFill>
          <a:ln w="6350">
            <a:solidFill>
              <a:srgbClr val="B0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54296" y="2417445"/>
            <a:ext cx="45720" cy="716661"/>
          </a:xfrm>
          <a:prstGeom prst="rect">
            <a:avLst/>
          </a:prstGeom>
          <a:solidFill>
            <a:srgbClr val="B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64024" y="2454021"/>
            <a:ext cx="3977640" cy="64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12B"/>
                </a:solidFill>
              </a:rPr>
              <a:t>Blister/suporte plastico transparente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54296" y="3170682"/>
            <a:ext cx="4142232" cy="716661"/>
          </a:xfrm>
          <a:prstGeom prst="rect">
            <a:avLst/>
          </a:prstGeom>
          <a:solidFill>
            <a:srgbClr val="FFFFFF"/>
          </a:solidFill>
          <a:ln w="6350">
            <a:solidFill>
              <a:srgbClr val="B0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54296" y="3170682"/>
            <a:ext cx="45720" cy="716661"/>
          </a:xfrm>
          <a:prstGeom prst="rect">
            <a:avLst/>
          </a:prstGeom>
          <a:solidFill>
            <a:srgbClr val="B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64024" y="3207258"/>
            <a:ext cx="3977640" cy="64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12B"/>
                </a:solidFill>
              </a:rPr>
              <a:t>Etiqueta/codigo de barras/rastreabilidade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54296" y="3923919"/>
            <a:ext cx="4142232" cy="716661"/>
          </a:xfrm>
          <a:prstGeom prst="rect">
            <a:avLst/>
          </a:prstGeom>
          <a:solidFill>
            <a:srgbClr val="FFFFFF"/>
          </a:solidFill>
          <a:ln w="6350">
            <a:solidFill>
              <a:srgbClr val="B0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54296" y="3923919"/>
            <a:ext cx="45720" cy="716661"/>
          </a:xfrm>
          <a:prstGeom prst="rect">
            <a:avLst/>
          </a:prstGeom>
          <a:solidFill>
            <a:srgbClr val="B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64024" y="3960495"/>
            <a:ext cx="3977640" cy="64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212B"/>
                </a:solidFill>
              </a:rPr>
              <a:t>Caixa de transporte para envio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4741164"/>
            <a:ext cx="8449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D6977"/>
                </a:solidFill>
              </a:rPr>
              <a:t>Itens fabricados internamente para controle de qualidade e acabamento. Itens de embalagem adquiridos de fornecedores especializados.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3657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09728"/>
            <a:ext cx="1828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82296"/>
            <a:ext cx="8156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Segmentos de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7890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Projeto de Fabrica · Tramontina Kit Churrasco 22399036 · Grupo A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694944"/>
            <a:ext cx="4142232" cy="2077974"/>
          </a:xfrm>
          <a:prstGeom prst="rect">
            <a:avLst/>
          </a:prstGeom>
          <a:solidFill>
            <a:srgbClr val="FFFFFF"/>
          </a:solidFill>
          <a:ln w="6350">
            <a:solidFill>
              <a:srgbClr val="31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694944"/>
            <a:ext cx="4142232" cy="256032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722376"/>
            <a:ext cx="3959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Varejo doméstico de churrasco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987552"/>
            <a:ext cx="3959352" cy="1730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12B"/>
                </a:solidFill>
              </a:rPr>
              <a:t>O Brasil possui cultura de churrasco consolidada com consumo frequente em todas as regiões. O produto Tramontina tem reconhecimento nacional de qualidade, garantia de 5 anos e distribuição em redes de varejo de grande porte.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54296" y="694944"/>
            <a:ext cx="4142232" cy="2077974"/>
          </a:xfrm>
          <a:prstGeom prst="rect">
            <a:avLst/>
          </a:prstGeom>
          <a:solidFill>
            <a:srgbClr val="FFFFFF"/>
          </a:solidFill>
          <a:ln w="635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54296" y="694944"/>
            <a:ext cx="4142232" cy="256032"/>
          </a:xfrm>
          <a:prstGeom prst="rect">
            <a:avLst/>
          </a:prstGeom>
          <a:solidFill>
            <a:srgbClr val="2F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722376"/>
            <a:ext cx="3959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Kits presente e gift sets sazonais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987552"/>
            <a:ext cx="3959352" cy="1730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12B"/>
                </a:solidFill>
              </a:rPr>
              <a:t>Dia dos Pais, Natal e Dia dos Namorados concentram picos de demanda por kits de churrasco. A embalagem compacta (1,23 kg, 38,9 cm de altura) facilita o transporte e o presenteamento.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900934"/>
            <a:ext cx="4142232" cy="2077974"/>
          </a:xfrm>
          <a:prstGeom prst="rect">
            <a:avLst/>
          </a:prstGeom>
          <a:solidFill>
            <a:srgbClr val="FFFFFF"/>
          </a:solidFill>
          <a:ln w="6350">
            <a:solidFill>
              <a:srgbClr val="B0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2900934"/>
            <a:ext cx="4142232" cy="256032"/>
          </a:xfrm>
          <a:prstGeom prst="rect">
            <a:avLst/>
          </a:prstGeom>
          <a:solidFill>
            <a:srgbClr val="B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928366"/>
            <a:ext cx="3959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E-commerce e marketplaces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3193542"/>
            <a:ext cx="3959352" cy="1730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12B"/>
                </a:solidFill>
              </a:rPr>
              <a:t>As dimensões compactas da embalagem (38,9 × 4,0 × 21,6 cm, 1,23 kg) são favoráveis ao custo de frete e compatíveis com restrições de tamanho das plataformas. O produto já está disponível no e-commerce oficial da Tramontina.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54296" y="2900934"/>
            <a:ext cx="4142232" cy="2077974"/>
          </a:xfrm>
          <a:prstGeom prst="rect">
            <a:avLst/>
          </a:prstGeom>
          <a:solidFill>
            <a:srgbClr val="FFFFFF"/>
          </a:solidFill>
          <a:ln w="635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54296" y="2900934"/>
            <a:ext cx="4142232" cy="256032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45736" y="2928366"/>
            <a:ext cx="3959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Brindes corporativos e programas de fidelidade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5736" y="3193542"/>
            <a:ext cx="3959352" cy="1730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12B"/>
                </a:solidFill>
              </a:rPr>
              <a:t>A certificação FSC C125626 da madeira e a marca Tramontina reforçam o apelo sustentável, relevante para empresas com compromissos ESG. O kit representa um brinde de alto valor percebido com custo unitário moderado.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3657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09728"/>
            <a:ext cx="1828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82296"/>
            <a:ext cx="8156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Meta Semanal de Producao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7890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Projeto de Fabrica · Tramontina Kit Churrasco 22399036 · Grupo A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694944"/>
            <a:ext cx="1609344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694944"/>
            <a:ext cx="45720" cy="987552"/>
          </a:xfrm>
          <a:prstGeom prst="rect">
            <a:avLst/>
          </a:prstGeom>
          <a:solidFill>
            <a:srgbClr val="2F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731520"/>
            <a:ext cx="1481328" cy="51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7D57"/>
                </a:solidFill>
              </a:rP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208471"/>
            <a:ext cx="14813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kits/semana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435608"/>
            <a:ext cx="1481328" cy="22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212B"/>
                </a:solidFill>
              </a:rPr>
              <a:t>Meta boa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694944"/>
            <a:ext cx="1609344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0" y="694944"/>
            <a:ext cx="45720" cy="987552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731520"/>
            <a:ext cx="1481328" cy="51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15F9F"/>
                </a:solidFill>
              </a:rPr>
              <a:t>1053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1208471"/>
            <a:ext cx="14813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kits/semana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1435608"/>
            <a:ext cx="1481328" cy="22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212B"/>
                </a:solidFill>
              </a:rPr>
              <a:t>Dem. bruta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67328" y="694944"/>
            <a:ext cx="1609344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7328" y="694944"/>
            <a:ext cx="45720" cy="987552"/>
          </a:xfrm>
          <a:prstGeom prst="rect">
            <a:avLst/>
          </a:prstGeom>
          <a:solidFill>
            <a:srgbClr val="B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731520"/>
            <a:ext cx="1481328" cy="51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7820"/>
                </a:solidFill>
              </a:rPr>
              <a:t>35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1208471"/>
            <a:ext cx="14813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por semana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1435608"/>
            <a:ext cx="1481328" cy="22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212B"/>
                </a:solidFill>
              </a:rPr>
              <a:t>Horas uteis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77256" y="694944"/>
            <a:ext cx="1609344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77256" y="694944"/>
            <a:ext cx="45720" cy="987552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68696" y="731520"/>
            <a:ext cx="1481328" cy="51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63D40"/>
                </a:solidFill>
              </a:rPr>
              <a:t>30.1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68696" y="1208471"/>
            <a:ext cx="14813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kits/h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68696" y="1435608"/>
            <a:ext cx="1481328" cy="22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212B"/>
                </a:solidFill>
              </a:rPr>
              <a:t>Ritmo medio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87184" y="694944"/>
            <a:ext cx="1609344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7184" y="694944"/>
            <a:ext cx="45720" cy="98755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8624" y="731520"/>
            <a:ext cx="1481328" cy="51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A4C93"/>
                </a:solidFill>
              </a:rPr>
              <a:t>95%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8624" y="1208471"/>
            <a:ext cx="14813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rendimento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78624" y="1435608"/>
            <a:ext cx="1481328" cy="22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212B"/>
                </a:solidFill>
              </a:rPr>
              <a:t>Yield final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47472" y="1847088"/>
          <a:ext cx="8823960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194560"/>
                <a:gridCol w="3154680"/>
              </a:tblGrid>
              <a:tr h="38576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Premissa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Valor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Fonte / Justificativa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</a:tr>
              <a:tr h="38576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Meta semanal de kits bons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1.000 kits/semana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Premissa do projeto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576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Dias uteis / semana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5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Premissa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76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Turnos / dia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1 turno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Premissa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576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Horas uteis / turno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7 h uteis de 8 programadas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Premissa — deduz pausa e manutencao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76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Eficiencia geral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Premissa de engenharia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576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Confiabilidade equip.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Premissa de engenharia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766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Rendimento final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95%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Premissa de engenharia — kits bons / producao bruta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3657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09728"/>
            <a:ext cx="1828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82296"/>
            <a:ext cx="8156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Tabela 1 — Componentes (BOM)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7890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Projeto de Fabrica · Tramontina Kit Churrasco 22399036 · Grupo 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47472" y="713232"/>
          <a:ext cx="8823960" cy="4219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84048"/>
                <a:gridCol w="566928"/>
                <a:gridCol w="1170432"/>
                <a:gridCol w="3227832"/>
              </a:tblGrid>
              <a:tr h="527494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Componente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Qtd.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Un.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Fazer / Comprar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Justificativa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</a:tr>
              <a:tr h="5274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Faca chef 8 pol. com lamina em aco inox, cabo de madeira natural e rebites de aluminio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unidade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Fazer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Item filho oficial; fabricar internamente por ser item de valor/qualidade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74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Garfo trinchante com lamina em aco inox, cabo de madeira natural e rebites de aluminio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unidade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Fazer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Item filho oficial; fabricar internamente por controle de acabamento/montagem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74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Tabua retangular em madeira Macaranduba com acabamento natural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unidade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Fazer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Item filho oficial; fabricar internamente por ser peca principal do kit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74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Cartela/cinta impressa da embalagem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unidade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Comprar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Inferido pela embalagem oficial; item grafico padronizado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74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Blister/suporte plastico transparente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unidade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Comprar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Inferido pela embalagem oficial; fornecedor especializado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74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Etiqueta/codigo de barras/rastreabilidade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conjunto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Comprar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Premissa de venda e rastreabilidade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7498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Caixa de transporte para envio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unidade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Comprar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Requisito do enunciado: unidade embalada para envio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3657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09728"/>
            <a:ext cx="1828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82296"/>
            <a:ext cx="8156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Processo Produtivo — Tabela 2 (26 processos)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7890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Projeto de Fabrica · Tramontina Kit Churrasco 22399036 · Grupo A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676656"/>
            <a:ext cx="1616659" cy="640080"/>
          </a:xfrm>
          <a:prstGeom prst="rect">
            <a:avLst/>
          </a:prstGeom>
          <a:solidFill>
            <a:srgbClr val="2F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94944"/>
            <a:ext cx="16166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024128"/>
            <a:ext cx="16166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Operacao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5571" y="676656"/>
            <a:ext cx="1616659" cy="640080"/>
          </a:xfrm>
          <a:prstGeom prst="rect">
            <a:avLst/>
          </a:prstGeom>
          <a:solidFill>
            <a:srgbClr val="B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5571" y="694944"/>
            <a:ext cx="16166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5571" y="1024128"/>
            <a:ext cx="16166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Inspecao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63670" y="676656"/>
            <a:ext cx="1616659" cy="64008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3670" y="694944"/>
            <a:ext cx="16166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3670" y="1024128"/>
            <a:ext cx="16166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Transporte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71769" y="676656"/>
            <a:ext cx="1616659" cy="64008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71769" y="694944"/>
            <a:ext cx="16166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1769" y="1024128"/>
            <a:ext cx="16166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Armazenagem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9868" y="676656"/>
            <a:ext cx="1616659" cy="640080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9868" y="694944"/>
            <a:ext cx="16166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9868" y="1024128"/>
            <a:ext cx="16166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Espera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1389888"/>
            <a:ext cx="8449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7212B"/>
                </a:solidFill>
              </a:rPr>
              <a:t>Total: 26 processos distribuidos em 5 setores de producao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47472" y="1645919"/>
          <a:ext cx="8823960" cy="3287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3703320"/>
              </a:tblGrid>
              <a:tr h="54787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Setor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Processos incluidos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Recursos principais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</a:tr>
              <a:tr h="547878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7212B"/>
                          </a:solidFill>
                        </a:rPr>
                        <a:t>Recebimento (P1-P2)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7212B"/>
                          </a:solidFill>
                        </a:rPr>
                        <a:t>Inspecao de entrada + Armazenagem de MP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7212B"/>
                          </a:solidFill>
                        </a:rPr>
                        <a:t>Doca, paleteira, balanca, estantes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7878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7212B"/>
                          </a:solidFill>
                        </a:rPr>
                        <a:t>Setor Metal (P3-P10)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7212B"/>
                          </a:solidFill>
                        </a:rPr>
                        <a:t>8 processos: corte laser, TT, polimento, afiacao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7212B"/>
                          </a:solidFill>
                        </a:rPr>
                        <a:t>Laser fibra CNC, Forno TT, Politriz, Afiador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7878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7212B"/>
                          </a:solidFill>
                        </a:rPr>
                        <a:t>Setor Madeira (P11-P17)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7212B"/>
                          </a:solidFill>
                        </a:rPr>
                        <a:t>7 processos: corte, usinagem CNC, lixamento, acabamento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7212B"/>
                          </a:solidFill>
                        </a:rPr>
                        <a:t>Esquadrejadeira, Router CNC (2x), Lixadeira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7878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7212B"/>
                          </a:solidFill>
                        </a:rPr>
                        <a:t>Montagem (P18-P24)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7212B"/>
                          </a:solidFill>
                        </a:rPr>
                        <a:t>7 processos: rebitagem, kit, blister, embalagem final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7212B"/>
                          </a:solidFill>
                        </a:rPr>
                        <a:t>Rebitadeira pneumatica, Bancada, Seladora Blister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7878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7212B"/>
                          </a:solidFill>
                        </a:rPr>
                        <a:t>Expedicao (P25-P26)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7212B"/>
                          </a:solidFill>
                        </a:rPr>
                        <a:t>Armazenagem de PA + Transporte para expedicao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7212B"/>
                          </a:solidFill>
                        </a:rPr>
                        <a:t>Porta-paletes, paleteira, doca de saida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3657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09728"/>
            <a:ext cx="1828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82296"/>
            <a:ext cx="8156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Fluxograma do Processo — 26 Etapas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7890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Projeto de Fabrica · Tramontina Kit Churrasco 22399036 · Grupo A</a:t>
            </a:r>
          </a:p>
        </p:txBody>
      </p:sp>
      <p:pic>
        <p:nvPicPr>
          <p:cNvPr id="7" name="Picture 6" descr="fluxograma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21792"/>
            <a:ext cx="8449056" cy="43113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3657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09728"/>
            <a:ext cx="1828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82296"/>
            <a:ext cx="8156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Tabela 3 — Equipamentos Selecionados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7890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Projeto de Fabrica · Tramontina Kit Churrasco 22399036 · Grupo 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47472" y="694944"/>
          <a:ext cx="7452360" cy="4238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560320"/>
                <a:gridCol w="1234440"/>
                <a:gridCol w="438912"/>
                <a:gridCol w="886968"/>
              </a:tblGrid>
              <a:tr h="353187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Equipamento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Fornecedor / Modelo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Taxa efetiva (kits/h)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Qtd.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Utilizacao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</a:tr>
              <a:tr h="353187"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Corte laser fibra CNC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Madetech CNC Fiber Pro 1530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61.3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49.1%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3187"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Forno de tratamento termico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Cecomatec 703.099 com carro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115.0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26.2%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187"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Lixadeira/politriz de cinta para metal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Fornecedor a definir Lixadeira/politriz industrial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30.7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98.1%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3187"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Afiador de facas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Maksiwa AF.650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92.0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32.7%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187"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Esquadrejadeira para madeira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Maksiwa BMS.1900.I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61.3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49.1%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3187"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Router CNC para madeira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Maksiwa Store RTC.1313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23.0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65.4%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187"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Lixadeira de madeira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Fornecedor a definir Lixadeira de cinta/orbital industrial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30.7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98.1%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3187"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Bancada de acabamento de madeira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Montagem interna Bancada + exaustao/local de cura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46.0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65.4%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187"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Rebitadeira pneumatica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Rebitex 404-S TURBO-X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30.7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98.1%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3187"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Bancada de montagem e inspecao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Montagem interna Bancada industrial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46.0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65.4%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187"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Seladora blister tipo carrossel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Flockcolor 40 x 50 cm semiautomatica pneumatica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183.9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7212B"/>
                          </a:solidFill>
                        </a:rPr>
                        <a:t>16.4%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3657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09728"/>
            <a:ext cx="1828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82296"/>
            <a:ext cx="8156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Memoria de Calculo — Equipamento Selecionado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7890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Projeto de Fabrica · Tramontina Kit Churrasco 22399036 · Grupo A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694944"/>
            <a:ext cx="60350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694944"/>
            <a:ext cx="54864" cy="45720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31520"/>
            <a:ext cx="5833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15F9F"/>
                </a:solidFill>
              </a:rPr>
              <a:t>Router CNC para madeira — Maksiwa Store modelo RTC.1313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950976"/>
            <a:ext cx="5833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6977"/>
                </a:solidFill>
              </a:rPr>
              <a:t>Operacao: 13 - Fresar sulco da tabua e usinar/furar cabos  |  A tabua e os cabos exigem usinagem/fresagem com repetibilidade; a etapa tem tempo padrao estimado alto e tende a ser gargalo.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225295"/>
            <a:ext cx="6035040" cy="365760"/>
          </a:xfrm>
          <a:prstGeom prst="rect">
            <a:avLst/>
          </a:prstGeom>
          <a:solidFill>
            <a:srgbClr val="EDF2F7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252728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D6977"/>
                </a:solidFill>
              </a:rPr>
              <a:t>Formula: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408175"/>
            <a:ext cx="585215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7212B"/>
                </a:solidFill>
              </a:rPr>
              <a:t>quantidade = teto(demanda_bruta_semana / (taxa_nominal_h * horas_uteis_semana * eficiencia * confiabilidade * rendimento_processo))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47472" y="1664207"/>
          <a:ext cx="6035040" cy="326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188720"/>
                <a:gridCol w="2377440"/>
              </a:tblGrid>
              <a:tr h="40862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Valor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Fonte / Premissa</a:t>
                      </a:r>
                    </a:p>
                  </a:txBody>
                  <a:tcPr>
                    <a:solidFill>
                      <a:srgbClr val="315F9F"/>
                    </a:solidFill>
                  </a:tcPr>
                </a:tc>
              </a:tr>
              <a:tr h="40862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Tempo-padrao por kit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120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Estimativa de engenharia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862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Taxa 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30 kits/h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3600 / tempo-padrao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862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Horas uteis / semana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35 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5 dias x 7 h uteis/dia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862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Eficiencia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Premissa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862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Confiabilidade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Premissa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862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Rendimento do processo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Premissa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8626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Demanda bruta semanal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1053 kits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7212B"/>
                          </a:solidFill>
                        </a:rPr>
                        <a:t>Meta boa / rendimento final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556247" y="694944"/>
            <a:ext cx="1920240" cy="2077974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56247" y="694944"/>
            <a:ext cx="45720" cy="2077974"/>
          </a:xfrm>
          <a:prstGeom prst="rect">
            <a:avLst/>
          </a:prstGeom>
          <a:solidFill>
            <a:srgbClr val="2F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7" y="731520"/>
            <a:ext cx="1792224" cy="1080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7D57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7" y="1775490"/>
            <a:ext cx="1792224" cy="519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unidades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7" y="2253424"/>
            <a:ext cx="1792224" cy="477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212B"/>
                </a:solidFill>
              </a:rPr>
              <a:t>Quantidade necessaria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6247" y="2864358"/>
            <a:ext cx="1920240" cy="2032254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6247" y="2864358"/>
            <a:ext cx="45720" cy="2032254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7" y="2900934"/>
            <a:ext cx="1792224" cy="1056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15F9F"/>
                </a:solidFill>
              </a:rPr>
              <a:t>65.4%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7" y="3921130"/>
            <a:ext cx="1792224" cy="50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das 2 unidades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7" y="4388548"/>
            <a:ext cx="1792224" cy="467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212B"/>
                </a:solidFill>
              </a:rPr>
              <a:t>Utilizacao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3657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09728"/>
            <a:ext cx="1828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82296"/>
            <a:ext cx="8156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Layout Esquematico — 24 x 16 m = 384 m2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7890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Projeto de Fabrica · Tramontina Kit Churrasco 22399036 · Grupo A</a:t>
            </a:r>
          </a:p>
        </p:txBody>
      </p:sp>
      <p:pic>
        <p:nvPicPr>
          <p:cNvPr id="7" name="Picture 6" descr="layout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21792"/>
            <a:ext cx="8449056" cy="43113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3657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09728"/>
            <a:ext cx="1828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82296"/>
            <a:ext cx="8156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Mapofluxograma — Fluxo sobre o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7890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Projeto de Fabrica · Tramontina Kit Churrasco 22399036 · Grupo A</a:t>
            </a:r>
          </a:p>
        </p:txBody>
      </p:sp>
      <p:pic>
        <p:nvPicPr>
          <p:cNvPr id="7" name="Picture 6" descr="mapofluxograma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21792"/>
            <a:ext cx="8449056" cy="43113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3657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09728"/>
            <a:ext cx="1828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82296"/>
            <a:ext cx="8156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Conclusoes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7890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Projeto de Fabrica · Tramontina Kit Churrasco 22399036 · Grupo A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676656"/>
            <a:ext cx="8449056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31520"/>
            <a:ext cx="824788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7212B"/>
                </a:solidFill>
              </a:rPr>
              <a:t>O projeto propõe uma fábrica de 384 m² (24 m × 16 m) capaz de produzir 1.000 kits bons/semana (demanda bruta calculada de 1.053 kits/semana) em regime de 1 turno de 7 h úteis/dia, 5 dias/semana. A ocupação do espaço é de 67,8%, com área requerida estimada de 260,4 m².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371600"/>
            <a:ext cx="202311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371600"/>
            <a:ext cx="45720" cy="731520"/>
          </a:xfrm>
          <a:prstGeom prst="rect">
            <a:avLst/>
          </a:prstGeom>
          <a:solidFill>
            <a:srgbClr val="31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408176"/>
            <a:ext cx="1895093" cy="380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15F9F"/>
                </a:solidFill>
              </a:rPr>
              <a:t>384 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751990"/>
            <a:ext cx="189509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24 x 16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920240"/>
            <a:ext cx="1895093" cy="168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212B"/>
                </a:solidFill>
              </a:rPr>
              <a:t>Area 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9453" y="1371600"/>
            <a:ext cx="202311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89453" y="1371600"/>
            <a:ext cx="45720" cy="731520"/>
          </a:xfrm>
          <a:prstGeom prst="rect">
            <a:avLst/>
          </a:prstGeom>
          <a:solidFill>
            <a:srgbClr val="2F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0894" y="1408176"/>
            <a:ext cx="1895093" cy="380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7D57"/>
                </a:solidFill>
              </a:rPr>
              <a:t>67.8%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0894" y="1751990"/>
            <a:ext cx="189509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67,8% ocupado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0894" y="1920240"/>
            <a:ext cx="1895093" cy="168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212B"/>
                </a:solidFill>
              </a:rPr>
              <a:t>Ocupacao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31436" y="1371600"/>
            <a:ext cx="202311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31436" y="1371600"/>
            <a:ext cx="45720" cy="731520"/>
          </a:xfrm>
          <a:prstGeom prst="rect">
            <a:avLst/>
          </a:prstGeom>
          <a:solidFill>
            <a:srgbClr val="B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2875" y="1408176"/>
            <a:ext cx="1895093" cy="380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7820"/>
                </a:solidFill>
              </a:rPr>
              <a:t>Router CNC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2875" y="1751990"/>
            <a:ext cx="189509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Maksiwa RTC.1313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2875" y="1920240"/>
            <a:ext cx="1895093" cy="168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212B"/>
                </a:solidFill>
              </a:rPr>
              <a:t>Gargalo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73418" y="1371600"/>
            <a:ext cx="202311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73418" y="1371600"/>
            <a:ext cx="45720" cy="731520"/>
          </a:xfrm>
          <a:prstGeom prst="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64857" y="1408176"/>
            <a:ext cx="1895093" cy="380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63D40"/>
                </a:solidFill>
              </a:rPr>
              <a:t>65.4%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64857" y="1751990"/>
            <a:ext cx="189509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D6977"/>
                </a:solidFill>
              </a:rPr>
              <a:t>2 unidades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4857" y="1920240"/>
            <a:ext cx="1895093" cy="168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212B"/>
                </a:solidFill>
              </a:rPr>
              <a:t>Utilizacao garg.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2212848"/>
            <a:ext cx="8449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212B"/>
                </a:solidFill>
              </a:rPr>
              <a:t>Oportunidades de melhoria: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2432304"/>
            <a:ext cx="4142232" cy="2510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800" b="0">
                <a:solidFill>
                  <a:srgbClr val="17212B"/>
                </a:solidFill>
              </a:rPr>
              <a:t>• Realizar estudo de tempos real (cronoanálise) no chão de fábrica para substituir os tempos-padrão estimados por valores medidos.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17212B"/>
                </a:solidFill>
              </a:rPr>
              <a:t>• Cotar equipamentos com pelo menos dois fornecedores alternativos para validar capacidades e dimensões antes de fechar o layout definitivo.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17212B"/>
                </a:solidFill>
              </a:rPr>
              <a:t>• Conduzir um piloto de produção de 1 semana para validar o rendimento final de 95% e as taxas de eficiência e confiabilidade assumidas.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2432304"/>
            <a:ext cx="4142232" cy="2510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800" b="0">
                <a:solidFill>
                  <a:srgbClr val="17212B"/>
                </a:solidFill>
              </a:rPr>
              <a:t>• Avaliar implantação de Controle Estatístico de Processo (CEP) nas etapas críticas de tratamento térmico e afiação para reduzir variabilidade de qualidade.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17212B"/>
                </a:solidFill>
              </a:rPr>
              <a:t>• Modelar cenários de demanda (±30%) para dimensionar plano de capacidade de resposta sem ociosidade excessiva ou gargalos adicionais.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17212B"/>
                </a:solidFill>
              </a:rPr>
              <a:t>• Incluir análise de custo de implantação e payback como complemento ao projeto básico de fábrica.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
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commentAuthors.xml" ContentType="application/vnd.openxmlformats-officedocument.presentationml.commentAuthors+xml"/>
  <Override PartName="/ppt/comments/comment1.xml" ContentType="application/vnd.openxmlformats-officedocument.presentationml.comments+xml"/>
  <Override PartName="/ppt/comments/comment2.xml" ContentType="application/vnd.openxmlformats-officedocument.presentationml.comments+xml"/>
  <Override PartName="/ppt/comments/comment3.xml" ContentType="application/vnd.openxmlformats-officedocument.presentationml.comments+xml"/>
  <Override PartName="/ppt/comments/comment4.xml" ContentType="application/vnd.openxmlformats-officedocument.presentationml.comments+xml"/>
  <Override PartName="/ppt/comments/comment5.xml" ContentType="application/vnd.openxmlformats-officedocument.presentationml.comments+xml"/>
  <Override PartName="/ppt/comments/comment6.xml" ContentType="application/vnd.openxmlformats-officedocument.presentationml.comment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82" r:id="rId42"/>
    <p:sldId id="283" r:id="rId43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y="6858000" cx="12192000"/>
  <p:notesSz cx="6858000" cy="9144000"/>
  <p:embeddedFontLst>
    <p:embeddedFont>
      <p:font typeface="Lato"/>
      <p:regular r:id="rId34"/>
      <p:bold r:id="rId35"/>
      <p:italic r:id="rId36"/>
      <p:boldItalic r:id="rId37"/>
    </p:embeddedFont>
    <p:embeddedFont>
      <p:font typeface="Poppins"/>
      <p:regular r:id="rId38"/>
      <p:bold r:id="rId39"/>
      <p:italic r:id="rId40"/>
      <p:boldItalic r:id="rId4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Author clrIdx="0" id="0" initials="" lastIdx="6" name="João Deccax"/>
</p:cmAuthorLst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C85B2FC3-EC09-4A34-8C88-7F451D0598A5}">
  <a:tblStyle styleId="{C85B2FC3-EC09-4A34-8C88-7F451D0598A5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fill>
          <a:solidFill>
            <a:srgbClr val="CFD7E7"/>
          </a:solidFill>
        </a:fill>
      </a:tcStyle>
    </a:band1H>
    <a:band2H>
      <a:tcTxStyle/>
    </a:band2H>
    <a:band1V>
      <a:tcTxStyle/>
      <a:tcStyle>
        <a:fill>
          <a:solidFill>
            <a:srgbClr val="CFD7E7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  <a:tblStyle styleId="{5BC8699D-3FC4-49ED-B972-4155DA869AD9}" styleName="Table_1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commentAuthors" Target="commentAuthors.xml"/><Relationship Id="rId6" Type="http://schemas.openxmlformats.org/officeDocument/2006/relationships/slideMaster" Target="slideMasters/slideMaster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font" Target="fonts/Lato-regular.fntdata"/><Relationship Id="rId35" Type="http://schemas.openxmlformats.org/officeDocument/2006/relationships/font" Target="fonts/Lato-bold.fntdata"/><Relationship Id="rId36" Type="http://schemas.openxmlformats.org/officeDocument/2006/relationships/font" Target="fonts/Lato-italic.fntdata"/><Relationship Id="rId37" Type="http://schemas.openxmlformats.org/officeDocument/2006/relationships/font" Target="fonts/Lato-boldItalic.fntdata"/><Relationship Id="rId38" Type="http://schemas.openxmlformats.org/officeDocument/2006/relationships/font" Target="fonts/Poppins-regular.fntdata"/><Relationship Id="rId39" Type="http://schemas.openxmlformats.org/officeDocument/2006/relationships/font" Target="fonts/Poppins-bold.fntdata"/><Relationship Id="rId40" Type="http://schemas.openxmlformats.org/officeDocument/2006/relationships/font" Target="fonts/Poppins-italic.fntdata"/><Relationship Id="rId41" Type="http://schemas.openxmlformats.org/officeDocument/2006/relationships/font" Target="fonts/Poppins-boldItalic.fntdata"/><Relationship Id="rId42" Type="http://schemas.openxmlformats.org/officeDocument/2006/relationships/slide" Target="slides/slide27.xml"/><Relationship Id="rId43" Type="http://schemas.openxmlformats.org/officeDocument/2006/relationships/slide" Target="slides/slide28.xml"/></Relationships>
</file>

<file path=ppt/comments/comment1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1" dt="2026-06-03T16:44:10.306">
    <p:pos x="6000" y="0"/>
    <p:text>Ponto 12: Desenho esquemático do arranjo físico com representação das áreas de produção, estoque, transporte e inspeção, localizando (com dimensões aproximadas) os equipamentos e mobiliários previstos para a instalação. Apresentar, no mínimo, as dimensões totais.</p:text>
  </p:cm>
</p:cmLst>
</file>

<file path=ppt/comments/comment2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2" dt="2026-06-03T16:43:52.913">
    <p:pos x="6000" y="0"/>
    <p:text>Pontos 9 e 13: Fluxograma do processo para fabricação industrial, utilizando os ícones representativos dos tipos de processos (operação, transporte, inspeção, armazenagem, espera) e a numeração correspondente a tabela 2. e Mapofluxograma</p:text>
  </p:cm>
</p:cmLst>
</file>

<file path=ppt/comments/comment3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3" dt="2026-06-03T16:43:13.663">
    <p:pos x="0" y="0"/>
    <p:text>Ponto 10: Tabela 3 com tipos de equipamentos selecionados, fornecedores, medidas aproximadas, capacidade informada pelo fabricante.</p:text>
  </p:cm>
</p:cmLst>
</file>

<file path=ppt/comments/comment4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4" dt="2026-06-03T16:45:24.232">
    <p:pos x="6000" y="0"/>
    <p:text>Ponto 11: Seleção de 1 equipamento - Informações sobre o equipamento e cálculo de quantidade necessária para atender à demanda. Apresentar descritivo de cálculo e premissas consideradas sobre turnos de trabalho, horas úteis disponíveis para produção, capacidade nominal do equipamento, confiabilidade, as operações que serão realizadas nele, tempos padrão considerados, eficiência e % de produção boa. OBS.: As mesmas premissas, com exceção da capacidade nominal e das operações. deverão ser consideradas para a definição da quantidade dos demais equipamentos/maquinário da fábrica. No entanto, para os demais equipamentos não deverá ser apresentada a memória de cálculo.</p:text>
  </p:cm>
</p:cmLst>
</file>

<file path=ppt/comments/comment5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5" dt="2026-06-03T16:43:29.222">
    <p:pos x="6000" y="0"/>
    <p:text>Ponto 14: Conclusões, incluindo reflexão sobre o que seria necessário para aprimorar o projeto.</p:text>
  </p:cm>
</p:cmLst>
</file>

<file path=ppt/comments/comment6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6" dt="2026-06-03T16:42:38.604">
    <p:pos x="6000" y="0"/>
    <p:text>Desse slide para baixo foi tudo feito pela IA (acredito eu) e não parece precisar deles nas orientações da Suzana, acho que podemos deletar</p:text>
  </p:cm>
</p:cmLst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0" name="Google Shape;150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Google Shape;167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6" name="Google Shape;186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5" name="Google Shape;205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6" name="Google Shape;226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g3e80715317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g3e807153179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g3e18e94d5e4_7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0" name="Google Shape;290;g3e18e94d5e4_7_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2" name="Google Shape;322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3e80a6f957d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g3e80a6f957d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g3e80a6f957d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8" name="Google Shape;338;g3e80a6f957d_0_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g3e80a6f957d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g3e80a6f957d_0_2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g3e80a6f957d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9" name="Google Shape;359;g3e80a6f957d_0_1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5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g3e80a6f957d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7" name="Google Shape;367;g3e80a6f957d_0_2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3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g3e8e9bc890a_1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5" name="Google Shape;375;g3e8e9bc890a_1_1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g3e8c1e322f1_0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3" name="Google Shape;383;g3e8c1e322f1_0_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4" name="Google Shape;394;p1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2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Google Shape;413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4" name="Google Shape;414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5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7" name="Google Shape;437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3" name="Shape 4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Google Shape;45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5" name="Google Shape;455;p1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5" name="Shape 4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Google Shape;466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7" name="Google Shape;467;p1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8" name="Shape 4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9" name="Google Shape;479;p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0" name="Google Shape;480;p1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7.png"/><Relationship Id="rId4" Type="http://schemas.openxmlformats.org/officeDocument/2006/relationships/image" Target="../media/image6.png"/><Relationship Id="rId5" Type="http://schemas.openxmlformats.org/officeDocument/2006/relationships/image" Target="../media/image3.png"/><Relationship Id="rId6" Type="http://schemas.openxmlformats.org/officeDocument/2006/relationships/image" Target="../media/image10.png"/><Relationship Id="rId7" Type="http://schemas.openxmlformats.org/officeDocument/2006/relationships/image" Target="../media/image9.png"/><Relationship Id="rId8" Type="http://schemas.openxmlformats.org/officeDocument/2006/relationships/image" Target="../media/image15.png"/><Relationship Id="rId9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png"/><Relationship Id="rId4" Type="http://schemas.openxmlformats.org/officeDocument/2006/relationships/image" Target="../media/image6.png"/><Relationship Id="rId5" Type="http://schemas.openxmlformats.org/officeDocument/2006/relationships/image" Target="../media/image3.png"/><Relationship Id="rId6" Type="http://schemas.openxmlformats.org/officeDocument/2006/relationships/image" Target="../media/image10.png"/><Relationship Id="rId7" Type="http://schemas.openxmlformats.org/officeDocument/2006/relationships/image" Target="../media/image5.png"/><Relationship Id="rId8" Type="http://schemas.openxmlformats.org/officeDocument/2006/relationships/image" Target="../media/image1.png"/><Relationship Id="rId9" Type="http://schemas.openxmlformats.org/officeDocument/2006/relationships/image" Target="../media/image3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png"/><Relationship Id="rId4" Type="http://schemas.openxmlformats.org/officeDocument/2006/relationships/image" Target="../media/image1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Relationship Id="rId4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7.png"/><Relationship Id="rId4" Type="http://schemas.openxmlformats.org/officeDocument/2006/relationships/image" Target="../media/image27.png"/><Relationship Id="rId5" Type="http://schemas.openxmlformats.org/officeDocument/2006/relationships/image" Target="../media/image17.png"/><Relationship Id="rId6" Type="http://schemas.openxmlformats.org/officeDocument/2006/relationships/image" Target="../media/image1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6.png"/><Relationship Id="rId5" Type="http://schemas.openxmlformats.org/officeDocument/2006/relationships/image" Target="../media/image3.png"/><Relationship Id="rId6" Type="http://schemas.openxmlformats.org/officeDocument/2006/relationships/image" Target="../media/image10.png"/><Relationship Id="rId7" Type="http://schemas.openxmlformats.org/officeDocument/2006/relationships/image" Target="../media/image26.png"/><Relationship Id="rId8" Type="http://schemas.openxmlformats.org/officeDocument/2006/relationships/image" Target="../media/image19.png"/><Relationship Id="rId9" Type="http://schemas.openxmlformats.org/officeDocument/2006/relationships/image" Target="../media/image1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Relationship Id="rId4" Type="http://schemas.openxmlformats.org/officeDocument/2006/relationships/image" Target="../media/image2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Relationship Id="rId4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comments" Target="../comments/commen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comments" Target="../comments/comment2.xml"/><Relationship Id="rId4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comments" Target="../comments/comment3.xml"/><Relationship Id="rId4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comments" Target="../comments/comment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comments" Target="../comments/comment5.xml"/><Relationship Id="rId4" Type="http://schemas.openxmlformats.org/officeDocument/2006/relationships/image" Target="../media/image7.png"/><Relationship Id="rId5" Type="http://schemas.openxmlformats.org/officeDocument/2006/relationships/image" Target="../media/image16.png"/><Relationship Id="rId6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comments" Target="../comments/comment6.xml"/><Relationship Id="rId4" Type="http://schemas.openxmlformats.org/officeDocument/2006/relationships/image" Target="../media/image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34.png"/><Relationship Id="rId5" Type="http://schemas.openxmlformats.org/officeDocument/2006/relationships/image" Target="../media/image31.png"/><Relationship Id="rId6" Type="http://schemas.openxmlformats.org/officeDocument/2006/relationships/image" Target="../media/image2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Relationship Id="rId4" Type="http://schemas.openxmlformats.org/officeDocument/2006/relationships/image" Target="../media/image2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7.png"/><Relationship Id="rId4" Type="http://schemas.openxmlformats.org/officeDocument/2006/relationships/image" Target="../media/image29.png"/><Relationship Id="rId5" Type="http://schemas.openxmlformats.org/officeDocument/2006/relationships/image" Target="../media/image33.png"/><Relationship Id="rId6" Type="http://schemas.openxmlformats.org/officeDocument/2006/relationships/image" Target="../media/image24.png"/><Relationship Id="rId7" Type="http://schemas.openxmlformats.org/officeDocument/2006/relationships/image" Target="../media/image2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7.png"/><Relationship Id="rId4" Type="http://schemas.openxmlformats.org/officeDocument/2006/relationships/image" Target="../media/image30.png"/><Relationship Id="rId5" Type="http://schemas.openxmlformats.org/officeDocument/2006/relationships/image" Target="../media/image35.png"/><Relationship Id="rId6" Type="http://schemas.openxmlformats.org/officeDocument/2006/relationships/image" Target="../media/image23.png"/><Relationship Id="rId7" Type="http://schemas.openxmlformats.org/officeDocument/2006/relationships/image" Target="../media/image3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84" name="Google Shape;84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85" name="Google Shape;85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19162" y="1537394"/>
            <a:ext cx="10353675" cy="3783210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3"/>
          <p:cNvSpPr txBox="1"/>
          <p:nvPr/>
        </p:nvSpPr>
        <p:spPr>
          <a:xfrm>
            <a:off x="1528762" y="2146994"/>
            <a:ext cx="91344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100">
                <a:solidFill>
                  <a:srgbClr val="C48A1A"/>
                </a:solidFill>
                <a:latin typeface="Lato"/>
                <a:ea typeface="Lato"/>
                <a:cs typeface="Lato"/>
                <a:sym typeface="Lato"/>
              </a:rPr>
              <a:t>ARRANJO FÍSICO INDUSTRIAL</a:t>
            </a:r>
            <a:endParaRPr/>
          </a:p>
        </p:txBody>
      </p:sp>
      <p:sp>
        <p:nvSpPr>
          <p:cNvPr id="87" name="Google Shape;87;p13"/>
          <p:cNvSpPr txBox="1"/>
          <p:nvPr/>
        </p:nvSpPr>
        <p:spPr>
          <a:xfrm>
            <a:off x="1300400" y="2585144"/>
            <a:ext cx="9591198" cy="7542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4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Kit Churrasco Tramontina</a:t>
            </a:r>
            <a:endParaRPr/>
          </a:p>
        </p:txBody>
      </p:sp>
      <p:sp>
        <p:nvSpPr>
          <p:cNvPr id="88" name="Google Shape;88;p13"/>
          <p:cNvSpPr txBox="1"/>
          <p:nvPr/>
        </p:nvSpPr>
        <p:spPr>
          <a:xfrm>
            <a:off x="1528762" y="3529905"/>
            <a:ext cx="91344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AAAAAA"/>
                </a:solidFill>
                <a:latin typeface="Lato"/>
                <a:ea typeface="Lato"/>
                <a:cs typeface="Lato"/>
                <a:sym typeface="Lato"/>
              </a:rPr>
              <a:t>Engenharia de Produção | Grupo A | 202</a:t>
            </a:r>
            <a:r>
              <a:rPr lang="en-US" sz="1800">
                <a:solidFill>
                  <a:srgbClr val="AAAAAA"/>
                </a:solidFill>
                <a:latin typeface="Lato"/>
                <a:ea typeface="Lato"/>
                <a:cs typeface="Lato"/>
                <a:sym typeface="Lato"/>
              </a:rPr>
              <a:t>6</a:t>
            </a:r>
            <a:endParaRPr/>
          </a:p>
        </p:txBody>
      </p:sp>
      <p:sp>
        <p:nvSpPr>
          <p:cNvPr id="89" name="Google Shape;89;p13"/>
          <p:cNvSpPr/>
          <p:nvPr/>
        </p:nvSpPr>
        <p:spPr>
          <a:xfrm>
            <a:off x="5143500" y="4091880"/>
            <a:ext cx="1905000" cy="38100"/>
          </a:xfrm>
          <a:prstGeom prst="rect">
            <a:avLst/>
          </a:prstGeom>
          <a:solidFill>
            <a:srgbClr val="C48A1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13"/>
          <p:cNvSpPr txBox="1"/>
          <p:nvPr/>
        </p:nvSpPr>
        <p:spPr>
          <a:xfrm>
            <a:off x="1528762" y="4415730"/>
            <a:ext cx="9134475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200" u="none" cap="none" strike="noStrike">
                <a:solidFill>
                  <a:srgbClr val="C48A1A"/>
                </a:solidFill>
                <a:latin typeface="Lato"/>
                <a:ea typeface="Lato"/>
                <a:cs typeface="Lato"/>
                <a:sym typeface="Lato"/>
              </a:rPr>
              <a:t>Cód. Tramontina: 22399/036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95" name="Google Shape;95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96" name="Google Shape;96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2643187"/>
            <a:ext cx="3492549" cy="25717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97" name="Google Shape;97;p1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349799" y="2643187"/>
            <a:ext cx="3492549" cy="25717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98" name="Google Shape;98;p1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128099" y="2643187"/>
            <a:ext cx="3492549" cy="2571750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14"/>
          <p:cNvSpPr txBox="1"/>
          <p:nvPr/>
        </p:nvSpPr>
        <p:spPr>
          <a:xfrm>
            <a:off x="904875" y="3624262"/>
            <a:ext cx="2967089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C48A1A"/>
                </a:solidFill>
                <a:latin typeface="Poppins"/>
                <a:ea typeface="Poppins"/>
                <a:cs typeface="Poppins"/>
                <a:sym typeface="Poppins"/>
              </a:rPr>
              <a:t>Grupo A</a:t>
            </a:r>
            <a:endParaRPr/>
          </a:p>
        </p:txBody>
      </p:sp>
      <p:sp>
        <p:nvSpPr>
          <p:cNvPr id="100" name="Google Shape;100;p14"/>
          <p:cNvSpPr txBox="1"/>
          <p:nvPr/>
        </p:nvSpPr>
        <p:spPr>
          <a:xfrm>
            <a:off x="904875" y="4167187"/>
            <a:ext cx="28257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Integrantes responsáveis pelo planejamento </a:t>
            </a:r>
            <a:r>
              <a:rPr lang="en-US" sz="1200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de  produção do Kit </a:t>
            </a:r>
            <a:r>
              <a:rPr lang="en-US" sz="1200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Churrasco</a:t>
            </a:r>
            <a:r>
              <a:rPr lang="en-US" sz="1200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 da Tramontina</a:t>
            </a:r>
            <a:endParaRPr/>
          </a:p>
        </p:txBody>
      </p:sp>
      <p:sp>
        <p:nvSpPr>
          <p:cNvPr id="101" name="Google Shape;101;p14"/>
          <p:cNvSpPr txBox="1"/>
          <p:nvPr/>
        </p:nvSpPr>
        <p:spPr>
          <a:xfrm>
            <a:off x="4683174" y="3624262"/>
            <a:ext cx="29670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100">
                <a:solidFill>
                  <a:srgbClr val="C48A1A"/>
                </a:solidFill>
                <a:latin typeface="Poppins"/>
                <a:ea typeface="Poppins"/>
                <a:cs typeface="Poppins"/>
                <a:sym typeface="Poppins"/>
              </a:rPr>
              <a:t>Integrantes</a:t>
            </a:r>
            <a:endParaRPr/>
          </a:p>
        </p:txBody>
      </p:sp>
      <p:sp>
        <p:nvSpPr>
          <p:cNvPr id="102" name="Google Shape;102;p14"/>
          <p:cNvSpPr txBox="1"/>
          <p:nvPr/>
        </p:nvSpPr>
        <p:spPr>
          <a:xfrm>
            <a:off x="4683174" y="4167187"/>
            <a:ext cx="28257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Adrian Vilela, André Bapista, Bernardo Gomes, Clara Barboza, João Pedro Deccax, Leonardo Nespoli e Lucas de Mello</a:t>
            </a:r>
            <a:endParaRPr/>
          </a:p>
        </p:txBody>
      </p:sp>
      <p:sp>
        <p:nvSpPr>
          <p:cNvPr id="103" name="Google Shape;103;p14"/>
          <p:cNvSpPr txBox="1"/>
          <p:nvPr/>
        </p:nvSpPr>
        <p:spPr>
          <a:xfrm>
            <a:off x="8461474" y="3624262"/>
            <a:ext cx="2967089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C48A1A"/>
                </a:solidFill>
                <a:latin typeface="Poppins"/>
                <a:ea typeface="Poppins"/>
                <a:cs typeface="Poppins"/>
                <a:sym typeface="Poppins"/>
              </a:rPr>
              <a:t>Orientação</a:t>
            </a:r>
            <a:endParaRPr/>
          </a:p>
        </p:txBody>
      </p:sp>
      <p:sp>
        <p:nvSpPr>
          <p:cNvPr id="104" name="Google Shape;104;p14"/>
          <p:cNvSpPr txBox="1"/>
          <p:nvPr/>
        </p:nvSpPr>
        <p:spPr>
          <a:xfrm>
            <a:off x="8461474" y="4167187"/>
            <a:ext cx="28257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Professora </a:t>
            </a:r>
            <a:r>
              <a:rPr lang="en-US" sz="1200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: Suzana Dantas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 Disciplina: </a:t>
            </a:r>
            <a:r>
              <a:rPr lang="en-US" sz="1200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Arranjo Físico Industrial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 Semestre: 202</a:t>
            </a:r>
            <a:r>
              <a:rPr lang="en-US" sz="1200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6.</a:t>
            </a: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1</a:t>
            </a:r>
            <a:endParaRPr/>
          </a:p>
        </p:txBody>
      </p:sp>
      <p:pic>
        <p:nvPicPr>
          <p:cNvPr descr="image.png" id="105" name="Google Shape;105;p14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904875" y="3014662"/>
            <a:ext cx="47625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6" name="Google Shape;106;p14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4683174" y="3014662"/>
            <a:ext cx="428625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7" name="Google Shape;107;p14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8461474" y="3014662"/>
            <a:ext cx="47625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14"/>
          <p:cNvSpPr txBox="1"/>
          <p:nvPr/>
        </p:nvSpPr>
        <p:spPr>
          <a:xfrm>
            <a:off x="809625" y="571500"/>
            <a:ext cx="11351418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3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EQUIPE DO PROJETO</a:t>
            </a:r>
            <a:endParaRPr/>
          </a:p>
        </p:txBody>
      </p:sp>
      <p:sp>
        <p:nvSpPr>
          <p:cNvPr id="109" name="Google Shape;109;p14"/>
          <p:cNvSpPr/>
          <p:nvPr/>
        </p:nvSpPr>
        <p:spPr>
          <a:xfrm>
            <a:off x="571500" y="571500"/>
            <a:ext cx="114300" cy="619125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14" name="Google Shape;114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5" name="Google Shape;115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2643187"/>
            <a:ext cx="3492549" cy="25717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6" name="Google Shape;116;p1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349799" y="2643187"/>
            <a:ext cx="3492549" cy="25717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7" name="Google Shape;117;p1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128099" y="2643187"/>
            <a:ext cx="3492549" cy="2571750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15"/>
          <p:cNvSpPr txBox="1"/>
          <p:nvPr/>
        </p:nvSpPr>
        <p:spPr>
          <a:xfrm>
            <a:off x="904875" y="3624262"/>
            <a:ext cx="29670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100">
                <a:solidFill>
                  <a:srgbClr val="C48A1A"/>
                </a:solidFill>
                <a:latin typeface="Poppins"/>
                <a:ea typeface="Poppins"/>
                <a:cs typeface="Poppins"/>
                <a:sym typeface="Poppins"/>
              </a:rPr>
              <a:t>Objetivo Geral</a:t>
            </a:r>
            <a:endParaRPr/>
          </a:p>
        </p:txBody>
      </p:sp>
      <p:sp>
        <p:nvSpPr>
          <p:cNvPr id="119" name="Google Shape;119;p15"/>
          <p:cNvSpPr txBox="1"/>
          <p:nvPr/>
        </p:nvSpPr>
        <p:spPr>
          <a:xfrm>
            <a:off x="904875" y="4167187"/>
            <a:ext cx="2825700" cy="9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Estruturar e implementar uma unidade fabril capaz de produzir o Kit Churrasco Tramontina (3 peças) em escala industrial, garantindo a viabilidade técnica e econômica do processo.</a:t>
            </a:r>
            <a:endParaRPr sz="1200">
              <a:solidFill>
                <a:srgbClr val="E8E8E8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20" name="Google Shape;120;p15"/>
          <p:cNvSpPr txBox="1"/>
          <p:nvPr/>
        </p:nvSpPr>
        <p:spPr>
          <a:xfrm>
            <a:off x="4683174" y="3624262"/>
            <a:ext cx="2967089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C48A1A"/>
                </a:solidFill>
                <a:latin typeface="Poppins"/>
                <a:ea typeface="Poppins"/>
                <a:cs typeface="Poppins"/>
                <a:sym typeface="Poppins"/>
              </a:rPr>
              <a:t>Processos</a:t>
            </a:r>
            <a:endParaRPr/>
          </a:p>
        </p:txBody>
      </p:sp>
      <p:sp>
        <p:nvSpPr>
          <p:cNvPr id="121" name="Google Shape;121;p15"/>
          <p:cNvSpPr txBox="1"/>
          <p:nvPr/>
        </p:nvSpPr>
        <p:spPr>
          <a:xfrm>
            <a:off x="4683174" y="4167187"/>
            <a:ext cx="2825700" cy="11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Definição detalhada dos fluxos produtivos, tipos de operações (estampagem, tratamento térmico, polimento, montagem) e os recursos físicos (maquinário e mobiliário) indispensáveis.</a:t>
            </a:r>
            <a:endParaRPr sz="1200">
              <a:solidFill>
                <a:srgbClr val="E8E8E8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rgbClr val="E8E8E8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22" name="Google Shape;122;p15"/>
          <p:cNvSpPr txBox="1"/>
          <p:nvPr/>
        </p:nvSpPr>
        <p:spPr>
          <a:xfrm>
            <a:off x="8461474" y="3624262"/>
            <a:ext cx="2967089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C48A1A"/>
                </a:solidFill>
                <a:latin typeface="Poppins"/>
                <a:ea typeface="Poppins"/>
                <a:cs typeface="Poppins"/>
                <a:sym typeface="Poppins"/>
              </a:rPr>
              <a:t>Dimensionamento</a:t>
            </a:r>
            <a:endParaRPr/>
          </a:p>
        </p:txBody>
      </p:sp>
      <p:sp>
        <p:nvSpPr>
          <p:cNvPr id="123" name="Google Shape;123;p15"/>
          <p:cNvSpPr txBox="1"/>
          <p:nvPr/>
        </p:nvSpPr>
        <p:spPr>
          <a:xfrm>
            <a:off x="8461474" y="4167187"/>
            <a:ext cx="2825799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Calcular a carga de máquinas e layout para atender à meta de 5.000 kits semanais.</a:t>
            </a:r>
            <a:endParaRPr/>
          </a:p>
        </p:txBody>
      </p:sp>
      <p:pic>
        <p:nvPicPr>
          <p:cNvPr descr="image.png" id="124" name="Google Shape;124;p15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904875" y="3014662"/>
            <a:ext cx="428625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5" name="Google Shape;125;p15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4683174" y="3014662"/>
            <a:ext cx="47625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6" name="Google Shape;126;p15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8461474" y="3014662"/>
            <a:ext cx="3810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7" name="Google Shape;127;p15"/>
          <p:cNvSpPr txBox="1"/>
          <p:nvPr/>
        </p:nvSpPr>
        <p:spPr>
          <a:xfrm>
            <a:off x="809625" y="571500"/>
            <a:ext cx="113514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3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OBJETIVOS </a:t>
            </a:r>
            <a:r>
              <a:rPr b="1" lang="en-US" sz="33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DO PROJETO</a:t>
            </a:r>
            <a:endParaRPr/>
          </a:p>
        </p:txBody>
      </p:sp>
      <p:sp>
        <p:nvSpPr>
          <p:cNvPr id="128" name="Google Shape;128;p15"/>
          <p:cNvSpPr/>
          <p:nvPr/>
        </p:nvSpPr>
        <p:spPr>
          <a:xfrm>
            <a:off x="571500" y="571500"/>
            <a:ext cx="114300" cy="619125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33" name="Google Shape;13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16"/>
          <p:cNvSpPr txBox="1"/>
          <p:nvPr/>
        </p:nvSpPr>
        <p:spPr>
          <a:xfrm>
            <a:off x="571500" y="2776537"/>
            <a:ext cx="5550693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C48A1A"/>
                </a:solidFill>
                <a:latin typeface="Poppins"/>
                <a:ea typeface="Poppins"/>
                <a:cs typeface="Poppins"/>
                <a:sym typeface="Poppins"/>
              </a:rPr>
              <a:t>Kit Churrasco Dynamic</a:t>
            </a:r>
            <a:endParaRPr/>
          </a:p>
        </p:txBody>
      </p:sp>
      <p:sp>
        <p:nvSpPr>
          <p:cNvPr id="135" name="Google Shape;135;p16"/>
          <p:cNvSpPr txBox="1"/>
          <p:nvPr/>
        </p:nvSpPr>
        <p:spPr>
          <a:xfrm>
            <a:off x="838200" y="3367087"/>
            <a:ext cx="1143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136" name="Google Shape;136;p16"/>
          <p:cNvSpPr txBox="1"/>
          <p:nvPr/>
        </p:nvSpPr>
        <p:spPr>
          <a:xfrm>
            <a:off x="952500" y="3367087"/>
            <a:ext cx="49053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1430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Peça 1:</a:t>
            </a:r>
            <a:r>
              <a:rPr b="0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 Faca 8" em Aço Inox AISI 420.</a:t>
            </a:r>
            <a:endParaRPr/>
          </a:p>
        </p:txBody>
      </p:sp>
      <p:sp>
        <p:nvSpPr>
          <p:cNvPr id="137" name="Google Shape;137;p16"/>
          <p:cNvSpPr txBox="1"/>
          <p:nvPr/>
        </p:nvSpPr>
        <p:spPr>
          <a:xfrm>
            <a:off x="838200" y="3671887"/>
            <a:ext cx="1143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138" name="Google Shape;138;p16"/>
          <p:cNvSpPr txBox="1"/>
          <p:nvPr/>
        </p:nvSpPr>
        <p:spPr>
          <a:xfrm>
            <a:off x="952500" y="3671887"/>
            <a:ext cx="49053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1430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Peça 2:</a:t>
            </a:r>
            <a:r>
              <a:rPr b="0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 Garfo Trinchante Inox Estampado.</a:t>
            </a:r>
            <a:endParaRPr/>
          </a:p>
        </p:txBody>
      </p:sp>
      <p:sp>
        <p:nvSpPr>
          <p:cNvPr id="139" name="Google Shape;139;p16"/>
          <p:cNvSpPr txBox="1"/>
          <p:nvPr/>
        </p:nvSpPr>
        <p:spPr>
          <a:xfrm>
            <a:off x="838200" y="3976687"/>
            <a:ext cx="1143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140" name="Google Shape;140;p16"/>
          <p:cNvSpPr txBox="1"/>
          <p:nvPr/>
        </p:nvSpPr>
        <p:spPr>
          <a:xfrm>
            <a:off x="952500" y="3976687"/>
            <a:ext cx="49053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1430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Peça 3:</a:t>
            </a:r>
            <a:r>
              <a:rPr b="0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 Tábua de Madeira (35x22x1.8cm).</a:t>
            </a:r>
            <a:endParaRPr/>
          </a:p>
        </p:txBody>
      </p:sp>
      <p:sp>
        <p:nvSpPr>
          <p:cNvPr id="141" name="Google Shape;141;p16"/>
          <p:cNvSpPr txBox="1"/>
          <p:nvPr/>
        </p:nvSpPr>
        <p:spPr>
          <a:xfrm>
            <a:off x="838200" y="4281487"/>
            <a:ext cx="1143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142" name="Google Shape;142;p16"/>
          <p:cNvSpPr txBox="1"/>
          <p:nvPr/>
        </p:nvSpPr>
        <p:spPr>
          <a:xfrm>
            <a:off x="952500" y="4281487"/>
            <a:ext cx="49053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1430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Cabos:</a:t>
            </a:r>
            <a:r>
              <a:rPr b="0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 Madeira natural rebitada.</a:t>
            </a:r>
            <a:endParaRPr/>
          </a:p>
        </p:txBody>
      </p:sp>
      <p:sp>
        <p:nvSpPr>
          <p:cNvPr id="143" name="Google Shape;143;p16"/>
          <p:cNvSpPr txBox="1"/>
          <p:nvPr/>
        </p:nvSpPr>
        <p:spPr>
          <a:xfrm>
            <a:off x="838200" y="4586287"/>
            <a:ext cx="1143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144" name="Google Shape;144;p16"/>
          <p:cNvSpPr txBox="1"/>
          <p:nvPr/>
        </p:nvSpPr>
        <p:spPr>
          <a:xfrm>
            <a:off x="952500" y="4586287"/>
            <a:ext cx="49053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1430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Diferencial:</a:t>
            </a:r>
            <a:r>
              <a:rPr b="0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 Tratamento térmico para durabilidade do fio.</a:t>
            </a:r>
            <a:endParaRPr/>
          </a:p>
        </p:txBody>
      </p:sp>
      <p:sp>
        <p:nvSpPr>
          <p:cNvPr id="145" name="Google Shape;145;p16"/>
          <p:cNvSpPr txBox="1"/>
          <p:nvPr/>
        </p:nvSpPr>
        <p:spPr>
          <a:xfrm>
            <a:off x="809625" y="571500"/>
            <a:ext cx="11351418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3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DESCRIÇÃO DO PRODUTO</a:t>
            </a:r>
            <a:endParaRPr/>
          </a:p>
        </p:txBody>
      </p:sp>
      <p:sp>
        <p:nvSpPr>
          <p:cNvPr id="146" name="Google Shape;146;p16"/>
          <p:cNvSpPr/>
          <p:nvPr/>
        </p:nvSpPr>
        <p:spPr>
          <a:xfrm>
            <a:off x="571500" y="571500"/>
            <a:ext cx="114300" cy="619125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7" name="Google Shape;147;p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470725" y="1399200"/>
            <a:ext cx="4850151" cy="4850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52" name="Google Shape;152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53" name="Google Shape;153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2847975"/>
            <a:ext cx="5286375" cy="21621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54" name="Google Shape;154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34125" y="2847975"/>
            <a:ext cx="5286375" cy="2162175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17"/>
          <p:cNvSpPr txBox="1"/>
          <p:nvPr/>
        </p:nvSpPr>
        <p:spPr>
          <a:xfrm>
            <a:off x="904875" y="3181350"/>
            <a:ext cx="4850606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C48A1A"/>
                </a:solidFill>
                <a:latin typeface="Poppins"/>
                <a:ea typeface="Poppins"/>
                <a:cs typeface="Poppins"/>
                <a:sym typeface="Poppins"/>
              </a:rPr>
              <a:t>Faca &amp; Garfo</a:t>
            </a:r>
            <a:endParaRPr/>
          </a:p>
        </p:txBody>
      </p:sp>
      <p:sp>
        <p:nvSpPr>
          <p:cNvPr id="156" name="Google Shape;156;p17"/>
          <p:cNvSpPr txBox="1"/>
          <p:nvPr/>
        </p:nvSpPr>
        <p:spPr>
          <a:xfrm>
            <a:off x="904875" y="3724275"/>
            <a:ext cx="4619625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Faca: Lâmina 200mm | Cabo 120mm | Total 320mm.</a:t>
            </a:r>
            <a:endParaRPr/>
          </a:p>
        </p:txBody>
      </p:sp>
      <p:sp>
        <p:nvSpPr>
          <p:cNvPr id="157" name="Google Shape;157;p17"/>
          <p:cNvSpPr txBox="1"/>
          <p:nvPr/>
        </p:nvSpPr>
        <p:spPr>
          <a:xfrm>
            <a:off x="904875" y="4019550"/>
            <a:ext cx="4619625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Garfo: Comprimento total ≈ 330mm.</a:t>
            </a:r>
            <a:endParaRPr/>
          </a:p>
        </p:txBody>
      </p:sp>
      <p:sp>
        <p:nvSpPr>
          <p:cNvPr id="158" name="Google Shape;158;p17"/>
          <p:cNvSpPr txBox="1"/>
          <p:nvPr/>
        </p:nvSpPr>
        <p:spPr>
          <a:xfrm>
            <a:off x="904875" y="4324350"/>
            <a:ext cx="4619625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Material: Aço Inox AISI 420 (Alta Resistência).</a:t>
            </a:r>
            <a:endParaRPr/>
          </a:p>
        </p:txBody>
      </p:sp>
      <p:sp>
        <p:nvSpPr>
          <p:cNvPr id="159" name="Google Shape;159;p17"/>
          <p:cNvSpPr txBox="1"/>
          <p:nvPr/>
        </p:nvSpPr>
        <p:spPr>
          <a:xfrm>
            <a:off x="6667500" y="3181350"/>
            <a:ext cx="4850606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C48A1A"/>
                </a:solidFill>
                <a:latin typeface="Poppins"/>
                <a:ea typeface="Poppins"/>
                <a:cs typeface="Poppins"/>
                <a:sym typeface="Poppins"/>
              </a:rPr>
              <a:t>Tábua de Corte</a:t>
            </a:r>
            <a:endParaRPr/>
          </a:p>
        </p:txBody>
      </p:sp>
      <p:sp>
        <p:nvSpPr>
          <p:cNvPr id="160" name="Google Shape;160;p17"/>
          <p:cNvSpPr txBox="1"/>
          <p:nvPr/>
        </p:nvSpPr>
        <p:spPr>
          <a:xfrm>
            <a:off x="6667500" y="3724275"/>
            <a:ext cx="4619625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Dimensões: 350 x 220 x 18 mm.</a:t>
            </a:r>
            <a:endParaRPr/>
          </a:p>
        </p:txBody>
      </p:sp>
      <p:sp>
        <p:nvSpPr>
          <p:cNvPr id="161" name="Google Shape;161;p17"/>
          <p:cNvSpPr txBox="1"/>
          <p:nvPr/>
        </p:nvSpPr>
        <p:spPr>
          <a:xfrm>
            <a:off x="6667500" y="4019550"/>
            <a:ext cx="4619625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Material: Madeira Certificada (Eucalipto/Pinus).</a:t>
            </a:r>
            <a:endParaRPr/>
          </a:p>
        </p:txBody>
      </p:sp>
      <p:sp>
        <p:nvSpPr>
          <p:cNvPr id="162" name="Google Shape;162;p17"/>
          <p:cNvSpPr txBox="1"/>
          <p:nvPr/>
        </p:nvSpPr>
        <p:spPr>
          <a:xfrm>
            <a:off x="6667500" y="4314825"/>
            <a:ext cx="4619625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Fixação: 3 Rebites de aço inox por cabo.</a:t>
            </a:r>
            <a:endParaRPr/>
          </a:p>
        </p:txBody>
      </p:sp>
      <p:sp>
        <p:nvSpPr>
          <p:cNvPr id="163" name="Google Shape;163;p17"/>
          <p:cNvSpPr txBox="1"/>
          <p:nvPr/>
        </p:nvSpPr>
        <p:spPr>
          <a:xfrm>
            <a:off x="809625" y="571500"/>
            <a:ext cx="11351418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3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DIMENSÕES TÉCNICAS</a:t>
            </a:r>
            <a:endParaRPr/>
          </a:p>
        </p:txBody>
      </p:sp>
      <p:sp>
        <p:nvSpPr>
          <p:cNvPr id="164" name="Google Shape;164;p17"/>
          <p:cNvSpPr/>
          <p:nvPr/>
        </p:nvSpPr>
        <p:spPr>
          <a:xfrm>
            <a:off x="571500" y="571500"/>
            <a:ext cx="114300" cy="619125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69" name="Google Shape;169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70" name="Google Shape;170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2909887"/>
            <a:ext cx="3492549" cy="20383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71" name="Google Shape;171;p1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349799" y="2909887"/>
            <a:ext cx="3492549" cy="20383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72" name="Google Shape;172;p1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128099" y="2909887"/>
            <a:ext cx="3492549" cy="2038350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18"/>
          <p:cNvSpPr txBox="1"/>
          <p:nvPr/>
        </p:nvSpPr>
        <p:spPr>
          <a:xfrm>
            <a:off x="904875" y="3243262"/>
            <a:ext cx="2825799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B03030"/>
                </a:solidFill>
                <a:latin typeface="Lato"/>
                <a:ea typeface="Lato"/>
                <a:cs typeface="Lato"/>
                <a:sym typeface="Lato"/>
              </a:rPr>
              <a:t>NÍVEL 0</a:t>
            </a:r>
            <a:endParaRPr/>
          </a:p>
        </p:txBody>
      </p:sp>
      <p:sp>
        <p:nvSpPr>
          <p:cNvPr id="174" name="Google Shape;174;p18"/>
          <p:cNvSpPr txBox="1"/>
          <p:nvPr/>
        </p:nvSpPr>
        <p:spPr>
          <a:xfrm>
            <a:off x="904875" y="3538537"/>
            <a:ext cx="2967089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C48A1A"/>
                </a:solidFill>
                <a:latin typeface="Poppins"/>
                <a:ea typeface="Poppins"/>
                <a:cs typeface="Poppins"/>
                <a:sym typeface="Poppins"/>
              </a:rPr>
              <a:t>Kit Acabado</a:t>
            </a:r>
            <a:endParaRPr/>
          </a:p>
        </p:txBody>
      </p:sp>
      <p:sp>
        <p:nvSpPr>
          <p:cNvPr id="175" name="Google Shape;175;p18"/>
          <p:cNvSpPr txBox="1"/>
          <p:nvPr/>
        </p:nvSpPr>
        <p:spPr>
          <a:xfrm>
            <a:off x="904875" y="4081462"/>
            <a:ext cx="2825799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Produto final embalado em caixa display kraft com janela.</a:t>
            </a:r>
            <a:endParaRPr/>
          </a:p>
        </p:txBody>
      </p:sp>
      <p:sp>
        <p:nvSpPr>
          <p:cNvPr id="176" name="Google Shape;176;p18"/>
          <p:cNvSpPr txBox="1"/>
          <p:nvPr/>
        </p:nvSpPr>
        <p:spPr>
          <a:xfrm>
            <a:off x="4683174" y="3243262"/>
            <a:ext cx="2825799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B03030"/>
                </a:solidFill>
                <a:latin typeface="Lato"/>
                <a:ea typeface="Lato"/>
                <a:cs typeface="Lato"/>
                <a:sym typeface="Lato"/>
              </a:rPr>
              <a:t>NÍVEL 1</a:t>
            </a:r>
            <a:endParaRPr/>
          </a:p>
        </p:txBody>
      </p:sp>
      <p:sp>
        <p:nvSpPr>
          <p:cNvPr id="177" name="Google Shape;177;p18"/>
          <p:cNvSpPr txBox="1"/>
          <p:nvPr/>
        </p:nvSpPr>
        <p:spPr>
          <a:xfrm>
            <a:off x="4683174" y="3538537"/>
            <a:ext cx="2967089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C48A1A"/>
                </a:solidFill>
                <a:latin typeface="Poppins"/>
                <a:ea typeface="Poppins"/>
                <a:cs typeface="Poppins"/>
                <a:sym typeface="Poppins"/>
              </a:rPr>
              <a:t>Subconjuntos</a:t>
            </a:r>
            <a:endParaRPr/>
          </a:p>
        </p:txBody>
      </p:sp>
      <p:sp>
        <p:nvSpPr>
          <p:cNvPr id="178" name="Google Shape;178;p18"/>
          <p:cNvSpPr txBox="1"/>
          <p:nvPr/>
        </p:nvSpPr>
        <p:spPr>
          <a:xfrm>
            <a:off x="4683174" y="4081462"/>
            <a:ext cx="2825799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Faca montada, Garfo montado, Tábua processada e Embalagem.</a:t>
            </a:r>
            <a:endParaRPr/>
          </a:p>
        </p:txBody>
      </p:sp>
      <p:sp>
        <p:nvSpPr>
          <p:cNvPr id="179" name="Google Shape;179;p18"/>
          <p:cNvSpPr txBox="1"/>
          <p:nvPr/>
        </p:nvSpPr>
        <p:spPr>
          <a:xfrm>
            <a:off x="8461474" y="3243262"/>
            <a:ext cx="2825799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B03030"/>
                </a:solidFill>
                <a:latin typeface="Lato"/>
                <a:ea typeface="Lato"/>
                <a:cs typeface="Lato"/>
                <a:sym typeface="Lato"/>
              </a:rPr>
              <a:t>NÍVEL 2</a:t>
            </a:r>
            <a:endParaRPr/>
          </a:p>
        </p:txBody>
      </p:sp>
      <p:sp>
        <p:nvSpPr>
          <p:cNvPr id="180" name="Google Shape;180;p18"/>
          <p:cNvSpPr txBox="1"/>
          <p:nvPr/>
        </p:nvSpPr>
        <p:spPr>
          <a:xfrm>
            <a:off x="8461474" y="3538537"/>
            <a:ext cx="2967089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C48A1A"/>
                </a:solidFill>
                <a:latin typeface="Poppins"/>
                <a:ea typeface="Poppins"/>
                <a:cs typeface="Poppins"/>
                <a:sym typeface="Poppins"/>
              </a:rPr>
              <a:t>Insumos</a:t>
            </a:r>
            <a:endParaRPr/>
          </a:p>
        </p:txBody>
      </p:sp>
      <p:sp>
        <p:nvSpPr>
          <p:cNvPr id="181" name="Google Shape;181;p18"/>
          <p:cNvSpPr txBox="1"/>
          <p:nvPr/>
        </p:nvSpPr>
        <p:spPr>
          <a:xfrm>
            <a:off x="8461474" y="4081462"/>
            <a:ext cx="2825799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Chapas de Inox, cabos de madeira, rebites e caixa display.</a:t>
            </a:r>
            <a:endParaRPr/>
          </a:p>
        </p:txBody>
      </p:sp>
      <p:sp>
        <p:nvSpPr>
          <p:cNvPr id="182" name="Google Shape;182;p18"/>
          <p:cNvSpPr txBox="1"/>
          <p:nvPr/>
        </p:nvSpPr>
        <p:spPr>
          <a:xfrm>
            <a:off x="809625" y="571500"/>
            <a:ext cx="113514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3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ESTRUTURA DO PRODUTO </a:t>
            </a:r>
            <a:endParaRPr/>
          </a:p>
        </p:txBody>
      </p:sp>
      <p:sp>
        <p:nvSpPr>
          <p:cNvPr id="183" name="Google Shape;183;p18"/>
          <p:cNvSpPr/>
          <p:nvPr/>
        </p:nvSpPr>
        <p:spPr>
          <a:xfrm>
            <a:off x="571500" y="571500"/>
            <a:ext cx="114300" cy="619125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88" name="Google Shape;188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89" name="Google Shape;189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2643187"/>
            <a:ext cx="3492549" cy="25717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90" name="Google Shape;190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349799" y="2643187"/>
            <a:ext cx="3492549" cy="25717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91" name="Google Shape;191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128099" y="2643187"/>
            <a:ext cx="3492549" cy="2571750"/>
          </a:xfrm>
          <a:prstGeom prst="rect">
            <a:avLst/>
          </a:prstGeom>
          <a:noFill/>
          <a:ln>
            <a:noFill/>
          </a:ln>
        </p:spPr>
      </p:pic>
      <p:sp>
        <p:nvSpPr>
          <p:cNvPr id="192" name="Google Shape;192;p19"/>
          <p:cNvSpPr txBox="1"/>
          <p:nvPr/>
        </p:nvSpPr>
        <p:spPr>
          <a:xfrm>
            <a:off x="904875" y="3624262"/>
            <a:ext cx="2967089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C48A1A"/>
                </a:solidFill>
                <a:latin typeface="Poppins"/>
                <a:ea typeface="Poppins"/>
                <a:cs typeface="Poppins"/>
                <a:sym typeface="Poppins"/>
              </a:rPr>
              <a:t>Doméstico</a:t>
            </a:r>
            <a:endParaRPr/>
          </a:p>
        </p:txBody>
      </p:sp>
      <p:sp>
        <p:nvSpPr>
          <p:cNvPr id="193" name="Google Shape;193;p19"/>
          <p:cNvSpPr txBox="1"/>
          <p:nvPr/>
        </p:nvSpPr>
        <p:spPr>
          <a:xfrm>
            <a:off x="904875" y="4167187"/>
            <a:ext cx="2825799" cy="542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Consumidores finais (B2C) que buscam qualidade Tramontina para churrascos em família.</a:t>
            </a:r>
            <a:endParaRPr/>
          </a:p>
        </p:txBody>
      </p:sp>
      <p:sp>
        <p:nvSpPr>
          <p:cNvPr id="194" name="Google Shape;194;p19"/>
          <p:cNvSpPr txBox="1"/>
          <p:nvPr/>
        </p:nvSpPr>
        <p:spPr>
          <a:xfrm>
            <a:off x="4683174" y="3624262"/>
            <a:ext cx="2967089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C48A1A"/>
                </a:solidFill>
                <a:latin typeface="Poppins"/>
                <a:ea typeface="Poppins"/>
                <a:cs typeface="Poppins"/>
                <a:sym typeface="Poppins"/>
              </a:rPr>
              <a:t>Presentes</a:t>
            </a:r>
            <a:endParaRPr/>
          </a:p>
        </p:txBody>
      </p:sp>
      <p:sp>
        <p:nvSpPr>
          <p:cNvPr id="195" name="Google Shape;195;p19"/>
          <p:cNvSpPr txBox="1"/>
          <p:nvPr/>
        </p:nvSpPr>
        <p:spPr>
          <a:xfrm>
            <a:off x="4683174" y="4167187"/>
            <a:ext cx="2825799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Mercado sazonal de alto giro (Dia dos Pais, Natal) devido à embalagem atrativa.</a:t>
            </a:r>
            <a:endParaRPr/>
          </a:p>
        </p:txBody>
      </p:sp>
      <p:sp>
        <p:nvSpPr>
          <p:cNvPr id="196" name="Google Shape;196;p19"/>
          <p:cNvSpPr txBox="1"/>
          <p:nvPr/>
        </p:nvSpPr>
        <p:spPr>
          <a:xfrm>
            <a:off x="8461474" y="3624262"/>
            <a:ext cx="2967089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C48A1A"/>
                </a:solidFill>
                <a:latin typeface="Poppins"/>
                <a:ea typeface="Poppins"/>
                <a:cs typeface="Poppins"/>
                <a:sym typeface="Poppins"/>
              </a:rPr>
              <a:t>Varejo/B2B</a:t>
            </a:r>
            <a:endParaRPr/>
          </a:p>
        </p:txBody>
      </p:sp>
      <p:sp>
        <p:nvSpPr>
          <p:cNvPr id="197" name="Google Shape;197;p19"/>
          <p:cNvSpPr txBox="1"/>
          <p:nvPr/>
        </p:nvSpPr>
        <p:spPr>
          <a:xfrm>
            <a:off x="8461474" y="4167187"/>
            <a:ext cx="2825799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Grandes redes de supermercados e lojas de utilidades que adquirem volumes elevados.</a:t>
            </a:r>
            <a:endParaRPr/>
          </a:p>
        </p:txBody>
      </p:sp>
      <p:pic>
        <p:nvPicPr>
          <p:cNvPr descr="image.png" id="198" name="Google Shape;198;p1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904875" y="3014662"/>
            <a:ext cx="428625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99" name="Google Shape;199;p19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4683174" y="3014662"/>
            <a:ext cx="38100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00" name="Google Shape;200;p19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8461474" y="3014662"/>
            <a:ext cx="42862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201" name="Google Shape;201;p19"/>
          <p:cNvSpPr txBox="1"/>
          <p:nvPr/>
        </p:nvSpPr>
        <p:spPr>
          <a:xfrm>
            <a:off x="809625" y="571500"/>
            <a:ext cx="113514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3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SEGMENTOS DE MERCADO VISADOS</a:t>
            </a:r>
            <a:endParaRPr/>
          </a:p>
        </p:txBody>
      </p:sp>
      <p:sp>
        <p:nvSpPr>
          <p:cNvPr id="202" name="Google Shape;202;p19"/>
          <p:cNvSpPr/>
          <p:nvPr/>
        </p:nvSpPr>
        <p:spPr>
          <a:xfrm>
            <a:off x="571500" y="571500"/>
            <a:ext cx="114300" cy="619125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07" name="Google Shape;207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08" name="Google Shape;208;p2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2376487"/>
            <a:ext cx="11049000" cy="3105150"/>
          </a:xfrm>
          <a:prstGeom prst="rect">
            <a:avLst/>
          </a:prstGeom>
          <a:noFill/>
          <a:ln>
            <a:noFill/>
          </a:ln>
        </p:spPr>
      </p:pic>
      <p:sp>
        <p:nvSpPr>
          <p:cNvPr id="209" name="Google Shape;209;p20"/>
          <p:cNvSpPr txBox="1"/>
          <p:nvPr/>
        </p:nvSpPr>
        <p:spPr>
          <a:xfrm>
            <a:off x="1766875" y="3076575"/>
            <a:ext cx="3980700" cy="1616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500">
                <a:solidFill>
                  <a:srgbClr val="B03030"/>
                </a:solidFill>
                <a:latin typeface="Poppins"/>
                <a:ea typeface="Poppins"/>
                <a:cs typeface="Poppins"/>
                <a:sym typeface="Poppins"/>
              </a:rPr>
              <a:t>2</a:t>
            </a:r>
            <a:r>
              <a:rPr b="1" i="0" lang="en-US" sz="10500" u="none" cap="none" strike="noStrike">
                <a:solidFill>
                  <a:srgbClr val="B03030"/>
                </a:solidFill>
                <a:latin typeface="Poppins"/>
                <a:ea typeface="Poppins"/>
                <a:cs typeface="Poppins"/>
                <a:sym typeface="Poppins"/>
              </a:rPr>
              <a:t>.000</a:t>
            </a:r>
            <a:endParaRPr/>
          </a:p>
        </p:txBody>
      </p:sp>
      <p:sp>
        <p:nvSpPr>
          <p:cNvPr id="210" name="Google Shape;210;p20"/>
          <p:cNvSpPr txBox="1"/>
          <p:nvPr/>
        </p:nvSpPr>
        <p:spPr>
          <a:xfrm>
            <a:off x="1766887" y="4505325"/>
            <a:ext cx="3838575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C48A1A"/>
                </a:solidFill>
                <a:latin typeface="Lato"/>
                <a:ea typeface="Lato"/>
                <a:cs typeface="Lato"/>
                <a:sym typeface="Lato"/>
              </a:rPr>
              <a:t>KITS POR SEMANA</a:t>
            </a:r>
            <a:endParaRPr/>
          </a:p>
        </p:txBody>
      </p:sp>
      <p:sp>
        <p:nvSpPr>
          <p:cNvPr id="211" name="Google Shape;211;p20"/>
          <p:cNvSpPr txBox="1"/>
          <p:nvPr/>
        </p:nvSpPr>
        <p:spPr>
          <a:xfrm>
            <a:off x="6417294" y="2431625"/>
            <a:ext cx="52032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C48A1A"/>
                </a:solidFill>
                <a:latin typeface="Poppins"/>
                <a:ea typeface="Poppins"/>
                <a:cs typeface="Poppins"/>
                <a:sym typeface="Poppins"/>
              </a:rPr>
              <a:t>Premissas Operacionais</a:t>
            </a:r>
            <a:endParaRPr/>
          </a:p>
        </p:txBody>
      </p:sp>
      <p:sp>
        <p:nvSpPr>
          <p:cNvPr id="212" name="Google Shape;212;p20"/>
          <p:cNvSpPr txBox="1"/>
          <p:nvPr/>
        </p:nvSpPr>
        <p:spPr>
          <a:xfrm>
            <a:off x="6808023" y="2967025"/>
            <a:ext cx="1674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213" name="Google Shape;213;p20"/>
          <p:cNvSpPr txBox="1"/>
          <p:nvPr/>
        </p:nvSpPr>
        <p:spPr>
          <a:xfrm>
            <a:off x="6975532" y="2967025"/>
            <a:ext cx="43971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14300" spcFirstLastPara="1" rIns="0" wrap="square" tIns="0">
            <a:spAutoFit/>
          </a:bodyPr>
          <a:lstStyle/>
          <a:p>
            <a:pPr indent="0" lvl="0" marL="0" marR="0" rtl="0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Capacidade Diária:</a:t>
            </a:r>
            <a:r>
              <a:rPr b="0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400</a:t>
            </a:r>
            <a:r>
              <a:rPr b="0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 kits.</a:t>
            </a:r>
            <a:endParaRPr/>
          </a:p>
        </p:txBody>
      </p:sp>
      <p:sp>
        <p:nvSpPr>
          <p:cNvPr id="214" name="Google Shape;214;p20"/>
          <p:cNvSpPr txBox="1"/>
          <p:nvPr/>
        </p:nvSpPr>
        <p:spPr>
          <a:xfrm>
            <a:off x="6808023" y="3309925"/>
            <a:ext cx="1674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215" name="Google Shape;215;p20"/>
          <p:cNvSpPr txBox="1"/>
          <p:nvPr/>
        </p:nvSpPr>
        <p:spPr>
          <a:xfrm>
            <a:off x="6975532" y="3309925"/>
            <a:ext cx="43971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14300" spcFirstLastPara="1" rIns="0" wrap="square" tIns="0">
            <a:spAutoFit/>
          </a:bodyPr>
          <a:lstStyle/>
          <a:p>
            <a:pPr indent="0" lvl="0" marL="0" marR="0" rtl="0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Turnos:</a:t>
            </a:r>
            <a:r>
              <a:rPr b="0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 1 turno de 8 horas.</a:t>
            </a:r>
            <a:endParaRPr/>
          </a:p>
        </p:txBody>
      </p:sp>
      <p:sp>
        <p:nvSpPr>
          <p:cNvPr id="216" name="Google Shape;216;p20"/>
          <p:cNvSpPr txBox="1"/>
          <p:nvPr/>
        </p:nvSpPr>
        <p:spPr>
          <a:xfrm>
            <a:off x="6808023" y="3652825"/>
            <a:ext cx="1674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217" name="Google Shape;217;p20"/>
          <p:cNvSpPr txBox="1"/>
          <p:nvPr/>
        </p:nvSpPr>
        <p:spPr>
          <a:xfrm>
            <a:off x="6975532" y="3652825"/>
            <a:ext cx="43971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14300" spcFirstLastPara="1" rIns="0" wrap="square" tIns="0">
            <a:spAutoFit/>
          </a:bodyPr>
          <a:lstStyle/>
          <a:p>
            <a:pPr indent="0" lvl="0" marL="0" marR="0" rtl="0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Eficiência:</a:t>
            </a:r>
            <a:r>
              <a:rPr b="0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 η = 85% | Rejeito = 3%.</a:t>
            </a:r>
            <a:endParaRPr/>
          </a:p>
        </p:txBody>
      </p:sp>
      <p:sp>
        <p:nvSpPr>
          <p:cNvPr id="218" name="Google Shape;218;p20"/>
          <p:cNvSpPr txBox="1"/>
          <p:nvPr/>
        </p:nvSpPr>
        <p:spPr>
          <a:xfrm>
            <a:off x="6808023" y="3995725"/>
            <a:ext cx="1674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219" name="Google Shape;219;p20"/>
          <p:cNvSpPr txBox="1"/>
          <p:nvPr/>
        </p:nvSpPr>
        <p:spPr>
          <a:xfrm>
            <a:off x="6975532" y="3995725"/>
            <a:ext cx="43971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14300" spcFirstLastPara="1" rIns="0" wrap="square" tIns="0">
            <a:spAutoFit/>
          </a:bodyPr>
          <a:lstStyle/>
          <a:p>
            <a:pPr indent="0" lvl="0" marL="0" marR="0" rtl="0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Estoque:</a:t>
            </a:r>
            <a:r>
              <a:rPr b="0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 2 semanas de segurança.</a:t>
            </a:r>
            <a:endParaRPr/>
          </a:p>
        </p:txBody>
      </p:sp>
      <p:sp>
        <p:nvSpPr>
          <p:cNvPr id="220" name="Google Shape;220;p20"/>
          <p:cNvSpPr txBox="1"/>
          <p:nvPr/>
        </p:nvSpPr>
        <p:spPr>
          <a:xfrm>
            <a:off x="809625" y="571500"/>
            <a:ext cx="11351418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3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META DE PRODUÇÃO</a:t>
            </a:r>
            <a:endParaRPr/>
          </a:p>
        </p:txBody>
      </p:sp>
      <p:sp>
        <p:nvSpPr>
          <p:cNvPr id="221" name="Google Shape;221;p20"/>
          <p:cNvSpPr/>
          <p:nvPr/>
        </p:nvSpPr>
        <p:spPr>
          <a:xfrm>
            <a:off x="571500" y="571500"/>
            <a:ext cx="114300" cy="619125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20"/>
          <p:cNvSpPr txBox="1"/>
          <p:nvPr/>
        </p:nvSpPr>
        <p:spPr>
          <a:xfrm>
            <a:off x="6417294" y="4338625"/>
            <a:ext cx="52032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100">
                <a:solidFill>
                  <a:srgbClr val="C48A1A"/>
                </a:solidFill>
                <a:latin typeface="Poppins"/>
                <a:ea typeface="Poppins"/>
                <a:cs typeface="Poppins"/>
                <a:sym typeface="Poppins"/>
              </a:rPr>
              <a:t>Justifcativa </a:t>
            </a:r>
            <a:endParaRPr/>
          </a:p>
        </p:txBody>
      </p:sp>
      <p:sp>
        <p:nvSpPr>
          <p:cNvPr id="223" name="Google Shape;223;p20"/>
          <p:cNvSpPr txBox="1"/>
          <p:nvPr/>
        </p:nvSpPr>
        <p:spPr>
          <a:xfrm>
            <a:off x="6417300" y="4773625"/>
            <a:ext cx="5007900" cy="708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14300" spcFirstLastPara="1" rIns="0" wrap="square" tIns="0">
            <a:spAutoFit/>
          </a:bodyPr>
          <a:lstStyle/>
          <a:p>
            <a:pPr indent="0" lvl="0" marL="0" marR="0" rtl="0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chemeClr val="lt1"/>
                </a:solidFill>
              </a:rPr>
              <a:t>O número escolhido foi de 2.000 kits por semana pois foi levado em conta a quantidade de horas no turno de trabalho, a </a:t>
            </a:r>
            <a:r>
              <a:rPr lang="en-US" sz="1000">
                <a:solidFill>
                  <a:schemeClr val="lt1"/>
                </a:solidFill>
              </a:rPr>
              <a:t>eficiência</a:t>
            </a:r>
            <a:r>
              <a:rPr lang="en-US" sz="1000">
                <a:solidFill>
                  <a:schemeClr val="lt1"/>
                </a:solidFill>
              </a:rPr>
              <a:t> e número de rejeito e a capacidade diária de produção dos kits.</a:t>
            </a:r>
            <a:endParaRPr sz="10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28" name="Google Shape;228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29" name="Google Shape;229;p21"/>
          <p:cNvGraphicFramePr/>
          <p:nvPr/>
        </p:nvGraphicFramePr>
        <p:xfrm>
          <a:off x="571500" y="2444614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{C85B2FC3-EC09-4A34-8C88-7F451D0598A5}</a:tableStyleId>
              </a:tblPr>
              <a:tblGrid>
                <a:gridCol w="1711075"/>
                <a:gridCol w="4732150"/>
                <a:gridCol w="1288550"/>
                <a:gridCol w="3317225"/>
              </a:tblGrid>
              <a:tr h="429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Comp.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0303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Descrição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0303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Qtd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0303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Fazer / Comprar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03030"/>
                    </a:solidFill>
                  </a:tcPr>
                </a:tc>
              </a:tr>
              <a:tr h="429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01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Lâmina Faca Inox AISI 420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FAZER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29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02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Lâmina Garfo Inox 420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FAZER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</a:tr>
              <a:tr h="429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03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Cabo Madeira (pré-cortado)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2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COMPRAR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29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04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Tábua Madeira Acabada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COMPRAR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</a:tr>
              <a:tr h="429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05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Rebites Inox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6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COMPRAR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30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06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Embalagem Kraft Display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COMPRAR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</a:tr>
            </a:tbl>
          </a:graphicData>
        </a:graphic>
      </p:graphicFrame>
      <p:sp>
        <p:nvSpPr>
          <p:cNvPr id="230" name="Google Shape;230;p21"/>
          <p:cNvSpPr/>
          <p:nvPr/>
        </p:nvSpPr>
        <p:spPr>
          <a:xfrm>
            <a:off x="571500" y="3324225"/>
            <a:ext cx="1711076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21"/>
          <p:cNvSpPr/>
          <p:nvPr/>
        </p:nvSpPr>
        <p:spPr>
          <a:xfrm>
            <a:off x="2282576" y="3324225"/>
            <a:ext cx="4732139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21"/>
          <p:cNvSpPr/>
          <p:nvPr/>
        </p:nvSpPr>
        <p:spPr>
          <a:xfrm>
            <a:off x="7014716" y="3324225"/>
            <a:ext cx="128855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21"/>
          <p:cNvSpPr/>
          <p:nvPr/>
        </p:nvSpPr>
        <p:spPr>
          <a:xfrm>
            <a:off x="8303269" y="3324225"/>
            <a:ext cx="3317230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21"/>
          <p:cNvSpPr/>
          <p:nvPr/>
        </p:nvSpPr>
        <p:spPr>
          <a:xfrm>
            <a:off x="571500" y="3743325"/>
            <a:ext cx="1711076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21"/>
          <p:cNvSpPr/>
          <p:nvPr/>
        </p:nvSpPr>
        <p:spPr>
          <a:xfrm>
            <a:off x="2282576" y="3743325"/>
            <a:ext cx="4732139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21"/>
          <p:cNvSpPr/>
          <p:nvPr/>
        </p:nvSpPr>
        <p:spPr>
          <a:xfrm>
            <a:off x="7014716" y="3743325"/>
            <a:ext cx="128855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21"/>
          <p:cNvSpPr/>
          <p:nvPr/>
        </p:nvSpPr>
        <p:spPr>
          <a:xfrm>
            <a:off x="8303269" y="3743325"/>
            <a:ext cx="3317230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21"/>
          <p:cNvSpPr/>
          <p:nvPr/>
        </p:nvSpPr>
        <p:spPr>
          <a:xfrm>
            <a:off x="571500" y="4162425"/>
            <a:ext cx="1711076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21"/>
          <p:cNvSpPr/>
          <p:nvPr/>
        </p:nvSpPr>
        <p:spPr>
          <a:xfrm>
            <a:off x="2282576" y="4162425"/>
            <a:ext cx="4732139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21"/>
          <p:cNvSpPr/>
          <p:nvPr/>
        </p:nvSpPr>
        <p:spPr>
          <a:xfrm>
            <a:off x="7014716" y="4162425"/>
            <a:ext cx="128855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21"/>
          <p:cNvSpPr/>
          <p:nvPr/>
        </p:nvSpPr>
        <p:spPr>
          <a:xfrm>
            <a:off x="8303269" y="4162425"/>
            <a:ext cx="3317230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21"/>
          <p:cNvSpPr/>
          <p:nvPr/>
        </p:nvSpPr>
        <p:spPr>
          <a:xfrm>
            <a:off x="571500" y="4581525"/>
            <a:ext cx="1711076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21"/>
          <p:cNvSpPr/>
          <p:nvPr/>
        </p:nvSpPr>
        <p:spPr>
          <a:xfrm>
            <a:off x="2282576" y="4581525"/>
            <a:ext cx="4732139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21"/>
          <p:cNvSpPr/>
          <p:nvPr/>
        </p:nvSpPr>
        <p:spPr>
          <a:xfrm>
            <a:off x="7014716" y="4581525"/>
            <a:ext cx="128855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21"/>
          <p:cNvSpPr/>
          <p:nvPr/>
        </p:nvSpPr>
        <p:spPr>
          <a:xfrm>
            <a:off x="8303269" y="4581525"/>
            <a:ext cx="3317230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21"/>
          <p:cNvSpPr/>
          <p:nvPr/>
        </p:nvSpPr>
        <p:spPr>
          <a:xfrm>
            <a:off x="571500" y="5000625"/>
            <a:ext cx="1711076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21"/>
          <p:cNvSpPr/>
          <p:nvPr/>
        </p:nvSpPr>
        <p:spPr>
          <a:xfrm>
            <a:off x="2282576" y="5000625"/>
            <a:ext cx="4732139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21"/>
          <p:cNvSpPr/>
          <p:nvPr/>
        </p:nvSpPr>
        <p:spPr>
          <a:xfrm>
            <a:off x="7014716" y="5000625"/>
            <a:ext cx="128855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21"/>
          <p:cNvSpPr/>
          <p:nvPr/>
        </p:nvSpPr>
        <p:spPr>
          <a:xfrm>
            <a:off x="8303269" y="5000625"/>
            <a:ext cx="3317230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21"/>
          <p:cNvSpPr/>
          <p:nvPr/>
        </p:nvSpPr>
        <p:spPr>
          <a:xfrm>
            <a:off x="571500" y="5419725"/>
            <a:ext cx="1711076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21"/>
          <p:cNvSpPr/>
          <p:nvPr/>
        </p:nvSpPr>
        <p:spPr>
          <a:xfrm>
            <a:off x="2282576" y="5419725"/>
            <a:ext cx="4732139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21"/>
          <p:cNvSpPr/>
          <p:nvPr/>
        </p:nvSpPr>
        <p:spPr>
          <a:xfrm>
            <a:off x="7014716" y="5419725"/>
            <a:ext cx="128855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21"/>
          <p:cNvSpPr/>
          <p:nvPr/>
        </p:nvSpPr>
        <p:spPr>
          <a:xfrm>
            <a:off x="8303269" y="5419725"/>
            <a:ext cx="3317230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21"/>
          <p:cNvSpPr txBox="1"/>
          <p:nvPr/>
        </p:nvSpPr>
        <p:spPr>
          <a:xfrm>
            <a:off x="809625" y="571500"/>
            <a:ext cx="11351418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3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TABELA 1: COMPONENTES</a:t>
            </a:r>
            <a:endParaRPr/>
          </a:p>
        </p:txBody>
      </p:sp>
      <p:sp>
        <p:nvSpPr>
          <p:cNvPr id="255" name="Google Shape;255;p21"/>
          <p:cNvSpPr/>
          <p:nvPr/>
        </p:nvSpPr>
        <p:spPr>
          <a:xfrm>
            <a:off x="571500" y="571500"/>
            <a:ext cx="114300" cy="619125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60" name="Google Shape;260;p22"/>
          <p:cNvPicPr preferRelativeResize="0"/>
          <p:nvPr/>
        </p:nvPicPr>
        <p:blipFill rotWithShape="1">
          <a:blip r:embed="rId3">
            <a:alphaModFix/>
          </a:blip>
          <a:srcRect b="33500" l="-3440" r="3440" t="-3350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61" name="Google Shape;261;p22"/>
          <p:cNvSpPr/>
          <p:nvPr/>
        </p:nvSpPr>
        <p:spPr>
          <a:xfrm>
            <a:off x="571500" y="3324225"/>
            <a:ext cx="17112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22"/>
          <p:cNvSpPr/>
          <p:nvPr/>
        </p:nvSpPr>
        <p:spPr>
          <a:xfrm>
            <a:off x="2282576" y="3324225"/>
            <a:ext cx="47322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22"/>
          <p:cNvSpPr/>
          <p:nvPr/>
        </p:nvSpPr>
        <p:spPr>
          <a:xfrm>
            <a:off x="7014716" y="3324225"/>
            <a:ext cx="12885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22"/>
          <p:cNvSpPr/>
          <p:nvPr/>
        </p:nvSpPr>
        <p:spPr>
          <a:xfrm>
            <a:off x="8303269" y="3324225"/>
            <a:ext cx="33171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22"/>
          <p:cNvSpPr/>
          <p:nvPr/>
        </p:nvSpPr>
        <p:spPr>
          <a:xfrm>
            <a:off x="571500" y="3743325"/>
            <a:ext cx="17112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22"/>
          <p:cNvSpPr/>
          <p:nvPr/>
        </p:nvSpPr>
        <p:spPr>
          <a:xfrm>
            <a:off x="2282576" y="3743325"/>
            <a:ext cx="47322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22"/>
          <p:cNvSpPr/>
          <p:nvPr/>
        </p:nvSpPr>
        <p:spPr>
          <a:xfrm>
            <a:off x="7014716" y="3743325"/>
            <a:ext cx="12885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22"/>
          <p:cNvSpPr/>
          <p:nvPr/>
        </p:nvSpPr>
        <p:spPr>
          <a:xfrm>
            <a:off x="8303269" y="3743325"/>
            <a:ext cx="33171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22"/>
          <p:cNvSpPr/>
          <p:nvPr/>
        </p:nvSpPr>
        <p:spPr>
          <a:xfrm>
            <a:off x="571500" y="4162425"/>
            <a:ext cx="17112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22"/>
          <p:cNvSpPr/>
          <p:nvPr/>
        </p:nvSpPr>
        <p:spPr>
          <a:xfrm>
            <a:off x="2282576" y="4162425"/>
            <a:ext cx="47322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22"/>
          <p:cNvSpPr/>
          <p:nvPr/>
        </p:nvSpPr>
        <p:spPr>
          <a:xfrm>
            <a:off x="7014716" y="4162425"/>
            <a:ext cx="12885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22"/>
          <p:cNvSpPr/>
          <p:nvPr/>
        </p:nvSpPr>
        <p:spPr>
          <a:xfrm>
            <a:off x="8303269" y="4162425"/>
            <a:ext cx="33171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22"/>
          <p:cNvSpPr/>
          <p:nvPr/>
        </p:nvSpPr>
        <p:spPr>
          <a:xfrm>
            <a:off x="571500" y="4581525"/>
            <a:ext cx="17112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22"/>
          <p:cNvSpPr/>
          <p:nvPr/>
        </p:nvSpPr>
        <p:spPr>
          <a:xfrm>
            <a:off x="2282576" y="4581525"/>
            <a:ext cx="47322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22"/>
          <p:cNvSpPr/>
          <p:nvPr/>
        </p:nvSpPr>
        <p:spPr>
          <a:xfrm>
            <a:off x="7014716" y="4581525"/>
            <a:ext cx="12885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22"/>
          <p:cNvSpPr/>
          <p:nvPr/>
        </p:nvSpPr>
        <p:spPr>
          <a:xfrm>
            <a:off x="8303269" y="4581525"/>
            <a:ext cx="33171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22"/>
          <p:cNvSpPr/>
          <p:nvPr/>
        </p:nvSpPr>
        <p:spPr>
          <a:xfrm>
            <a:off x="571500" y="5000625"/>
            <a:ext cx="17112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22"/>
          <p:cNvSpPr/>
          <p:nvPr/>
        </p:nvSpPr>
        <p:spPr>
          <a:xfrm>
            <a:off x="2282576" y="5000625"/>
            <a:ext cx="47322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22"/>
          <p:cNvSpPr/>
          <p:nvPr/>
        </p:nvSpPr>
        <p:spPr>
          <a:xfrm>
            <a:off x="7014716" y="5000625"/>
            <a:ext cx="12885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22"/>
          <p:cNvSpPr/>
          <p:nvPr/>
        </p:nvSpPr>
        <p:spPr>
          <a:xfrm>
            <a:off x="8303269" y="5000625"/>
            <a:ext cx="33171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22"/>
          <p:cNvSpPr/>
          <p:nvPr/>
        </p:nvSpPr>
        <p:spPr>
          <a:xfrm>
            <a:off x="571500" y="5419725"/>
            <a:ext cx="17112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22"/>
          <p:cNvSpPr/>
          <p:nvPr/>
        </p:nvSpPr>
        <p:spPr>
          <a:xfrm>
            <a:off x="2282576" y="5419725"/>
            <a:ext cx="47322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22"/>
          <p:cNvSpPr/>
          <p:nvPr/>
        </p:nvSpPr>
        <p:spPr>
          <a:xfrm>
            <a:off x="7014716" y="5419725"/>
            <a:ext cx="12885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22"/>
          <p:cNvSpPr/>
          <p:nvPr/>
        </p:nvSpPr>
        <p:spPr>
          <a:xfrm>
            <a:off x="8303269" y="5419725"/>
            <a:ext cx="33171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22"/>
          <p:cNvSpPr txBox="1"/>
          <p:nvPr/>
        </p:nvSpPr>
        <p:spPr>
          <a:xfrm>
            <a:off x="809625" y="571500"/>
            <a:ext cx="113514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3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TABELA 1: </a:t>
            </a:r>
            <a:r>
              <a:rPr b="1" lang="en-US" sz="33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JUSTIFICATIVAS</a:t>
            </a:r>
            <a:endParaRPr/>
          </a:p>
        </p:txBody>
      </p:sp>
      <p:sp>
        <p:nvSpPr>
          <p:cNvPr id="286" name="Google Shape;286;p22"/>
          <p:cNvSpPr/>
          <p:nvPr/>
        </p:nvSpPr>
        <p:spPr>
          <a:xfrm>
            <a:off x="571500" y="571500"/>
            <a:ext cx="114300" cy="619200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87" name="Google Shape;287;p22"/>
          <p:cNvGraphicFramePr/>
          <p:nvPr/>
        </p:nvGraphicFramePr>
        <p:xfrm>
          <a:off x="571500" y="2444614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{C85B2FC3-EC09-4A34-8C88-7F451D0598A5}</a:tableStyleId>
              </a:tblPr>
              <a:tblGrid>
                <a:gridCol w="1315975"/>
                <a:gridCol w="3639475"/>
                <a:gridCol w="991025"/>
                <a:gridCol w="2551275"/>
                <a:gridCol w="2551275"/>
              </a:tblGrid>
              <a:tr h="429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Comp.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0303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Descrição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0303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Qtd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0303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Fazer / Comprar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0303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Justificativa</a:t>
                      </a:r>
                      <a:endParaRPr b="1" i="0" sz="1350" u="none" cap="none" strike="noStrike">
                        <a:solidFill>
                          <a:srgbClr val="FFFFFF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03030"/>
                    </a:solidFill>
                  </a:tcPr>
                </a:tc>
              </a:tr>
              <a:tr h="429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01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Lâmina Faca Inox AISI 420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FAZER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Máquinas que proporcionam a qualidade no acabamento e na firmeza do corte da lâmina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29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02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Lâmina Garfo Inox 420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FAZER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Máquinas que proporcionam a qualidade no acabamento e na firmeza da lâmina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</a:tr>
              <a:tr h="429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03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Cabo Madeira (pré-cortado)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2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COMPRAR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Compensa mais comprar por conta do baixo custo e a prioridade da empresa é focar nas lâminas </a:t>
                      </a:r>
                      <a:endParaRPr b="0" i="0" sz="1200" u="none" cap="none" strike="noStrike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29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04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Tábua Madeira Acabada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COMPRAR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Compensa mais comprar por conta do baixo custo e a prioridade da empresa é focar nas lâminas 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</a:tr>
              <a:tr h="429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05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Rebites Inox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6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COMPRAR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Compensa mais comprar por conta do baixo custo e a prioridade da empresa é focar nas lâminas 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30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06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Embalagem Kraft Display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COMPRAR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Compensa mais comprar por conta do baixo custo e a prioridade da empresa é focar nas lâminas 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92" name="Google Shape;292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93" name="Google Shape;293;p23"/>
          <p:cNvSpPr/>
          <p:nvPr/>
        </p:nvSpPr>
        <p:spPr>
          <a:xfrm>
            <a:off x="571500" y="3324225"/>
            <a:ext cx="17112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23"/>
          <p:cNvSpPr/>
          <p:nvPr/>
        </p:nvSpPr>
        <p:spPr>
          <a:xfrm>
            <a:off x="2282576" y="3324225"/>
            <a:ext cx="47322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23"/>
          <p:cNvSpPr/>
          <p:nvPr/>
        </p:nvSpPr>
        <p:spPr>
          <a:xfrm>
            <a:off x="7014716" y="3324225"/>
            <a:ext cx="12885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23"/>
          <p:cNvSpPr/>
          <p:nvPr/>
        </p:nvSpPr>
        <p:spPr>
          <a:xfrm>
            <a:off x="8303269" y="3324225"/>
            <a:ext cx="33171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23"/>
          <p:cNvSpPr/>
          <p:nvPr/>
        </p:nvSpPr>
        <p:spPr>
          <a:xfrm>
            <a:off x="571500" y="3743325"/>
            <a:ext cx="17112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23"/>
          <p:cNvSpPr/>
          <p:nvPr/>
        </p:nvSpPr>
        <p:spPr>
          <a:xfrm>
            <a:off x="2282576" y="3743325"/>
            <a:ext cx="47322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23"/>
          <p:cNvSpPr/>
          <p:nvPr/>
        </p:nvSpPr>
        <p:spPr>
          <a:xfrm>
            <a:off x="7014716" y="3743325"/>
            <a:ext cx="12885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" name="Google Shape;300;p23"/>
          <p:cNvSpPr/>
          <p:nvPr/>
        </p:nvSpPr>
        <p:spPr>
          <a:xfrm>
            <a:off x="8303269" y="3743325"/>
            <a:ext cx="33171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" name="Google Shape;301;p23"/>
          <p:cNvSpPr/>
          <p:nvPr/>
        </p:nvSpPr>
        <p:spPr>
          <a:xfrm>
            <a:off x="571500" y="4162425"/>
            <a:ext cx="17112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23"/>
          <p:cNvSpPr/>
          <p:nvPr/>
        </p:nvSpPr>
        <p:spPr>
          <a:xfrm>
            <a:off x="2282576" y="4162425"/>
            <a:ext cx="47322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" name="Google Shape;303;p23"/>
          <p:cNvSpPr/>
          <p:nvPr/>
        </p:nvSpPr>
        <p:spPr>
          <a:xfrm>
            <a:off x="7014716" y="4162425"/>
            <a:ext cx="12885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p23"/>
          <p:cNvSpPr/>
          <p:nvPr/>
        </p:nvSpPr>
        <p:spPr>
          <a:xfrm>
            <a:off x="8303269" y="4162425"/>
            <a:ext cx="33171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23"/>
          <p:cNvSpPr/>
          <p:nvPr/>
        </p:nvSpPr>
        <p:spPr>
          <a:xfrm>
            <a:off x="571500" y="4581525"/>
            <a:ext cx="17112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23"/>
          <p:cNvSpPr/>
          <p:nvPr/>
        </p:nvSpPr>
        <p:spPr>
          <a:xfrm>
            <a:off x="2282576" y="4581525"/>
            <a:ext cx="47322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" name="Google Shape;307;p23"/>
          <p:cNvSpPr/>
          <p:nvPr/>
        </p:nvSpPr>
        <p:spPr>
          <a:xfrm>
            <a:off x="7014716" y="4581525"/>
            <a:ext cx="12885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23"/>
          <p:cNvSpPr/>
          <p:nvPr/>
        </p:nvSpPr>
        <p:spPr>
          <a:xfrm>
            <a:off x="8303269" y="4581525"/>
            <a:ext cx="33171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p23"/>
          <p:cNvSpPr/>
          <p:nvPr/>
        </p:nvSpPr>
        <p:spPr>
          <a:xfrm>
            <a:off x="571500" y="5000625"/>
            <a:ext cx="17112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p23"/>
          <p:cNvSpPr/>
          <p:nvPr/>
        </p:nvSpPr>
        <p:spPr>
          <a:xfrm>
            <a:off x="2282576" y="5000625"/>
            <a:ext cx="47322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23"/>
          <p:cNvSpPr/>
          <p:nvPr/>
        </p:nvSpPr>
        <p:spPr>
          <a:xfrm>
            <a:off x="7014716" y="5000625"/>
            <a:ext cx="12885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23"/>
          <p:cNvSpPr/>
          <p:nvPr/>
        </p:nvSpPr>
        <p:spPr>
          <a:xfrm>
            <a:off x="8303269" y="5000625"/>
            <a:ext cx="33171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" name="Google Shape;313;p23"/>
          <p:cNvSpPr/>
          <p:nvPr/>
        </p:nvSpPr>
        <p:spPr>
          <a:xfrm>
            <a:off x="571500" y="5419725"/>
            <a:ext cx="17112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23"/>
          <p:cNvSpPr/>
          <p:nvPr/>
        </p:nvSpPr>
        <p:spPr>
          <a:xfrm>
            <a:off x="2282576" y="5419725"/>
            <a:ext cx="47322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p23"/>
          <p:cNvSpPr/>
          <p:nvPr/>
        </p:nvSpPr>
        <p:spPr>
          <a:xfrm>
            <a:off x="7014716" y="5419725"/>
            <a:ext cx="12885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" name="Google Shape;316;p23"/>
          <p:cNvSpPr/>
          <p:nvPr/>
        </p:nvSpPr>
        <p:spPr>
          <a:xfrm>
            <a:off x="8303269" y="5419725"/>
            <a:ext cx="33171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" name="Google Shape;317;p23"/>
          <p:cNvSpPr txBox="1"/>
          <p:nvPr/>
        </p:nvSpPr>
        <p:spPr>
          <a:xfrm>
            <a:off x="809625" y="571500"/>
            <a:ext cx="113514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3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PAIS E FILHOS</a:t>
            </a:r>
            <a:endParaRPr/>
          </a:p>
        </p:txBody>
      </p:sp>
      <p:sp>
        <p:nvSpPr>
          <p:cNvPr id="318" name="Google Shape;318;p23"/>
          <p:cNvSpPr/>
          <p:nvPr/>
        </p:nvSpPr>
        <p:spPr>
          <a:xfrm>
            <a:off x="571500" y="571500"/>
            <a:ext cx="114300" cy="619200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19" name="Google Shape;319;p23" title="Flowchart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94725" y="1938199"/>
            <a:ext cx="11500227" cy="34815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24" name="Google Shape;324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325" name="Google Shape;325;p24"/>
          <p:cNvGraphicFramePr/>
          <p:nvPr/>
        </p:nvGraphicFramePr>
        <p:xfrm>
          <a:off x="571500" y="159545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{C85B2FC3-EC09-4A34-8C88-7F451D0598A5}</a:tableStyleId>
              </a:tblPr>
              <a:tblGrid>
                <a:gridCol w="898625"/>
                <a:gridCol w="4229250"/>
                <a:gridCol w="2273200"/>
                <a:gridCol w="3647925"/>
              </a:tblGrid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Nº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0303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Processo / Descrição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0303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Tipo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0303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Recurso Físico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03030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01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Inspeção de Matéria Prima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Inspeção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Balança, mesa de inspeção e micrômetro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02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Armazenagem de Matéria Prima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Armazenagem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Empilhadeira, caixas e pallet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</a:t>
                      </a: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3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Transporte Aço Inox para o corte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Transporte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Esteiras e aço inox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</a:t>
                      </a: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4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Corte do aço inox para blanks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Operação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Máquina de corte e aço inox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</a:t>
                      </a: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5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Inspeção dos blanks 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Inspeção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Mesa de inspeção, micrômetro e blancks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06</a:t>
                      </a:r>
                      <a:endParaRPr b="0" i="0" sz="1200" u="none" cap="none" strike="noStrike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Tratamento térmico dos blanks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Operação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Forno industrial e blanks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07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Espera de </a:t>
                      </a: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resfriamento</a:t>
                      </a: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 dos blanks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Espera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Chiller industrial e blanks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08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Redobrar, lixar, e polir garfo e faca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Operação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Politriz industrial, retificadeira e blanks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09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Afiar facas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Operação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Afiodores e facas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10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Armazenagem de garfos e facas semi acabadas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Armazenagem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Caixas, empilhadeiras, garfos e facas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</a:tbl>
          </a:graphicData>
        </a:graphic>
      </p:graphicFrame>
      <p:sp>
        <p:nvSpPr>
          <p:cNvPr id="326" name="Google Shape;326;p24"/>
          <p:cNvSpPr txBox="1"/>
          <p:nvPr/>
        </p:nvSpPr>
        <p:spPr>
          <a:xfrm>
            <a:off x="809625" y="571500"/>
            <a:ext cx="11351418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3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PROCESSOS INDUSTRIAIS (P1)</a:t>
            </a:r>
            <a:endParaRPr/>
          </a:p>
        </p:txBody>
      </p:sp>
      <p:sp>
        <p:nvSpPr>
          <p:cNvPr id="327" name="Google Shape;327;p24"/>
          <p:cNvSpPr/>
          <p:nvPr/>
        </p:nvSpPr>
        <p:spPr>
          <a:xfrm>
            <a:off x="571500" y="571500"/>
            <a:ext cx="114300" cy="619125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32" name="Google Shape;332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333" name="Google Shape;333;p25"/>
          <p:cNvGraphicFramePr/>
          <p:nvPr/>
        </p:nvGraphicFramePr>
        <p:xfrm>
          <a:off x="571500" y="159545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{C85B2FC3-EC09-4A34-8C88-7F451D0598A5}</a:tableStyleId>
              </a:tblPr>
              <a:tblGrid>
                <a:gridCol w="898625"/>
                <a:gridCol w="4229250"/>
                <a:gridCol w="2273200"/>
                <a:gridCol w="3647925"/>
              </a:tblGrid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Nº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0303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Processo / Descrição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0303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Tipo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0303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Recurso Físico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03030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11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Transporte de madeira para corte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Transporte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Esteiras e madeira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12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Corte da tábua e blanks dos cabos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Operação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Serra industrial e madeira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13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Fresar tábua e furar cabos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Operação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Fresa, furadeira, cabos e tábua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</a:t>
                      </a: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4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Lixar cabos e tábua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Operação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Lixadeira, cabos e tábua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</a:t>
                      </a: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5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Acabamento superficial dos cabos e tábua</a:t>
                      </a: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 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Operação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Plaina, cabos e tábua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</a:t>
                      </a: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6</a:t>
                      </a:r>
                      <a:endParaRPr b="0" i="0" sz="1200" u="none" cap="none" strike="noStrike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Aguardar cura e secagem do acabamento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Espera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Mesa, cabos e tábua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</a:t>
                      </a: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7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Inspeção de peças de madeira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Inspeção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Mesa de inspeção, micrômetro, cabos e tábua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</a:t>
                      </a: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8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Transporte de peças de madeira para montagem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Transporte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Esteiras, cabos e tábua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</a:t>
                      </a: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9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Transporte de garfos e facas semi acabados para montagem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Transporte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Esteiras, garfos e facas </a:t>
                      </a: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semi acabados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20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Transporte dos parafusos para montagem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Transporte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Esteiras e parafusos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</a:tbl>
          </a:graphicData>
        </a:graphic>
      </p:graphicFrame>
      <p:sp>
        <p:nvSpPr>
          <p:cNvPr id="334" name="Google Shape;334;p25"/>
          <p:cNvSpPr txBox="1"/>
          <p:nvPr/>
        </p:nvSpPr>
        <p:spPr>
          <a:xfrm>
            <a:off x="809625" y="571500"/>
            <a:ext cx="113514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3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PROCESSOS INDUSTRIAIS (P</a:t>
            </a:r>
            <a:r>
              <a:rPr b="1" lang="en-US" sz="33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2</a:t>
            </a:r>
            <a:r>
              <a:rPr b="1" i="0" lang="en-US" sz="33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)</a:t>
            </a:r>
            <a:endParaRPr/>
          </a:p>
        </p:txBody>
      </p:sp>
      <p:sp>
        <p:nvSpPr>
          <p:cNvPr id="335" name="Google Shape;335;p25"/>
          <p:cNvSpPr/>
          <p:nvPr/>
        </p:nvSpPr>
        <p:spPr>
          <a:xfrm>
            <a:off x="571500" y="571500"/>
            <a:ext cx="114300" cy="619200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339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40" name="Google Shape;340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341" name="Google Shape;341;p26"/>
          <p:cNvGraphicFramePr/>
          <p:nvPr/>
        </p:nvGraphicFramePr>
        <p:xfrm>
          <a:off x="571500" y="159545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{C85B2FC3-EC09-4A34-8C88-7F451D0598A5}</a:tableStyleId>
              </a:tblPr>
              <a:tblGrid>
                <a:gridCol w="898625"/>
                <a:gridCol w="4229250"/>
                <a:gridCol w="2273200"/>
                <a:gridCol w="3647925"/>
              </a:tblGrid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Nº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0303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Processo / Descrição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0303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Tipo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0303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Recurso Físico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03030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21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Montagem de facas e garfos acabados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Operação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Parafusadeira, parafusos, cabos de madeira, garfos e facas semi acabados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2</a:t>
                      </a: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2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Inspeção das facas e garfos acabados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Inspeção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Mesa de inspeção, garfos e facas acabados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2</a:t>
                      </a: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3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Transporte da cartela para a mesa de montagem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Transporte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Esteira e cartela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2</a:t>
                      </a: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4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Montagem do kit na mesa de montagem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Operação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Tábua, garfo, faca e cartela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25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Transporte do kit finalizado</a:t>
                      </a: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 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Transporte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Esteira e kit finalizado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2</a:t>
                      </a: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6</a:t>
                      </a:r>
                      <a:endParaRPr b="0" i="0" sz="1200" u="none" cap="none" strike="noStrike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Armazenagem de kit finalizado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Armazenagem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Kit finalizado, caixas, pallet e empilhadeira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</a:tbl>
          </a:graphicData>
        </a:graphic>
      </p:graphicFrame>
      <p:sp>
        <p:nvSpPr>
          <p:cNvPr id="342" name="Google Shape;342;p26"/>
          <p:cNvSpPr txBox="1"/>
          <p:nvPr/>
        </p:nvSpPr>
        <p:spPr>
          <a:xfrm>
            <a:off x="809625" y="571500"/>
            <a:ext cx="113514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3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PROCESSOS INDUSTRIAIS (P</a:t>
            </a:r>
            <a:r>
              <a:rPr b="1" lang="en-US" sz="33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3</a:t>
            </a:r>
            <a:r>
              <a:rPr b="1" i="0" lang="en-US" sz="33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)</a:t>
            </a:r>
            <a:endParaRPr/>
          </a:p>
        </p:txBody>
      </p:sp>
      <p:sp>
        <p:nvSpPr>
          <p:cNvPr id="343" name="Google Shape;343;p26"/>
          <p:cNvSpPr/>
          <p:nvPr/>
        </p:nvSpPr>
        <p:spPr>
          <a:xfrm>
            <a:off x="571500" y="571500"/>
            <a:ext cx="114300" cy="619200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27"/>
          <p:cNvSpPr txBox="1"/>
          <p:nvPr/>
        </p:nvSpPr>
        <p:spPr>
          <a:xfrm>
            <a:off x="809625" y="571500"/>
            <a:ext cx="113514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3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DESENHO ESQUEMÁTICO DO ARRANJO FÍSICO</a:t>
            </a:r>
            <a:endParaRPr/>
          </a:p>
        </p:txBody>
      </p:sp>
      <p:sp>
        <p:nvSpPr>
          <p:cNvPr id="349" name="Google Shape;349;p27"/>
          <p:cNvSpPr/>
          <p:nvPr/>
        </p:nvSpPr>
        <p:spPr>
          <a:xfrm>
            <a:off x="571500" y="571500"/>
            <a:ext cx="114300" cy="619200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28"/>
          <p:cNvSpPr txBox="1"/>
          <p:nvPr/>
        </p:nvSpPr>
        <p:spPr>
          <a:xfrm>
            <a:off x="809625" y="571500"/>
            <a:ext cx="113514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3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MAPO</a:t>
            </a:r>
            <a:r>
              <a:rPr b="1" i="0" lang="en-US" sz="33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FLUXOGRAMA D</a:t>
            </a:r>
            <a:r>
              <a:rPr b="1" lang="en-US" sz="33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A</a:t>
            </a:r>
            <a:r>
              <a:rPr b="1" i="0" lang="en-US" sz="33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 PRODUÇÃO</a:t>
            </a:r>
            <a:endParaRPr/>
          </a:p>
        </p:txBody>
      </p:sp>
      <p:sp>
        <p:nvSpPr>
          <p:cNvPr id="355" name="Google Shape;355;p28"/>
          <p:cNvSpPr/>
          <p:nvPr/>
        </p:nvSpPr>
        <p:spPr>
          <a:xfrm>
            <a:off x="571500" y="571500"/>
            <a:ext cx="114300" cy="619125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56" name="Google Shape;356;p2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65475" y="1155425"/>
            <a:ext cx="7439689" cy="54737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360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61" name="Google Shape;361;p2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62" name="Google Shape;362;p29"/>
          <p:cNvSpPr txBox="1"/>
          <p:nvPr/>
        </p:nvSpPr>
        <p:spPr>
          <a:xfrm>
            <a:off x="809625" y="571500"/>
            <a:ext cx="113514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3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TABELA EQUIPAMENTOS</a:t>
            </a:r>
            <a:endParaRPr/>
          </a:p>
        </p:txBody>
      </p:sp>
      <p:sp>
        <p:nvSpPr>
          <p:cNvPr id="363" name="Google Shape;363;p29"/>
          <p:cNvSpPr/>
          <p:nvPr/>
        </p:nvSpPr>
        <p:spPr>
          <a:xfrm>
            <a:off x="571500" y="571500"/>
            <a:ext cx="114300" cy="619200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364" name="Google Shape;364;p29"/>
          <p:cNvGraphicFramePr/>
          <p:nvPr/>
        </p:nvGraphicFramePr>
        <p:xfrm>
          <a:off x="685825" y="14455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{5BC8699D-3FC4-49ED-B972-4155DA869AD9}</a:tableStyleId>
              </a:tblPr>
              <a:tblGrid>
                <a:gridCol w="1869250"/>
                <a:gridCol w="2542625"/>
                <a:gridCol w="2101425"/>
                <a:gridCol w="2426525"/>
                <a:gridCol w="1857600"/>
              </a:tblGrid>
              <a:tr h="841700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Equipamento</a:t>
                      </a:r>
                      <a:endParaRPr b="1" sz="1000">
                        <a:solidFill>
                          <a:srgbClr val="FFFFFF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Fornecedor(es)</a:t>
                      </a:r>
                      <a:endParaRPr b="1" sz="1000">
                        <a:solidFill>
                          <a:srgbClr val="FFFFFF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Medidas Aprox.</a:t>
                      </a:r>
                      <a:endParaRPr b="1" sz="1000">
                        <a:solidFill>
                          <a:srgbClr val="FFFFFF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Capacidade (Fabricante)</a:t>
                      </a:r>
                      <a:endParaRPr b="1" sz="1000">
                        <a:solidFill>
                          <a:srgbClr val="FFFFFF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Qtd</a:t>
                      </a:r>
                      <a:endParaRPr b="1" sz="1000">
                        <a:solidFill>
                          <a:srgbClr val="FFFFFF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0000"/>
                    </a:solidFill>
                  </a:tcPr>
                </a:tc>
              </a:tr>
              <a:tr h="8417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Prensa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Excêntrica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Harlo do Brasil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(Guarulhos-SP)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RHTC / ProfiPress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1.850 × 1.200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× 2.400 mm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~5.500 kg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60 tf | 60 golpes/min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Curso: 80 mm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Mesa: 600×400 mm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 b="1" sz="18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417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Forno de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Têmpera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Jung Industrial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(Joinville-SC)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Eletro Fornos (SP)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1.400 × 900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× 1.300 mm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Câmara: 600 L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Até 1.200 °C | PID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Carga: 500 kg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Potência: 30 kW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 b="1" sz="18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417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Lixadeira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 Cinta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Lippel (SC)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Ferromax (SP)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Formfer (SP)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800 × 600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× 1.200 mm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~180 kg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Motor 2,2 kW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Cinta: 100×1.200mm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1.400 m/min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</a:t>
                      </a:r>
                      <a:endParaRPr b="1" sz="18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417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Rebitadeira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Pneumática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Pram Ferramentas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(SP)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Metalurgica Basso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350 × 250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× 500 mm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~25 kg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Força: 1 tf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Ar: 6–8 bar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600 ciclos/hora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</a:t>
                      </a:r>
                      <a:endParaRPr b="1" sz="18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417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Afiadora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Automática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Lippel (SC)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Mecanofar (SP)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MPA Máquinas (SP)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1.100 × 700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× 1.200 mm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~120 kg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Motor 0,75 kW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≤ 610 mm/faca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~400 facas/hora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 b="1" sz="18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30"/>
          <p:cNvSpPr txBox="1"/>
          <p:nvPr/>
        </p:nvSpPr>
        <p:spPr>
          <a:xfrm>
            <a:off x="809625" y="571500"/>
            <a:ext cx="113514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3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SELEÇÃO DE 1 EQUIPAMENTO</a:t>
            </a:r>
            <a:endParaRPr/>
          </a:p>
        </p:txBody>
      </p:sp>
      <p:sp>
        <p:nvSpPr>
          <p:cNvPr id="370" name="Google Shape;370;p30"/>
          <p:cNvSpPr/>
          <p:nvPr/>
        </p:nvSpPr>
        <p:spPr>
          <a:xfrm>
            <a:off x="571500" y="571500"/>
            <a:ext cx="114300" cy="619200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371" name="Google Shape;371;p30"/>
          <p:cNvGraphicFramePr/>
          <p:nvPr/>
        </p:nvGraphicFramePr>
        <p:xfrm>
          <a:off x="1340000" y="14420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{5BC8699D-3FC4-49ED-B972-4155DA869AD9}</a:tableStyleId>
              </a:tblPr>
              <a:tblGrid>
                <a:gridCol w="2054450"/>
                <a:gridCol w="2357425"/>
              </a:tblGrid>
              <a:tr h="841700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Item</a:t>
                      </a:r>
                      <a:endParaRPr b="1" sz="1000">
                        <a:solidFill>
                          <a:srgbClr val="FFFFFF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Valor</a:t>
                      </a:r>
                      <a:endParaRPr b="1" sz="1000">
                        <a:solidFill>
                          <a:srgbClr val="FFFFFF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0000"/>
                    </a:solidFill>
                  </a:tcPr>
                </a:tc>
              </a:tr>
              <a:tr h="8417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Equipamento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Prensa Excêntrica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417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Fornecedor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Harlo do Brasil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(Guarulhos-SP)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RHTC / ProfiPress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417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Capacidade Nominal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60 golpes/min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417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Curso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80 mm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417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Mesa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600 x 400 mm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graphicFrame>
        <p:nvGraphicFramePr>
          <p:cNvPr id="372" name="Google Shape;372;p30"/>
          <p:cNvGraphicFramePr/>
          <p:nvPr/>
        </p:nvGraphicFramePr>
        <p:xfrm>
          <a:off x="6799025" y="14420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{5BC8699D-3FC4-49ED-B972-4155DA869AD9}</a:tableStyleId>
              </a:tblPr>
              <a:tblGrid>
                <a:gridCol w="2068875"/>
                <a:gridCol w="2343000"/>
              </a:tblGrid>
              <a:tr h="653750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Parâmetro</a:t>
                      </a:r>
                      <a:endParaRPr b="1" sz="1000">
                        <a:solidFill>
                          <a:srgbClr val="FFFFFF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Valor</a:t>
                      </a:r>
                      <a:endParaRPr b="1" sz="1000">
                        <a:solidFill>
                          <a:srgbClr val="FFFFFF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0000"/>
                    </a:solidFill>
                  </a:tcPr>
                </a:tc>
              </a:tr>
              <a:tr h="65375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Turnos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 turno/dia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5375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Jornada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8h/dia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5375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Dias úteis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 dias/semana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5375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Disponibilidade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90%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5375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Eficiência 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85% 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3147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Rejeição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3%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2317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Setup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30 min/semana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77" name="Google Shape;377;p3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11125" y="-79375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78" name="Google Shape;378;p31"/>
          <p:cNvSpPr txBox="1"/>
          <p:nvPr/>
        </p:nvSpPr>
        <p:spPr>
          <a:xfrm>
            <a:off x="685800" y="627150"/>
            <a:ext cx="113514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3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PARQUE DE MÁQUINAS - QUANTIDADES FINAIS</a:t>
            </a:r>
            <a:endParaRPr/>
          </a:p>
        </p:txBody>
      </p:sp>
      <p:sp>
        <p:nvSpPr>
          <p:cNvPr id="379" name="Google Shape;379;p31"/>
          <p:cNvSpPr/>
          <p:nvPr/>
        </p:nvSpPr>
        <p:spPr>
          <a:xfrm>
            <a:off x="571500" y="571500"/>
            <a:ext cx="114300" cy="619200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380" name="Google Shape;380;p31"/>
          <p:cNvGraphicFramePr/>
          <p:nvPr/>
        </p:nvGraphicFramePr>
        <p:xfrm>
          <a:off x="586163" y="15547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{5BC8699D-3FC4-49ED-B972-4155DA869AD9}</a:tableStyleId>
              </a:tblPr>
              <a:tblGrid>
                <a:gridCol w="1869250"/>
                <a:gridCol w="2542625"/>
                <a:gridCol w="2101425"/>
                <a:gridCol w="2426525"/>
                <a:gridCol w="1857600"/>
              </a:tblGrid>
              <a:tr h="841700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Equipamento / Maquinário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 anchor="ctr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Operações Realizadas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 anchor="ctr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Capacidade Nominal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 anchor="ctr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Qtd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 anchor="ctr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Observação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 anchor="ctr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0000"/>
                    </a:solidFill>
                  </a:tcPr>
                </a:tc>
              </a:tr>
              <a:tr h="3972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Prensa Excêntrica 60 tf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Estampagem de blanks (faca e garfo)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60 golpes/min | Curso 80 mm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Calc. detalhado — Ponto 11</a:t>
                      </a:r>
                      <a:endParaRPr i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4482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Forno de Têmpera Câmara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Têmpera de blanks (1.050–1.100 °C)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600 L | Carga: 500 kg | 30 kW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Ciclo ~45 min; 1 carga cobre lote diário</a:t>
                      </a:r>
                      <a:endParaRPr i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9245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Lixadeira de Cinta Industrial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Desbaste, lixamento e polimento das lâminas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2,2 kW | 1.400 m/min | cinta 100mm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 estações em linha (sequência granas)</a:t>
                      </a:r>
                      <a:endParaRPr i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607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Rebitadeira Pneumática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Fixação de cabos de madeira por rebites inox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Força 1 tf | 6–8 bar | 600 ciclos/h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 por estação de montagem (faca/garfo/extra)</a:t>
                      </a:r>
                      <a:endParaRPr i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1307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Afiadora Automática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Afiamento de facas (fio de corte)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~400 facas/hora | Motor 0,75 kW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Capacidade supera demanda com folga</a:t>
                      </a:r>
                      <a:endParaRPr i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5595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Politriz / Retificadeira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Polimento fino e acabamento superficial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Motor 1,5 kW | Disco Ø 250 mm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Acabamento final lâminas</a:t>
                      </a:r>
                      <a:endParaRPr i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5595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Empilhadeira Elétrica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Movimentação de pallets e armazenagem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Capacidade: 1.500 kg | 3,5 m lift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Logística interna geral</a:t>
                      </a:r>
                      <a:endParaRPr i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5595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Esteiras Transportadoras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Transporte entre estações produtivas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Largura 300 mm | 0,5 kW/unid.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Interligam todos os postos</a:t>
                      </a:r>
                      <a:endParaRPr i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32"/>
          <p:cNvSpPr txBox="1"/>
          <p:nvPr/>
        </p:nvSpPr>
        <p:spPr>
          <a:xfrm>
            <a:off x="809625" y="571500"/>
            <a:ext cx="113514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3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SELEÇÃO DE 1 EQUIPAMENTO</a:t>
            </a:r>
            <a:endParaRPr/>
          </a:p>
        </p:txBody>
      </p:sp>
      <p:sp>
        <p:nvSpPr>
          <p:cNvPr id="386" name="Google Shape;386;p32"/>
          <p:cNvSpPr/>
          <p:nvPr/>
        </p:nvSpPr>
        <p:spPr>
          <a:xfrm>
            <a:off x="571500" y="571500"/>
            <a:ext cx="114300" cy="619200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7" name="Google Shape;387;p32"/>
          <p:cNvSpPr txBox="1"/>
          <p:nvPr/>
        </p:nvSpPr>
        <p:spPr>
          <a:xfrm>
            <a:off x="809625" y="1643800"/>
            <a:ext cx="4634100" cy="121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Calibri"/>
              <a:buChar char="-"/>
            </a:pPr>
            <a:r>
              <a:rPr lang="en-US" sz="15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Produção necessária:</a:t>
            </a:r>
            <a:endParaRPr sz="15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2000 kits / 5 dias = 400 kits / dia</a:t>
            </a:r>
            <a:endParaRPr sz="15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400 / 8 = 50 kits / hora</a:t>
            </a:r>
            <a:endParaRPr sz="15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8" name="Google Shape;388;p32"/>
          <p:cNvSpPr txBox="1"/>
          <p:nvPr/>
        </p:nvSpPr>
        <p:spPr>
          <a:xfrm>
            <a:off x="809625" y="3302775"/>
            <a:ext cx="4634100" cy="6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Calibri"/>
              <a:buChar char="-"/>
            </a:pPr>
            <a:r>
              <a:rPr lang="en-US" sz="15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Produção necessária com perdas : </a:t>
            </a:r>
            <a:endParaRPr sz="15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50 / 0,85 x 0,97 = 60,7 kits / hora</a:t>
            </a:r>
            <a:endParaRPr sz="15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9" name="Google Shape;389;p32"/>
          <p:cNvSpPr txBox="1"/>
          <p:nvPr/>
        </p:nvSpPr>
        <p:spPr>
          <a:xfrm>
            <a:off x="809625" y="4430750"/>
            <a:ext cx="4634100" cy="6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Calibri"/>
              <a:buChar char="-"/>
            </a:pPr>
            <a:r>
              <a:rPr lang="en-US" sz="15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Capacidade da prensa</a:t>
            </a:r>
            <a:r>
              <a:rPr lang="en-US" sz="15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:  60 golpes / min = 3600 ciclos / hora</a:t>
            </a:r>
            <a:endParaRPr sz="15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0" name="Google Shape;390;p32"/>
          <p:cNvSpPr txBox="1"/>
          <p:nvPr/>
        </p:nvSpPr>
        <p:spPr>
          <a:xfrm>
            <a:off x="809625" y="5558725"/>
            <a:ext cx="4634100" cy="6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Calibri"/>
              <a:buChar char="-"/>
            </a:pPr>
            <a:r>
              <a:rPr lang="en-US" sz="15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Quantidade:</a:t>
            </a:r>
            <a:endParaRPr sz="15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N = 60,7 /3600 = 0,017 ≈ 1 prensa </a:t>
            </a:r>
            <a:endParaRPr sz="15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32"/>
          <p:cNvSpPr txBox="1"/>
          <p:nvPr/>
        </p:nvSpPr>
        <p:spPr>
          <a:xfrm>
            <a:off x="6492675" y="1796200"/>
            <a:ext cx="4634100" cy="2539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 Prensa Excêntrica foi dimensionada para as operações de corte e estampagem dos componentes metálicos. Considerando a demanda de 2.000 kits por semana (400 kits/dia), sua capacidade nominal de 60 golpes por minuto é significativamente superior à capacidade requerida pelo processo. Dessa forma, uma única unidade é suficiente para atender integralmente a demanda produtiva, não representando gargalo para a linha de produção. </a:t>
            </a:r>
            <a:endParaRPr sz="15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395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96" name="Google Shape;396;p3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97" name="Google Shape;397;p33"/>
          <p:cNvSpPr/>
          <p:nvPr/>
        </p:nvSpPr>
        <p:spPr>
          <a:xfrm>
            <a:off x="5619750" y="479662"/>
            <a:ext cx="952500" cy="95400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8" name="Google Shape;398;p33"/>
          <p:cNvSpPr txBox="1"/>
          <p:nvPr/>
        </p:nvSpPr>
        <p:spPr>
          <a:xfrm>
            <a:off x="295275" y="860662"/>
            <a:ext cx="11601600" cy="9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0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Conclusões</a:t>
            </a:r>
            <a:endParaRPr/>
          </a:p>
        </p:txBody>
      </p:sp>
      <p:sp>
        <p:nvSpPr>
          <p:cNvPr id="399" name="Google Shape;399;p33"/>
          <p:cNvSpPr txBox="1"/>
          <p:nvPr/>
        </p:nvSpPr>
        <p:spPr>
          <a:xfrm>
            <a:off x="571575" y="6255037"/>
            <a:ext cx="110490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AAAAAA"/>
                </a:solidFill>
                <a:latin typeface="Lato"/>
                <a:ea typeface="Lato"/>
                <a:cs typeface="Lato"/>
                <a:sym typeface="Lato"/>
              </a:rPr>
              <a:t>Kit Churrasco Tramontina | Engenharia de Produção | 202</a:t>
            </a:r>
            <a:r>
              <a:rPr lang="en-US" sz="1500">
                <a:solidFill>
                  <a:srgbClr val="AAAAAA"/>
                </a:solidFill>
                <a:latin typeface="Lato"/>
                <a:ea typeface="Lato"/>
                <a:cs typeface="Lato"/>
                <a:sym typeface="Lato"/>
              </a:rPr>
              <a:t>6</a:t>
            </a:r>
            <a:endParaRPr/>
          </a:p>
        </p:txBody>
      </p:sp>
      <p:grpSp>
        <p:nvGrpSpPr>
          <p:cNvPr id="400" name="Google Shape;400;p33"/>
          <p:cNvGrpSpPr/>
          <p:nvPr/>
        </p:nvGrpSpPr>
        <p:grpSpPr>
          <a:xfrm>
            <a:off x="295168" y="2018700"/>
            <a:ext cx="11048723" cy="1876425"/>
            <a:chOff x="2638425" y="3081325"/>
            <a:chExt cx="7024875" cy="1876425"/>
          </a:xfrm>
        </p:grpSpPr>
        <p:pic>
          <p:nvPicPr>
            <p:cNvPr descr="image.png" id="401" name="Google Shape;401;p33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2638425" y="3081325"/>
              <a:ext cx="7024875" cy="187642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02" name="Google Shape;402;p33"/>
            <p:cNvSpPr txBox="1"/>
            <p:nvPr/>
          </p:nvSpPr>
          <p:spPr>
            <a:xfrm>
              <a:off x="3019425" y="3462337"/>
              <a:ext cx="6153300" cy="25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352425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1650" u="none" cap="none" strike="noStrike">
                  <a:solidFill>
                    <a:srgbClr val="E8E8E8"/>
                  </a:solidFill>
                  <a:latin typeface="Lato"/>
                  <a:ea typeface="Lato"/>
                  <a:cs typeface="Lato"/>
                  <a:sym typeface="Lato"/>
                </a:rPr>
                <a:t>Projeto tecnicamente viável para </a:t>
              </a:r>
              <a:r>
                <a:rPr lang="en-US" sz="1650">
                  <a:solidFill>
                    <a:srgbClr val="E8E8E8"/>
                  </a:solidFill>
                  <a:latin typeface="Lato"/>
                  <a:ea typeface="Lato"/>
                  <a:cs typeface="Lato"/>
                  <a:sym typeface="Lato"/>
                </a:rPr>
                <a:t>2</a:t>
              </a:r>
              <a:r>
                <a:rPr b="0" i="0" lang="en-US" sz="1650" u="none" cap="none" strike="noStrike">
                  <a:solidFill>
                    <a:srgbClr val="E8E8E8"/>
                  </a:solidFill>
                  <a:latin typeface="Lato"/>
                  <a:ea typeface="Lato"/>
                  <a:cs typeface="Lato"/>
                  <a:sym typeface="Lato"/>
                </a:rPr>
                <a:t>000 kits/semana.</a:t>
              </a:r>
              <a:endParaRPr/>
            </a:p>
          </p:txBody>
        </p:sp>
        <p:sp>
          <p:nvSpPr>
            <p:cNvPr id="403" name="Google Shape;403;p33"/>
            <p:cNvSpPr txBox="1"/>
            <p:nvPr/>
          </p:nvSpPr>
          <p:spPr>
            <a:xfrm>
              <a:off x="3019425" y="3833812"/>
              <a:ext cx="6153300" cy="25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352425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1650" u="none" cap="none" strike="noStrike">
                  <a:solidFill>
                    <a:srgbClr val="E8E8E8"/>
                  </a:solidFill>
                  <a:latin typeface="Lato"/>
                  <a:ea typeface="Lato"/>
                  <a:cs typeface="Lato"/>
                  <a:sym typeface="Lato"/>
                </a:rPr>
                <a:t>Linha compacta de 800m² com fluxo otimizado.</a:t>
              </a:r>
              <a:endParaRPr/>
            </a:p>
          </p:txBody>
        </p:sp>
        <p:sp>
          <p:nvSpPr>
            <p:cNvPr id="404" name="Google Shape;404;p33"/>
            <p:cNvSpPr txBox="1"/>
            <p:nvPr/>
          </p:nvSpPr>
          <p:spPr>
            <a:xfrm>
              <a:off x="3019425" y="4205287"/>
              <a:ext cx="6153300" cy="25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352425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1650" u="none" cap="none" strike="noStrike">
                  <a:solidFill>
                    <a:srgbClr val="E8E8E8"/>
                  </a:solidFill>
                  <a:latin typeface="Lato"/>
                  <a:ea typeface="Lato"/>
                  <a:cs typeface="Lato"/>
                  <a:sym typeface="Lato"/>
                </a:rPr>
                <a:t>Equilíbrio entre recursos próprios (estampagem) e outsourcing.</a:t>
              </a:r>
              <a:endParaRPr/>
            </a:p>
          </p:txBody>
        </p:sp>
        <p:pic>
          <p:nvPicPr>
            <p:cNvPr descr="image.png" id="405" name="Google Shape;405;p33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3019425" y="3490912"/>
              <a:ext cx="209550" cy="2095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image.png" id="406" name="Google Shape;406;p33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3019425" y="3862387"/>
              <a:ext cx="209550" cy="2095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image.png" id="407" name="Google Shape;407;p33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3019425" y="4233862"/>
              <a:ext cx="209550" cy="20955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08" name="Google Shape;408;p33"/>
          <p:cNvGrpSpPr/>
          <p:nvPr/>
        </p:nvGrpSpPr>
        <p:grpSpPr>
          <a:xfrm>
            <a:off x="295293" y="4136875"/>
            <a:ext cx="11048723" cy="1876425"/>
            <a:chOff x="2638425" y="3081325"/>
            <a:chExt cx="7024875" cy="1876425"/>
          </a:xfrm>
        </p:grpSpPr>
        <p:pic>
          <p:nvPicPr>
            <p:cNvPr descr="image.png" id="409" name="Google Shape;409;p33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2638425" y="3081325"/>
              <a:ext cx="7024875" cy="187642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10" name="Google Shape;410;p33"/>
            <p:cNvSpPr txBox="1"/>
            <p:nvPr/>
          </p:nvSpPr>
          <p:spPr>
            <a:xfrm>
              <a:off x="3019425" y="3462337"/>
              <a:ext cx="61533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352425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50">
                  <a:solidFill>
                    <a:srgbClr val="E8E8E8"/>
                  </a:solidFill>
                  <a:latin typeface="Lato"/>
                  <a:ea typeface="Lato"/>
                  <a:cs typeface="Lato"/>
                  <a:sym typeface="Lato"/>
                </a:rPr>
                <a:t>O que seria necessário para aprimorar o projeto?</a:t>
              </a:r>
              <a:endParaRPr sz="1650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endParaRPr>
            </a:p>
            <a:p>
              <a:pPr indent="-333375" lvl="0" marL="457200" marR="0" rtl="0" algn="l">
                <a:spcBef>
                  <a:spcPts val="0"/>
                </a:spcBef>
                <a:spcAft>
                  <a:spcPts val="0"/>
                </a:spcAft>
                <a:buClr>
                  <a:srgbClr val="E8E8E8"/>
                </a:buClr>
                <a:buSzPts val="1650"/>
                <a:buFont typeface="Lato"/>
                <a:buChar char="-"/>
              </a:pPr>
              <a:r>
                <a:rPr lang="en-US" sz="1650">
                  <a:solidFill>
                    <a:srgbClr val="E8E8E8"/>
                  </a:solidFill>
                  <a:latin typeface="Lato"/>
                  <a:ea typeface="Lato"/>
                  <a:cs typeface="Lato"/>
                  <a:sym typeface="Lato"/>
                </a:rPr>
                <a:t>Capital de investimento superior, possibilitando comprar máquinas melhores </a:t>
              </a:r>
              <a:endParaRPr sz="1650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endParaRPr>
            </a:p>
            <a:p>
              <a:pPr indent="-333375" lvl="0" marL="457200" marR="0" rtl="0" algn="l">
                <a:spcBef>
                  <a:spcPts val="0"/>
                </a:spcBef>
                <a:spcAft>
                  <a:spcPts val="0"/>
                </a:spcAft>
                <a:buClr>
                  <a:srgbClr val="E8E8E8"/>
                </a:buClr>
                <a:buSzPts val="1650"/>
                <a:buFont typeface="Lato"/>
                <a:buChar char="-"/>
              </a:pPr>
              <a:r>
                <a:rPr lang="en-US" sz="1650">
                  <a:solidFill>
                    <a:srgbClr val="E8E8E8"/>
                  </a:solidFill>
                  <a:latin typeface="Lato"/>
                  <a:ea typeface="Lato"/>
                  <a:cs typeface="Lato"/>
                  <a:sym typeface="Lato"/>
                </a:rPr>
                <a:t>Parceiros logísticos fixos para entrega dos produtos a comprar com preço inferior </a:t>
              </a:r>
              <a:endParaRPr sz="1650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pic>
          <p:nvPicPr>
            <p:cNvPr descr="image.png" id="411" name="Google Shape;411;p33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3019425" y="3490912"/>
              <a:ext cx="209550" cy="20955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415" name="Shape 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416" name="Google Shape;416;p3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417" name="Google Shape;417;p34"/>
          <p:cNvGraphicFramePr/>
          <p:nvPr/>
        </p:nvGraphicFramePr>
        <p:xfrm>
          <a:off x="571500" y="2633662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{C85B2FC3-EC09-4A34-8C88-7F451D0598A5}</a:tableStyleId>
              </a:tblPr>
              <a:tblGrid>
                <a:gridCol w="4841675"/>
                <a:gridCol w="4692700"/>
                <a:gridCol w="1514625"/>
              </a:tblGrid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Equipamento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0303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Capacidade / Força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0303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Qtd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03030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Prensa Excêntrica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60 toneladas força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Forno de Têmpera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Câmara 600L | 1.100°C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Lixadeira de Cinta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2.200 W | Industrial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3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Rebitadeira Pneumática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Força 1 ton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3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Afiadora Automática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400 facas / hora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</a:tbl>
          </a:graphicData>
        </a:graphic>
      </p:graphicFrame>
      <p:sp>
        <p:nvSpPr>
          <p:cNvPr id="418" name="Google Shape;418;p34"/>
          <p:cNvSpPr/>
          <p:nvPr/>
        </p:nvSpPr>
        <p:spPr>
          <a:xfrm>
            <a:off x="571500" y="3533775"/>
            <a:ext cx="4841676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9" name="Google Shape;419;p34"/>
          <p:cNvSpPr/>
          <p:nvPr/>
        </p:nvSpPr>
        <p:spPr>
          <a:xfrm>
            <a:off x="5413176" y="3533775"/>
            <a:ext cx="4692699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0" name="Google Shape;420;p34"/>
          <p:cNvSpPr/>
          <p:nvPr/>
        </p:nvSpPr>
        <p:spPr>
          <a:xfrm>
            <a:off x="10105876" y="3533775"/>
            <a:ext cx="151462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1" name="Google Shape;421;p34"/>
          <p:cNvSpPr/>
          <p:nvPr/>
        </p:nvSpPr>
        <p:spPr>
          <a:xfrm>
            <a:off x="571500" y="3952875"/>
            <a:ext cx="4841676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2" name="Google Shape;422;p34"/>
          <p:cNvSpPr/>
          <p:nvPr/>
        </p:nvSpPr>
        <p:spPr>
          <a:xfrm>
            <a:off x="5413176" y="3952875"/>
            <a:ext cx="4692699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3" name="Google Shape;423;p34"/>
          <p:cNvSpPr/>
          <p:nvPr/>
        </p:nvSpPr>
        <p:spPr>
          <a:xfrm>
            <a:off x="10105876" y="3952875"/>
            <a:ext cx="151462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4" name="Google Shape;424;p34"/>
          <p:cNvSpPr/>
          <p:nvPr/>
        </p:nvSpPr>
        <p:spPr>
          <a:xfrm>
            <a:off x="571500" y="4371975"/>
            <a:ext cx="4841676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5" name="Google Shape;425;p34"/>
          <p:cNvSpPr/>
          <p:nvPr/>
        </p:nvSpPr>
        <p:spPr>
          <a:xfrm>
            <a:off x="5413176" y="4371975"/>
            <a:ext cx="4692699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6" name="Google Shape;426;p34"/>
          <p:cNvSpPr/>
          <p:nvPr/>
        </p:nvSpPr>
        <p:spPr>
          <a:xfrm>
            <a:off x="10105876" y="4371975"/>
            <a:ext cx="151462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7" name="Google Shape;427;p34"/>
          <p:cNvSpPr/>
          <p:nvPr/>
        </p:nvSpPr>
        <p:spPr>
          <a:xfrm>
            <a:off x="571500" y="4791075"/>
            <a:ext cx="4841676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8" name="Google Shape;428;p34"/>
          <p:cNvSpPr/>
          <p:nvPr/>
        </p:nvSpPr>
        <p:spPr>
          <a:xfrm>
            <a:off x="5413176" y="4791075"/>
            <a:ext cx="4692699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9" name="Google Shape;429;p34"/>
          <p:cNvSpPr/>
          <p:nvPr/>
        </p:nvSpPr>
        <p:spPr>
          <a:xfrm>
            <a:off x="10105876" y="4791075"/>
            <a:ext cx="151462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4"/>
          <p:cNvSpPr/>
          <p:nvPr/>
        </p:nvSpPr>
        <p:spPr>
          <a:xfrm>
            <a:off x="571500" y="5210175"/>
            <a:ext cx="4841676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1" name="Google Shape;431;p34"/>
          <p:cNvSpPr/>
          <p:nvPr/>
        </p:nvSpPr>
        <p:spPr>
          <a:xfrm>
            <a:off x="5413176" y="5210175"/>
            <a:ext cx="4692699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2" name="Google Shape;432;p34"/>
          <p:cNvSpPr/>
          <p:nvPr/>
        </p:nvSpPr>
        <p:spPr>
          <a:xfrm>
            <a:off x="10105876" y="5210175"/>
            <a:ext cx="151462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3" name="Google Shape;433;p34"/>
          <p:cNvSpPr txBox="1"/>
          <p:nvPr/>
        </p:nvSpPr>
        <p:spPr>
          <a:xfrm>
            <a:off x="809625" y="571500"/>
            <a:ext cx="11351418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3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PARQUE DE MÁQUINAS</a:t>
            </a:r>
            <a:endParaRPr/>
          </a:p>
        </p:txBody>
      </p:sp>
      <p:sp>
        <p:nvSpPr>
          <p:cNvPr id="434" name="Google Shape;434;p34"/>
          <p:cNvSpPr/>
          <p:nvPr/>
        </p:nvSpPr>
        <p:spPr>
          <a:xfrm>
            <a:off x="571500" y="571500"/>
            <a:ext cx="114300" cy="619125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438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439" name="Google Shape;439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40" name="Google Shape;440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34125" y="3009900"/>
            <a:ext cx="5286375" cy="22193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41" name="Google Shape;441;p3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1500" y="3724275"/>
            <a:ext cx="5286375" cy="1132879"/>
          </a:xfrm>
          <a:prstGeom prst="rect">
            <a:avLst/>
          </a:prstGeom>
          <a:noFill/>
          <a:ln>
            <a:noFill/>
          </a:ln>
        </p:spPr>
      </p:pic>
      <p:sp>
        <p:nvSpPr>
          <p:cNvPr id="442" name="Google Shape;442;p35"/>
          <p:cNvSpPr txBox="1"/>
          <p:nvPr/>
        </p:nvSpPr>
        <p:spPr>
          <a:xfrm>
            <a:off x="571500" y="2628900"/>
            <a:ext cx="5550693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C48A1A"/>
                </a:solidFill>
                <a:latin typeface="Poppins"/>
                <a:ea typeface="Poppins"/>
                <a:cs typeface="Poppins"/>
                <a:sym typeface="Poppins"/>
              </a:rPr>
              <a:t>Dimensionamento</a:t>
            </a:r>
            <a:endParaRPr/>
          </a:p>
        </p:txBody>
      </p:sp>
      <p:sp>
        <p:nvSpPr>
          <p:cNvPr id="443" name="Google Shape;443;p35"/>
          <p:cNvSpPr txBox="1"/>
          <p:nvPr/>
        </p:nvSpPr>
        <p:spPr>
          <a:xfrm>
            <a:off x="571500" y="3171825"/>
            <a:ext cx="52863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Cálculo da quantidade de prensas para meta de </a:t>
            </a:r>
            <a:r>
              <a:rPr lang="en-US" sz="1200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2</a:t>
            </a: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.000 unidades/semana </a:t>
            </a: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(</a:t>
            </a:r>
            <a:r>
              <a:rPr lang="en-US" sz="1200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400</a:t>
            </a: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/dia + rejeitos)</a:t>
            </a: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.</a:t>
            </a:r>
            <a:endParaRPr/>
          </a:p>
        </p:txBody>
      </p:sp>
      <p:sp>
        <p:nvSpPr>
          <p:cNvPr id="444" name="Google Shape;444;p35"/>
          <p:cNvSpPr txBox="1"/>
          <p:nvPr/>
        </p:nvSpPr>
        <p:spPr>
          <a:xfrm>
            <a:off x="6724650" y="3343275"/>
            <a:ext cx="4790598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C48A1A"/>
                </a:solidFill>
                <a:latin typeface="Poppins"/>
                <a:ea typeface="Poppins"/>
                <a:cs typeface="Poppins"/>
                <a:sym typeface="Poppins"/>
              </a:rPr>
              <a:t>Resultado Final</a:t>
            </a:r>
            <a:endParaRPr/>
          </a:p>
        </p:txBody>
      </p:sp>
      <p:sp>
        <p:nvSpPr>
          <p:cNvPr id="445" name="Google Shape;445;p35"/>
          <p:cNvSpPr txBox="1"/>
          <p:nvPr/>
        </p:nvSpPr>
        <p:spPr>
          <a:xfrm>
            <a:off x="6724650" y="3886200"/>
            <a:ext cx="45624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1 </a:t>
            </a:r>
            <a:r>
              <a:rPr b="1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Prensa</a:t>
            </a:r>
            <a:r>
              <a:rPr b="1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b="1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Excêntrica</a:t>
            </a: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é suficiente para a</a:t>
            </a: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demanda</a:t>
            </a: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, operando com uma folga de capacidade de </a:t>
            </a:r>
            <a:r>
              <a:rPr lang="en-US" sz="1200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70</a:t>
            </a: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%.</a:t>
            </a:r>
            <a:endParaRPr/>
          </a:p>
        </p:txBody>
      </p:sp>
      <p:sp>
        <p:nvSpPr>
          <p:cNvPr id="446" name="Google Shape;446;p35"/>
          <p:cNvSpPr txBox="1"/>
          <p:nvPr/>
        </p:nvSpPr>
        <p:spPr>
          <a:xfrm>
            <a:off x="6724650" y="4362450"/>
            <a:ext cx="4562400" cy="362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Considerado setup de molde de 30 minutos entre lotes de facas e garfos.</a:t>
            </a:r>
            <a:endParaRPr/>
          </a:p>
        </p:txBody>
      </p:sp>
      <p:pic>
        <p:nvPicPr>
          <p:cNvPr descr="image.png" id="447" name="Google Shape;447;p3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19150" y="3971925"/>
            <a:ext cx="4791075" cy="114300"/>
          </a:xfrm>
          <a:prstGeom prst="rect">
            <a:avLst/>
          </a:prstGeom>
          <a:noFill/>
          <a:ln>
            <a:noFill/>
          </a:ln>
        </p:spPr>
      </p:pic>
      <p:sp>
        <p:nvSpPr>
          <p:cNvPr id="448" name="Google Shape;448;p35"/>
          <p:cNvSpPr txBox="1"/>
          <p:nvPr/>
        </p:nvSpPr>
        <p:spPr>
          <a:xfrm>
            <a:off x="809625" y="571500"/>
            <a:ext cx="113514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3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MEMORIAL DE CÁLCULO (PRENSA)</a:t>
            </a:r>
            <a:endParaRPr/>
          </a:p>
        </p:txBody>
      </p:sp>
      <p:sp>
        <p:nvSpPr>
          <p:cNvPr id="449" name="Google Shape;449;p35"/>
          <p:cNvSpPr/>
          <p:nvPr/>
        </p:nvSpPr>
        <p:spPr>
          <a:xfrm>
            <a:off x="571500" y="571500"/>
            <a:ext cx="114300" cy="619125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0" name="Google Shape;450;p35"/>
          <p:cNvSpPr txBox="1"/>
          <p:nvPr/>
        </p:nvSpPr>
        <p:spPr>
          <a:xfrm>
            <a:off x="2083950" y="4124650"/>
            <a:ext cx="22614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Db = 400 / 0,97 = 412,37 kits/dia </a:t>
            </a:r>
            <a:endParaRPr/>
          </a:p>
        </p:txBody>
      </p:sp>
      <p:sp>
        <p:nvSpPr>
          <p:cNvPr id="451" name="Google Shape;451;p35"/>
          <p:cNvSpPr txBox="1"/>
          <p:nvPr/>
        </p:nvSpPr>
        <p:spPr>
          <a:xfrm>
            <a:off x="1902650" y="4347875"/>
            <a:ext cx="28884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Capacidade = 367,2 / 0,27 = 1360 kits / dia </a:t>
            </a:r>
            <a:endParaRPr/>
          </a:p>
        </p:txBody>
      </p:sp>
      <p:sp>
        <p:nvSpPr>
          <p:cNvPr id="452" name="Google Shape;452;p35"/>
          <p:cNvSpPr txBox="1"/>
          <p:nvPr/>
        </p:nvSpPr>
        <p:spPr>
          <a:xfrm>
            <a:off x="1902650" y="4571100"/>
            <a:ext cx="28884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N = 412,37 / 1360 = 0,3 -&gt; 1 prensa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456" name="Shape 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457" name="Google Shape;45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58" name="Google Shape;458;p36"/>
          <p:cNvSpPr txBox="1"/>
          <p:nvPr/>
        </p:nvSpPr>
        <p:spPr>
          <a:xfrm>
            <a:off x="809625" y="2033587"/>
            <a:ext cx="4950618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3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LAYOUT INDUSTRIAL</a:t>
            </a:r>
            <a:endParaRPr/>
          </a:p>
        </p:txBody>
      </p:sp>
      <p:sp>
        <p:nvSpPr>
          <p:cNvPr id="459" name="Google Shape;459;p36"/>
          <p:cNvSpPr/>
          <p:nvPr/>
        </p:nvSpPr>
        <p:spPr>
          <a:xfrm>
            <a:off x="571500" y="2033587"/>
            <a:ext cx="114300" cy="619125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0" name="Google Shape;460;p36"/>
          <p:cNvSpPr txBox="1"/>
          <p:nvPr/>
        </p:nvSpPr>
        <p:spPr>
          <a:xfrm>
            <a:off x="571500" y="3033712"/>
            <a:ext cx="520065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C48A1A"/>
                </a:solidFill>
                <a:latin typeface="Poppins"/>
                <a:ea typeface="Poppins"/>
                <a:cs typeface="Poppins"/>
                <a:sym typeface="Poppins"/>
              </a:rPr>
              <a:t>Arranjo Físico Proposto</a:t>
            </a:r>
            <a:endParaRPr/>
          </a:p>
        </p:txBody>
      </p:sp>
      <p:sp>
        <p:nvSpPr>
          <p:cNvPr id="461" name="Google Shape;461;p36"/>
          <p:cNvSpPr txBox="1"/>
          <p:nvPr/>
        </p:nvSpPr>
        <p:spPr>
          <a:xfrm>
            <a:off x="571500" y="3576637"/>
            <a:ext cx="4953000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Planta dimensionada em 800m² (40m x 20m) focada em fluxo linear para minimizar movimentação de materiais.</a:t>
            </a:r>
            <a:endParaRPr/>
          </a:p>
        </p:txBody>
      </p:sp>
      <p:sp>
        <p:nvSpPr>
          <p:cNvPr id="462" name="Google Shape;462;p36"/>
          <p:cNvSpPr txBox="1"/>
          <p:nvPr/>
        </p:nvSpPr>
        <p:spPr>
          <a:xfrm>
            <a:off x="571500" y="4052887"/>
            <a:ext cx="4953000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Setores: Recebimento -&gt; Estampagem -&gt; Tratamento Térmico -&gt; Polimento -&gt; Montagem -&gt; Expedição.</a:t>
            </a:r>
            <a:endParaRPr/>
          </a:p>
        </p:txBody>
      </p:sp>
      <p:sp>
        <p:nvSpPr>
          <p:cNvPr id="463" name="Google Shape;463;p36"/>
          <p:cNvSpPr txBox="1"/>
          <p:nvPr/>
        </p:nvSpPr>
        <p:spPr>
          <a:xfrm>
            <a:off x="571500" y="4529137"/>
            <a:ext cx="4953000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C48A1A"/>
                </a:solidFill>
                <a:latin typeface="Lato"/>
                <a:ea typeface="Lato"/>
                <a:cs typeface="Lato"/>
                <a:sym typeface="Lato"/>
              </a:rPr>
              <a:t>Fluxo otimizado para produção puxada.</a:t>
            </a:r>
            <a:endParaRPr/>
          </a:p>
        </p:txBody>
      </p:sp>
      <p:pic>
        <p:nvPicPr>
          <p:cNvPr descr="image.png" id="464" name="Google Shape;464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96000" y="0"/>
            <a:ext cx="1733550" cy="180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468" name="Shape 4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469" name="Google Shape;469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70" name="Google Shape;470;p3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1571625"/>
            <a:ext cx="5976342" cy="86487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71" name="Google Shape;471;p3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833592" y="1571625"/>
            <a:ext cx="3905250" cy="8648700"/>
          </a:xfrm>
          <a:prstGeom prst="rect">
            <a:avLst/>
          </a:prstGeom>
          <a:noFill/>
          <a:ln>
            <a:noFill/>
          </a:ln>
        </p:spPr>
      </p:pic>
      <p:sp>
        <p:nvSpPr>
          <p:cNvPr id="472" name="Google Shape;472;p37"/>
          <p:cNvSpPr txBox="1"/>
          <p:nvPr/>
        </p:nvSpPr>
        <p:spPr>
          <a:xfrm>
            <a:off x="571500" y="10220325"/>
            <a:ext cx="5976342" cy="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Prensa 60t:</a:t>
            </a: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 Recorte preciso das lâminas em aço inox.</a:t>
            </a:r>
            <a:endParaRPr/>
          </a:p>
        </p:txBody>
      </p:sp>
      <p:sp>
        <p:nvSpPr>
          <p:cNvPr id="473" name="Google Shape;473;p37"/>
          <p:cNvSpPr txBox="1"/>
          <p:nvPr/>
        </p:nvSpPr>
        <p:spPr>
          <a:xfrm>
            <a:off x="6833592" y="10220325"/>
            <a:ext cx="3905250" cy="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Forno de Têmpera:</a:t>
            </a: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 Garantia da dureza Rockwell necessária.</a:t>
            </a:r>
            <a:endParaRPr/>
          </a:p>
        </p:txBody>
      </p:sp>
      <p:pic>
        <p:nvPicPr>
          <p:cNvPr descr="image.png" id="474" name="Google Shape;474;p3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90550" y="1590675"/>
            <a:ext cx="5938241" cy="86106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75" name="Google Shape;475;p37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852642" y="1590675"/>
            <a:ext cx="1209675" cy="180975"/>
          </a:xfrm>
          <a:prstGeom prst="rect">
            <a:avLst/>
          </a:prstGeom>
          <a:noFill/>
          <a:ln>
            <a:noFill/>
          </a:ln>
        </p:spPr>
      </p:pic>
      <p:sp>
        <p:nvSpPr>
          <p:cNvPr id="476" name="Google Shape;476;p37"/>
          <p:cNvSpPr txBox="1"/>
          <p:nvPr/>
        </p:nvSpPr>
        <p:spPr>
          <a:xfrm>
            <a:off x="809625" y="571500"/>
            <a:ext cx="11351418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3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MAQUINÁRIO PRINCIPAL</a:t>
            </a:r>
            <a:endParaRPr/>
          </a:p>
        </p:txBody>
      </p:sp>
      <p:sp>
        <p:nvSpPr>
          <p:cNvPr id="477" name="Google Shape;477;p37"/>
          <p:cNvSpPr/>
          <p:nvPr/>
        </p:nvSpPr>
        <p:spPr>
          <a:xfrm>
            <a:off x="571500" y="571500"/>
            <a:ext cx="114300" cy="619125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48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482" name="Google Shape;482;p3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83" name="Google Shape;483;p38"/>
          <p:cNvSpPr/>
          <p:nvPr/>
        </p:nvSpPr>
        <p:spPr>
          <a:xfrm>
            <a:off x="571500" y="2333625"/>
            <a:ext cx="11049000" cy="7715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4" name="Google Shape;484;p38"/>
          <p:cNvSpPr/>
          <p:nvPr/>
        </p:nvSpPr>
        <p:spPr>
          <a:xfrm>
            <a:off x="571500" y="3105150"/>
            <a:ext cx="11049000" cy="8286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5" name="Google Shape;485;p38"/>
          <p:cNvSpPr/>
          <p:nvPr/>
        </p:nvSpPr>
        <p:spPr>
          <a:xfrm>
            <a:off x="571500" y="3933825"/>
            <a:ext cx="11049000" cy="7715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6" name="Google Shape;486;p38"/>
          <p:cNvSpPr/>
          <p:nvPr/>
        </p:nvSpPr>
        <p:spPr>
          <a:xfrm>
            <a:off x="571500" y="3095625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7" name="Google Shape;487;p38"/>
          <p:cNvSpPr/>
          <p:nvPr/>
        </p:nvSpPr>
        <p:spPr>
          <a:xfrm>
            <a:off x="571500" y="3095625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8"/>
          <p:cNvSpPr/>
          <p:nvPr/>
        </p:nvSpPr>
        <p:spPr>
          <a:xfrm>
            <a:off x="571500" y="3924300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9" name="Google Shape;489;p38"/>
          <p:cNvSpPr/>
          <p:nvPr/>
        </p:nvSpPr>
        <p:spPr>
          <a:xfrm>
            <a:off x="571500" y="3924300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0" name="Google Shape;490;p38"/>
          <p:cNvSpPr/>
          <p:nvPr/>
        </p:nvSpPr>
        <p:spPr>
          <a:xfrm>
            <a:off x="571500" y="4695825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1" name="Google Shape;491;p38"/>
          <p:cNvSpPr/>
          <p:nvPr/>
        </p:nvSpPr>
        <p:spPr>
          <a:xfrm>
            <a:off x="571500" y="4695825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492" name="Google Shape;492;p3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2476500"/>
            <a:ext cx="1476375" cy="361950"/>
          </a:xfrm>
          <a:prstGeom prst="rect">
            <a:avLst/>
          </a:prstGeom>
          <a:noFill/>
          <a:ln>
            <a:noFill/>
          </a:ln>
        </p:spPr>
      </p:pic>
      <p:sp>
        <p:nvSpPr>
          <p:cNvPr id="493" name="Google Shape;493;p38"/>
          <p:cNvSpPr txBox="1"/>
          <p:nvPr/>
        </p:nvSpPr>
        <p:spPr>
          <a:xfrm>
            <a:off x="1666875" y="2524125"/>
            <a:ext cx="9953625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https://assets.tramontina.com.br/upload/tramon/imagens/CUT/22399036PDM001G.jpg</a:t>
            </a:r>
            <a:endParaRPr/>
          </a:p>
        </p:txBody>
      </p:sp>
      <p:sp>
        <p:nvSpPr>
          <p:cNvPr id="494" name="Google Shape;494;p38"/>
          <p:cNvSpPr txBox="1"/>
          <p:nvPr/>
        </p:nvSpPr>
        <p:spPr>
          <a:xfrm>
            <a:off x="1666875" y="2724150"/>
            <a:ext cx="9953625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Source: </a:t>
            </a:r>
            <a:r>
              <a:rPr b="0" i="0" lang="en-US" sz="1200" u="none" cap="none" strike="noStrike">
                <a:solidFill>
                  <a:srgbClr val="4F46E5"/>
                </a:solidFill>
                <a:latin typeface="Lato"/>
                <a:ea typeface="Lato"/>
                <a:cs typeface="Lato"/>
                <a:sym typeface="Lato"/>
              </a:rPr>
              <a:t>global.tramontina.com</a:t>
            </a:r>
            <a:endParaRPr/>
          </a:p>
        </p:txBody>
      </p:sp>
      <p:pic>
        <p:nvPicPr>
          <p:cNvPr descr="image.png" id="495" name="Google Shape;495;p3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1500" y="3276600"/>
            <a:ext cx="914400" cy="542925"/>
          </a:xfrm>
          <a:prstGeom prst="rect">
            <a:avLst/>
          </a:prstGeom>
          <a:noFill/>
          <a:ln>
            <a:noFill/>
          </a:ln>
        </p:spPr>
      </p:pic>
      <p:sp>
        <p:nvSpPr>
          <p:cNvPr id="496" name="Google Shape;496;p38"/>
          <p:cNvSpPr txBox="1"/>
          <p:nvPr/>
        </p:nvSpPr>
        <p:spPr>
          <a:xfrm>
            <a:off x="1666875" y="3248025"/>
            <a:ext cx="995362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https://netrinoimages.s3.eu-west-2.amazonaws.com/2019/08/11/633139/501874/production_line_layout_workshop_factory_industrial_floor_plan_3d_model_c4d_max_obj_fbx_ma_lwo_3ds_3dm_stl_5138621.webp</a:t>
            </a:r>
            <a:endParaRPr/>
          </a:p>
        </p:txBody>
      </p:sp>
      <p:sp>
        <p:nvSpPr>
          <p:cNvPr id="497" name="Google Shape;497;p38"/>
          <p:cNvSpPr txBox="1"/>
          <p:nvPr/>
        </p:nvSpPr>
        <p:spPr>
          <a:xfrm>
            <a:off x="1666875" y="3600450"/>
            <a:ext cx="9953625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Source: </a:t>
            </a:r>
            <a:r>
              <a:rPr b="0" i="0" lang="en-US" sz="1200" u="none" cap="none" strike="noStrike">
                <a:solidFill>
                  <a:srgbClr val="4F46E5"/>
                </a:solidFill>
                <a:latin typeface="Lato"/>
                <a:ea typeface="Lato"/>
                <a:cs typeface="Lato"/>
                <a:sym typeface="Lato"/>
              </a:rPr>
              <a:t>3dexport.com</a:t>
            </a:r>
            <a:endParaRPr/>
          </a:p>
        </p:txBody>
      </p:sp>
      <p:pic>
        <p:nvPicPr>
          <p:cNvPr descr="image.png" id="498" name="Google Shape;498;p3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71500" y="4076700"/>
            <a:ext cx="1438275" cy="361950"/>
          </a:xfrm>
          <a:prstGeom prst="rect">
            <a:avLst/>
          </a:prstGeom>
          <a:noFill/>
          <a:ln>
            <a:noFill/>
          </a:ln>
        </p:spPr>
      </p:pic>
      <p:sp>
        <p:nvSpPr>
          <p:cNvPr id="499" name="Google Shape;499;p38"/>
          <p:cNvSpPr txBox="1"/>
          <p:nvPr/>
        </p:nvSpPr>
        <p:spPr>
          <a:xfrm>
            <a:off x="1666875" y="4124325"/>
            <a:ext cx="9953625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http://stampingpress4u.com/upload/3190/o/1-6-60t-precision-metal-stamping-press_01.jpg</a:t>
            </a:r>
            <a:endParaRPr/>
          </a:p>
        </p:txBody>
      </p:sp>
      <p:sp>
        <p:nvSpPr>
          <p:cNvPr id="500" name="Google Shape;500;p38"/>
          <p:cNvSpPr txBox="1"/>
          <p:nvPr/>
        </p:nvSpPr>
        <p:spPr>
          <a:xfrm>
            <a:off x="1666875" y="4324350"/>
            <a:ext cx="9953625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Source: </a:t>
            </a:r>
            <a:r>
              <a:rPr b="0" i="0" lang="en-US" sz="1200" u="none" cap="none" strike="noStrike">
                <a:solidFill>
                  <a:srgbClr val="4F46E5"/>
                </a:solidFill>
                <a:latin typeface="Lato"/>
                <a:ea typeface="Lato"/>
                <a:cs typeface="Lato"/>
                <a:sym typeface="Lato"/>
              </a:rPr>
              <a:t>stampingpress4u.com</a:t>
            </a:r>
            <a:endParaRPr/>
          </a:p>
        </p:txBody>
      </p:sp>
      <p:pic>
        <p:nvPicPr>
          <p:cNvPr descr="image.png" id="501" name="Google Shape;501;p38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571500" y="4876800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502" name="Google Shape;502;p38"/>
          <p:cNvSpPr txBox="1"/>
          <p:nvPr/>
        </p:nvSpPr>
        <p:spPr>
          <a:xfrm>
            <a:off x="1666875" y="4848225"/>
            <a:ext cx="995362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https://www.wisoven.com/sites/default/files/styles/product_slideshow/public/2016-11/Wisconsin%20Oven%20Daw%20and%20Temper%20Furnace%20601SM10740_SDB-668-12E%20with%20load%20table.JPG?itok=q_DrRHfK</a:t>
            </a:r>
            <a:endParaRPr/>
          </a:p>
        </p:txBody>
      </p:sp>
      <p:sp>
        <p:nvSpPr>
          <p:cNvPr id="503" name="Google Shape;503;p38"/>
          <p:cNvSpPr txBox="1"/>
          <p:nvPr/>
        </p:nvSpPr>
        <p:spPr>
          <a:xfrm>
            <a:off x="1666875" y="5200650"/>
            <a:ext cx="9953625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Source: </a:t>
            </a:r>
            <a:r>
              <a:rPr b="0" i="0" lang="en-US" sz="1200" u="none" cap="none" strike="noStrike">
                <a:solidFill>
                  <a:srgbClr val="4F46E5"/>
                </a:solidFill>
                <a:latin typeface="Lato"/>
                <a:ea typeface="Lato"/>
                <a:cs typeface="Lato"/>
                <a:sym typeface="Lato"/>
              </a:rPr>
              <a:t>www.wisoven.com</a:t>
            </a:r>
            <a:endParaRPr/>
          </a:p>
        </p:txBody>
      </p:sp>
      <p:sp>
        <p:nvSpPr>
          <p:cNvPr id="504" name="Google Shape;504;p38"/>
          <p:cNvSpPr txBox="1"/>
          <p:nvPr/>
        </p:nvSpPr>
        <p:spPr>
          <a:xfrm>
            <a:off x="809625" y="571500"/>
            <a:ext cx="113514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3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FONTES DE PESQUISA</a:t>
            </a:r>
            <a:endParaRPr/>
          </a:p>
        </p:txBody>
      </p:sp>
      <p:sp>
        <p:nvSpPr>
          <p:cNvPr id="505" name="Google Shape;505;p38"/>
          <p:cNvSpPr/>
          <p:nvPr/>
        </p:nvSpPr>
        <p:spPr>
          <a:xfrm>
            <a:off x="571500" y="571500"/>
            <a:ext cx="114300" cy="619125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1721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477774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Fluxograma do Processo (1/2)</a:t>
            </a:r>
          </a:p>
        </p:txBody>
      </p:sp>
      <p:pic>
        <p:nvPicPr>
          <p:cNvPr id="5" name="Picture 4" descr="fluxo_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4759452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1721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477774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Fluxograma do Processo (2/2)</a:t>
            </a:r>
          </a:p>
        </p:txBody>
      </p:sp>
      <p:pic>
        <p:nvPicPr>
          <p:cNvPr id="5" name="Picture 4" descr="fluxo_b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47594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
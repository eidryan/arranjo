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comments/comment3.xml" ContentType="application/vnd.openxmlformats-officedocument.presentationml.comments+xml"/>
  <Override PartName="/ppt/comments/comment4.xml" ContentType="application/vnd.openxmlformats-officedocument.presentationml.comments+xml"/>
  <Override PartName="/ppt/comments/comment5.xml" ContentType="application/vnd.openxmlformats-officedocument.presentationml.comments+xml"/>
  <Override PartName="/ppt/comments/comment6.xml" ContentType="application/vnd.openxmlformats-officedocument.presentationml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82" r:id="rId42"/>
    <p:sldId id="283" r:id="rId43"/>
    <p:sldId id="267" r:id="rId19"/>
    <p:sldId id="268" r:id="rId20"/>
    <p:sldId id="269" r:id="rId21"/>
    <p:sldId id="270" r:id="rId22"/>
    <p:sldId id="285" r:id="rId45"/>
    <p:sldId id="271" r:id="rId23"/>
    <p:sldId id="284" r:id="rId44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y="6858000" cx="12192000"/>
  <p:notesSz cx="6858000" cy="9144000"/>
  <p:embeddedFontLst>
    <p:embeddedFont>
      <p:font typeface="Lato"/>
      <p:regular r:id="rId34"/>
      <p:bold r:id="rId35"/>
      <p:italic r:id="rId36"/>
      <p:boldItalic r:id="rId37"/>
    </p:embeddedFont>
    <p:embeddedFont>
      <p:font typeface="Poppins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6" name="João Deccax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85B2FC3-EC09-4A34-8C88-7F451D0598A5}">
  <a:tblStyle styleId="{C85B2FC3-EC09-4A34-8C88-7F451D0598A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5BC8699D-3FC4-49ED-B972-4155DA869AD9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commentAuthors" Target="commentAuthors.xml"/><Relationship Id="rId6" Type="http://schemas.openxmlformats.org/officeDocument/2006/relationships/slideMaster" Target="slideMasters/slideMaster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font" Target="fonts/Lato-regular.fntdata"/><Relationship Id="rId35" Type="http://schemas.openxmlformats.org/officeDocument/2006/relationships/font" Target="fonts/Lato-bold.fntdata"/><Relationship Id="rId36" Type="http://schemas.openxmlformats.org/officeDocument/2006/relationships/font" Target="fonts/Lato-italic.fntdata"/><Relationship Id="rId37" Type="http://schemas.openxmlformats.org/officeDocument/2006/relationships/font" Target="fonts/Lato-boldItalic.fntdata"/><Relationship Id="rId38" Type="http://schemas.openxmlformats.org/officeDocument/2006/relationships/font" Target="fonts/Poppins-regular.fntdata"/><Relationship Id="rId39" Type="http://schemas.openxmlformats.org/officeDocument/2006/relationships/font" Target="fonts/Poppins-bold.fntdata"/><Relationship Id="rId40" Type="http://schemas.openxmlformats.org/officeDocument/2006/relationships/font" Target="fonts/Poppins-italic.fntdata"/><Relationship Id="rId41" Type="http://schemas.openxmlformats.org/officeDocument/2006/relationships/font" Target="fonts/Poppins-boldItalic.fntdata"/><Relationship Id="rId42" Type="http://schemas.openxmlformats.org/officeDocument/2006/relationships/slide" Target="slides/slide27.xml"/><Relationship Id="rId43" Type="http://schemas.openxmlformats.org/officeDocument/2006/relationships/slide" Target="slides/slide28.xml"/><Relationship Id="rId44" Type="http://schemas.openxmlformats.org/officeDocument/2006/relationships/slide" Target="slides/slide29.xml"/><Relationship Id="rId45" Type="http://schemas.openxmlformats.org/officeDocument/2006/relationships/slide" Target="slides/slide30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6-03T16:44:10.306">
    <p:pos x="6000" y="0"/>
    <p:text>Ponto 12: Desenho esquemático do arranjo físico com representação das áreas de produção, estoque, transporte e inspeção, localizando (com dimensões aproximadas) os equipamentos e mobiliários previstos para a instalação. Apresentar, no mínimo, as dimensões totais.</p:text>
  </p:cm>
</p:cmLst>
</file>

<file path=ppt/comments/comment2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2" dt="2026-06-03T16:43:52.913">
    <p:pos x="6000" y="0"/>
    <p:text>Pontos 9 e 13: Fluxograma do processo para fabricação industrial, utilizando os ícones representativos dos tipos de processos (operação, transporte, inspeção, armazenagem, espera) e a numeração correspondente a tabela 2. e Mapofluxograma</p:text>
  </p:cm>
</p:cmLst>
</file>

<file path=ppt/comments/comment3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3" dt="2026-06-03T16:43:13.663">
    <p:pos x="0" y="0"/>
    <p:text>Ponto 10: Tabela 3 com tipos de equipamentos selecionados, fornecedores, medidas aproximadas, capacidade informada pelo fabricante.</p:text>
  </p:cm>
</p:cmLst>
</file>

<file path=ppt/comments/comment4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4" dt="2026-06-03T16:45:24.232">
    <p:pos x="6000" y="0"/>
    <p:text>Ponto 11: Seleção de 1 equipamento - Informações sobre o equipamento e cálculo de quantidade necessária para atender à demanda. Apresentar descritivo de cálculo e premissas consideradas sobre turnos de trabalho, horas úteis disponíveis para produção, capacidade nominal do equipamento, confiabilidade, as operações que serão realizadas nele, tempos padrão considerados, eficiência e % de produção boa. OBS.: As mesmas premissas, com exceção da capacidade nominal e das operações. deverão ser consideradas para a definição da quantidade dos demais equipamentos/maquinário da fábrica. No entanto, para os demais equipamentos não deverá ser apresentada a memória de cálculo.</p:text>
  </p:cm>
</p:cmLst>
</file>

<file path=ppt/comments/comment5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5" dt="2026-06-03T16:43:29.222">
    <p:pos x="6000" y="0"/>
    <p:text>Ponto 14: Conclusões, incluindo reflexão sobre o que seria necessário para aprimorar o projeto.</p:text>
  </p:cm>
</p:cmLst>
</file>

<file path=ppt/comments/comment6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6" dt="2026-06-03T16:42:38.604">
    <p:pos x="6000" y="0"/>
    <p:text>Desse slide para baixo foi tudo feito pela IA (acredito eu) e não parece precisar deles nas orientações da Suzana, acho que podemos deletar</p:text>
  </p:cm>
</p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e80715317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g3e807153179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e18e94d5e4_7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g3e18e94d5e4_7_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e80a6f957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g3e80a6f957d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e80a6f957d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g3e80a6f957d_0_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e80a6f957d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g3e80a6f957d_0_2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e80a6f957d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g3e80a6f957d_0_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3e80a6f957d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g3e80a6f957d_0_2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e8e9bc890a_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g3e8e9bc890a_1_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e8c1e322f1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g3e8c1e322f1_0_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7" name="Google Shape;437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7" name="Google Shape;467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0.png"/><Relationship Id="rId7" Type="http://schemas.openxmlformats.org/officeDocument/2006/relationships/image" Target="../media/image9.png"/><Relationship Id="rId8" Type="http://schemas.openxmlformats.org/officeDocument/2006/relationships/image" Target="../media/image15.png"/><Relationship Id="rId9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0.png"/><Relationship Id="rId7" Type="http://schemas.openxmlformats.org/officeDocument/2006/relationships/image" Target="../media/image5.png"/><Relationship Id="rId8" Type="http://schemas.openxmlformats.org/officeDocument/2006/relationships/image" Target="../media/image1.png"/><Relationship Id="rId9" Type="http://schemas.openxmlformats.org/officeDocument/2006/relationships/image" Target="../media/image3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Relationship Id="rId4" Type="http://schemas.openxmlformats.org/officeDocument/2006/relationships/image" Target="../media/image27.png"/><Relationship Id="rId5" Type="http://schemas.openxmlformats.org/officeDocument/2006/relationships/image" Target="../media/image17.png"/><Relationship Id="rId6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0.png"/><Relationship Id="rId7" Type="http://schemas.openxmlformats.org/officeDocument/2006/relationships/image" Target="../media/image26.png"/><Relationship Id="rId8" Type="http://schemas.openxmlformats.org/officeDocument/2006/relationships/image" Target="../media/image19.png"/><Relationship Id="rId9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omments" Target="../comments/commen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omments" Target="../comments/comment2.xml"/><Relationship Id="rId4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comments" Target="../comments/comment3.xml"/><Relationship Id="rId4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omments" Target="../comments/commen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omments" Target="../comments/comment5.xml"/><Relationship Id="rId4" Type="http://schemas.openxmlformats.org/officeDocument/2006/relationships/image" Target="../media/image7.png"/><Relationship Id="rId5" Type="http://schemas.openxmlformats.org/officeDocument/2006/relationships/image" Target="../media/image16.png"/><Relationship Id="rId6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omments" Target="../comments/comment6.xml"/><Relationship Id="rId4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34.png"/><Relationship Id="rId5" Type="http://schemas.openxmlformats.org/officeDocument/2006/relationships/image" Target="../media/image31.png"/><Relationship Id="rId6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Relationship Id="rId4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.png"/><Relationship Id="rId4" Type="http://schemas.openxmlformats.org/officeDocument/2006/relationships/image" Target="../media/image29.png"/><Relationship Id="rId5" Type="http://schemas.openxmlformats.org/officeDocument/2006/relationships/image" Target="../media/image33.png"/><Relationship Id="rId6" Type="http://schemas.openxmlformats.org/officeDocument/2006/relationships/image" Target="../media/image24.png"/><Relationship Id="rId7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7.png"/><Relationship Id="rId4" Type="http://schemas.openxmlformats.org/officeDocument/2006/relationships/image" Target="../media/image30.png"/><Relationship Id="rId5" Type="http://schemas.openxmlformats.org/officeDocument/2006/relationships/image" Target="../media/image35.png"/><Relationship Id="rId6" Type="http://schemas.openxmlformats.org/officeDocument/2006/relationships/image" Target="../media/image23.png"/><Relationship Id="rId7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0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19162" y="1537394"/>
            <a:ext cx="10353675" cy="378321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1528762" y="2146994"/>
            <a:ext cx="91344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C48A1A"/>
                </a:solidFill>
                <a:latin typeface="Lato"/>
                <a:ea typeface="Lato"/>
                <a:cs typeface="Lato"/>
                <a:sym typeface="Lato"/>
              </a:rPr>
              <a:t>ARRANJO FÍSICO INDUSTRIAL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300400" y="2585144"/>
            <a:ext cx="9591198" cy="754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Kit Churrasco Tramontina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1528762" y="3529905"/>
            <a:ext cx="91344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AAAAAA"/>
                </a:solidFill>
                <a:latin typeface="Lato"/>
                <a:ea typeface="Lato"/>
                <a:cs typeface="Lato"/>
                <a:sym typeface="Lato"/>
              </a:rPr>
              <a:t>Engenharia de Produção | Grupo A | 202</a:t>
            </a:r>
            <a:r>
              <a:rPr lang="en-US" sz="1800">
                <a:solidFill>
                  <a:srgbClr val="AAAAAA"/>
                </a:solidFill>
                <a:latin typeface="Lato"/>
                <a:ea typeface="Lato"/>
                <a:cs typeface="Lato"/>
                <a:sym typeface="Lato"/>
              </a:rPr>
              <a:t>6</a:t>
            </a:r>
            <a:endParaRPr/>
          </a:p>
        </p:txBody>
      </p:sp>
      <p:sp>
        <p:nvSpPr>
          <p:cNvPr id="89" name="Google Shape;89;p13"/>
          <p:cNvSpPr/>
          <p:nvPr/>
        </p:nvSpPr>
        <p:spPr>
          <a:xfrm>
            <a:off x="5143500" y="4091880"/>
            <a:ext cx="1905000" cy="38100"/>
          </a:xfrm>
          <a:prstGeom prst="rect">
            <a:avLst/>
          </a:prstGeom>
          <a:solidFill>
            <a:srgbClr val="C48A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1528762" y="4415730"/>
            <a:ext cx="913447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C48A1A"/>
                </a:solidFill>
                <a:latin typeface="Lato"/>
                <a:ea typeface="Lato"/>
                <a:cs typeface="Lato"/>
                <a:sym typeface="Lato"/>
              </a:rPr>
              <a:t>Cód. Tramontina: 22399/036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5" name="Google Shape;95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6" name="Google Shape;96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7" name="Google Shape;97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8" name="Google Shape;98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4"/>
          <p:cNvSpPr txBox="1"/>
          <p:nvPr/>
        </p:nvSpPr>
        <p:spPr>
          <a:xfrm>
            <a:off x="904875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Grupo A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904875" y="4167187"/>
            <a:ext cx="28257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Integrantes responsáveis pelo planejamento 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de  produção do Kit 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Churrasco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da Tramontina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4683174" y="3624262"/>
            <a:ext cx="2967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Integrantes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4683174" y="4167187"/>
            <a:ext cx="28257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Adrian Vilela, André Bapista, Bernardo Gomes, Clara Barboza, João Pedro Deccax, Leonardo Nespoli e Lucas de Mello</a:t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8461474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Orientação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8461474" y="4167187"/>
            <a:ext cx="28257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Professora 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: Suzana Dantas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Disciplina: 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Arranjo Físico Industrial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Semestre: 202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6.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1</a:t>
            </a:r>
            <a:endParaRPr/>
          </a:p>
        </p:txBody>
      </p:sp>
      <p:pic>
        <p:nvPicPr>
          <p:cNvPr descr="image.png" id="105" name="Google Shape;105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04875" y="3014662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6" name="Google Shape;106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83174" y="3014662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7" name="Google Shape;107;p1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61474" y="3014662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4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EQUIPE DO PROJETO</a:t>
            </a:r>
            <a:endParaRPr/>
          </a:p>
        </p:txBody>
      </p:sp>
      <p:sp>
        <p:nvSpPr>
          <p:cNvPr id="109" name="Google Shape;109;p14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4" name="Google Shape;114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6" name="Google Shape;116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7" name="Google Shape;117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5"/>
          <p:cNvSpPr txBox="1"/>
          <p:nvPr/>
        </p:nvSpPr>
        <p:spPr>
          <a:xfrm>
            <a:off x="904875" y="3624262"/>
            <a:ext cx="2967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Objetivo Geral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904875" y="4167187"/>
            <a:ext cx="28257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Estruturar e implementar uma unidade fabril capaz de produzir o Kit Churrasco Tramontina (3 peças) em escala industrial, garantindo a viabilidade técnica e econômica do processo.</a:t>
            </a:r>
            <a:endParaRPr sz="1200">
              <a:solidFill>
                <a:srgbClr val="E8E8E8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20" name="Google Shape;120;p15"/>
          <p:cNvSpPr txBox="1"/>
          <p:nvPr/>
        </p:nvSpPr>
        <p:spPr>
          <a:xfrm>
            <a:off x="4683174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Processos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4683174" y="4167187"/>
            <a:ext cx="28257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Definição detalhada dos fluxos produtivos, tipos de operações (estampagem, tratamento térmico, polimento, montagem) e os recursos físicos (maquinário e mobiliário) indispensáveis.</a:t>
            </a:r>
            <a:endParaRPr sz="1200">
              <a:solidFill>
                <a:srgbClr val="E8E8E8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200">
              <a:solidFill>
                <a:srgbClr val="E8E8E8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22" name="Google Shape;122;p15"/>
          <p:cNvSpPr txBox="1"/>
          <p:nvPr/>
        </p:nvSpPr>
        <p:spPr>
          <a:xfrm>
            <a:off x="8461474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Dimensionamento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8461474" y="4167187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Calcular a carga de máquinas e layout para atender à meta de 1.000 kits semanais.</a:t>
            </a:r>
            <a:endParaRPr/>
          </a:p>
        </p:txBody>
      </p:sp>
      <p:pic>
        <p:nvPicPr>
          <p:cNvPr descr="image.png" id="124" name="Google Shape;124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04875" y="3014662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5" name="Google Shape;125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83174" y="3014662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6" name="Google Shape;126;p1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61474" y="3014662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15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OBJETIVOS </a:t>
            </a: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DO PROJETO</a:t>
            </a:r>
            <a:endParaRPr/>
          </a:p>
        </p:txBody>
      </p:sp>
      <p:sp>
        <p:nvSpPr>
          <p:cNvPr id="128" name="Google Shape;128;p15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3" name="Google Shape;13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6"/>
          <p:cNvSpPr txBox="1"/>
          <p:nvPr/>
        </p:nvSpPr>
        <p:spPr>
          <a:xfrm>
            <a:off x="571500" y="2776537"/>
            <a:ext cx="5550693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Kit Churrasco Dynamic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838200" y="336708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952500" y="336708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Peça 1: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Faca 8" em Aço Inox AISI 420.</a:t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838200" y="367188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952500" y="367188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Peça 2: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Garfo Trinchante Inox Estampado.</a:t>
            </a:r>
            <a:endParaRPr/>
          </a:p>
        </p:txBody>
      </p:sp>
      <p:sp>
        <p:nvSpPr>
          <p:cNvPr id="139" name="Google Shape;139;p16"/>
          <p:cNvSpPr txBox="1"/>
          <p:nvPr/>
        </p:nvSpPr>
        <p:spPr>
          <a:xfrm>
            <a:off x="838200" y="397668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40" name="Google Shape;140;p16"/>
          <p:cNvSpPr txBox="1"/>
          <p:nvPr/>
        </p:nvSpPr>
        <p:spPr>
          <a:xfrm>
            <a:off x="952500" y="397668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Peça 3: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Tábua de Madeira (35x22x1.8cm).</a:t>
            </a:r>
            <a:endParaRPr/>
          </a:p>
        </p:txBody>
      </p:sp>
      <p:sp>
        <p:nvSpPr>
          <p:cNvPr id="141" name="Google Shape;141;p16"/>
          <p:cNvSpPr txBox="1"/>
          <p:nvPr/>
        </p:nvSpPr>
        <p:spPr>
          <a:xfrm>
            <a:off x="838200" y="428148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42" name="Google Shape;142;p16"/>
          <p:cNvSpPr txBox="1"/>
          <p:nvPr/>
        </p:nvSpPr>
        <p:spPr>
          <a:xfrm>
            <a:off x="952500" y="428148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Cabos: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Madeira natural rebitada.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838200" y="458628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952500" y="458628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Diferencial: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Tratamento térmico para durabilidade do fio.</a:t>
            </a:r>
            <a:endParaRPr/>
          </a:p>
        </p:txBody>
      </p:sp>
      <p:sp>
        <p:nvSpPr>
          <p:cNvPr id="145" name="Google Shape;145;p16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DESCRIÇÃO DO PRODUTO</a:t>
            </a:r>
            <a:endParaRPr/>
          </a:p>
        </p:txBody>
      </p:sp>
      <p:sp>
        <p:nvSpPr>
          <p:cNvPr id="146" name="Google Shape;146;p16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7" name="Google Shape;14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70725" y="1399200"/>
            <a:ext cx="4850151" cy="4850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2" name="Google Shape;15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3" name="Google Shape;153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847975"/>
            <a:ext cx="5286375" cy="2162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4" name="Google Shape;154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2847975"/>
            <a:ext cx="5286375" cy="216217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17"/>
          <p:cNvSpPr txBox="1"/>
          <p:nvPr/>
        </p:nvSpPr>
        <p:spPr>
          <a:xfrm>
            <a:off x="904875" y="3181350"/>
            <a:ext cx="4850606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Faca &amp; Garfo</a:t>
            </a:r>
            <a:endParaRPr/>
          </a:p>
        </p:txBody>
      </p:sp>
      <p:sp>
        <p:nvSpPr>
          <p:cNvPr id="156" name="Google Shape;156;p17"/>
          <p:cNvSpPr txBox="1"/>
          <p:nvPr/>
        </p:nvSpPr>
        <p:spPr>
          <a:xfrm>
            <a:off x="904875" y="3724275"/>
            <a:ext cx="4619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Faca: Lâmina 200mm | Cabo 120mm | Total 320mm.</a:t>
            </a:r>
            <a:endParaRPr/>
          </a:p>
        </p:txBody>
      </p:sp>
      <p:sp>
        <p:nvSpPr>
          <p:cNvPr id="157" name="Google Shape;157;p17"/>
          <p:cNvSpPr txBox="1"/>
          <p:nvPr/>
        </p:nvSpPr>
        <p:spPr>
          <a:xfrm>
            <a:off x="904875" y="4019550"/>
            <a:ext cx="461962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Garfo: Comprimento total ≈ 330mm.</a:t>
            </a:r>
            <a:endParaRPr/>
          </a:p>
        </p:txBody>
      </p:sp>
      <p:sp>
        <p:nvSpPr>
          <p:cNvPr id="158" name="Google Shape;158;p17"/>
          <p:cNvSpPr txBox="1"/>
          <p:nvPr/>
        </p:nvSpPr>
        <p:spPr>
          <a:xfrm>
            <a:off x="904875" y="4324350"/>
            <a:ext cx="4619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Material: Aço Inox AISI 420 (Alta Resistência).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6667500" y="3181350"/>
            <a:ext cx="4850606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Tábua de Corte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6667500" y="3724275"/>
            <a:ext cx="4619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Dimensões: 340 x 190 x 15 mm.</a:t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6667500" y="4019550"/>
            <a:ext cx="4619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Material: Madeira Maçaranduba.</a:t>
            </a: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6667500" y="4314825"/>
            <a:ext cx="4619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Fixação: 3 Rebites de aço inox por cabo.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DIMENSÕES TÉCNICAS</a:t>
            </a:r>
            <a:endParaRPr/>
          </a:p>
        </p:txBody>
      </p:sp>
      <p:sp>
        <p:nvSpPr>
          <p:cNvPr id="164" name="Google Shape;164;p17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9" name="Google Shape;16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0" name="Google Shape;170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909887"/>
            <a:ext cx="3492549" cy="2038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1" name="Google Shape;171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2909887"/>
            <a:ext cx="3492549" cy="2038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2" name="Google Shape;172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2909887"/>
            <a:ext cx="3492549" cy="2038350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18"/>
          <p:cNvSpPr txBox="1"/>
          <p:nvPr/>
        </p:nvSpPr>
        <p:spPr>
          <a:xfrm>
            <a:off x="904875" y="3243262"/>
            <a:ext cx="2825799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B03030"/>
                </a:solidFill>
                <a:latin typeface="Lato"/>
                <a:ea typeface="Lato"/>
                <a:cs typeface="Lato"/>
                <a:sym typeface="Lato"/>
              </a:rPr>
              <a:t>NÍVEL 0</a:t>
            </a:r>
            <a:endParaRPr/>
          </a:p>
        </p:txBody>
      </p:sp>
      <p:sp>
        <p:nvSpPr>
          <p:cNvPr id="174" name="Google Shape;174;p18"/>
          <p:cNvSpPr txBox="1"/>
          <p:nvPr/>
        </p:nvSpPr>
        <p:spPr>
          <a:xfrm>
            <a:off x="904875" y="3538537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Kit Acabado</a:t>
            </a:r>
            <a:endParaRPr/>
          </a:p>
        </p:txBody>
      </p:sp>
      <p:sp>
        <p:nvSpPr>
          <p:cNvPr id="175" name="Google Shape;175;p18"/>
          <p:cNvSpPr txBox="1"/>
          <p:nvPr/>
        </p:nvSpPr>
        <p:spPr>
          <a:xfrm>
            <a:off x="904875" y="4081462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Produto final embalado em caixa display kraft com janela.</a:t>
            </a:r>
            <a:endParaRPr/>
          </a:p>
        </p:txBody>
      </p:sp>
      <p:sp>
        <p:nvSpPr>
          <p:cNvPr id="176" name="Google Shape;176;p18"/>
          <p:cNvSpPr txBox="1"/>
          <p:nvPr/>
        </p:nvSpPr>
        <p:spPr>
          <a:xfrm>
            <a:off x="4683174" y="3243262"/>
            <a:ext cx="2825799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B03030"/>
                </a:solidFill>
                <a:latin typeface="Lato"/>
                <a:ea typeface="Lato"/>
                <a:cs typeface="Lato"/>
                <a:sym typeface="Lato"/>
              </a:rPr>
              <a:t>NÍVEL 1</a:t>
            </a:r>
            <a:endParaRPr/>
          </a:p>
        </p:txBody>
      </p:sp>
      <p:sp>
        <p:nvSpPr>
          <p:cNvPr id="177" name="Google Shape;177;p18"/>
          <p:cNvSpPr txBox="1"/>
          <p:nvPr/>
        </p:nvSpPr>
        <p:spPr>
          <a:xfrm>
            <a:off x="4683174" y="3538537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Subconjuntos</a:t>
            </a:r>
            <a:endParaRPr/>
          </a:p>
        </p:txBody>
      </p:sp>
      <p:sp>
        <p:nvSpPr>
          <p:cNvPr id="178" name="Google Shape;178;p18"/>
          <p:cNvSpPr txBox="1"/>
          <p:nvPr/>
        </p:nvSpPr>
        <p:spPr>
          <a:xfrm>
            <a:off x="4683174" y="4081462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Faca montada, Garfo montado, Tábua processada e Embalagem.</a:t>
            </a:r>
            <a:endParaRPr/>
          </a:p>
        </p:txBody>
      </p:sp>
      <p:sp>
        <p:nvSpPr>
          <p:cNvPr id="179" name="Google Shape;179;p18"/>
          <p:cNvSpPr txBox="1"/>
          <p:nvPr/>
        </p:nvSpPr>
        <p:spPr>
          <a:xfrm>
            <a:off x="8461474" y="3243262"/>
            <a:ext cx="2825799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B03030"/>
                </a:solidFill>
                <a:latin typeface="Lato"/>
                <a:ea typeface="Lato"/>
                <a:cs typeface="Lato"/>
                <a:sym typeface="Lato"/>
              </a:rPr>
              <a:t>NÍVEL 2</a:t>
            </a:r>
            <a:endParaRPr/>
          </a:p>
        </p:txBody>
      </p:sp>
      <p:sp>
        <p:nvSpPr>
          <p:cNvPr id="180" name="Google Shape;180;p18"/>
          <p:cNvSpPr txBox="1"/>
          <p:nvPr/>
        </p:nvSpPr>
        <p:spPr>
          <a:xfrm>
            <a:off x="8461474" y="3538537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Insumos</a:t>
            </a:r>
            <a:endParaRPr/>
          </a:p>
        </p:txBody>
      </p:sp>
      <p:sp>
        <p:nvSpPr>
          <p:cNvPr id="181" name="Google Shape;181;p18"/>
          <p:cNvSpPr txBox="1"/>
          <p:nvPr/>
        </p:nvSpPr>
        <p:spPr>
          <a:xfrm>
            <a:off x="8461474" y="4081462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Chapas de Inox, cabos de madeira, rebites e caixa display.</a:t>
            </a:r>
            <a:endParaRPr/>
          </a:p>
        </p:txBody>
      </p:sp>
      <p:sp>
        <p:nvSpPr>
          <p:cNvPr id="182" name="Google Shape;182;p18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ESTRUTURA DO PRODUTO </a:t>
            </a:r>
            <a:endParaRPr/>
          </a:p>
        </p:txBody>
      </p:sp>
      <p:sp>
        <p:nvSpPr>
          <p:cNvPr id="183" name="Google Shape;183;p18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8" name="Google Shape;188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9" name="Google Shape;189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0" name="Google Shape;190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1" name="Google Shape;191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9"/>
          <p:cNvSpPr txBox="1"/>
          <p:nvPr/>
        </p:nvSpPr>
        <p:spPr>
          <a:xfrm>
            <a:off x="904875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Doméstico</a:t>
            </a:r>
            <a:endParaRPr/>
          </a:p>
        </p:txBody>
      </p:sp>
      <p:sp>
        <p:nvSpPr>
          <p:cNvPr id="193" name="Google Shape;193;p19"/>
          <p:cNvSpPr txBox="1"/>
          <p:nvPr/>
        </p:nvSpPr>
        <p:spPr>
          <a:xfrm>
            <a:off x="904875" y="4167187"/>
            <a:ext cx="2825799" cy="542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Consumidores finais (B2C) que buscam qualidade Tramontina para churrascos em família.</a:t>
            </a:r>
            <a:endParaRPr/>
          </a:p>
        </p:txBody>
      </p:sp>
      <p:sp>
        <p:nvSpPr>
          <p:cNvPr id="194" name="Google Shape;194;p19"/>
          <p:cNvSpPr txBox="1"/>
          <p:nvPr/>
        </p:nvSpPr>
        <p:spPr>
          <a:xfrm>
            <a:off x="4683174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Presentes</a:t>
            </a:r>
            <a:endParaRPr/>
          </a:p>
        </p:txBody>
      </p:sp>
      <p:sp>
        <p:nvSpPr>
          <p:cNvPr id="195" name="Google Shape;195;p19"/>
          <p:cNvSpPr txBox="1"/>
          <p:nvPr/>
        </p:nvSpPr>
        <p:spPr>
          <a:xfrm>
            <a:off x="4683174" y="4167187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Mercado sazonal de alto giro (Dia dos Pais, Natal) devido à embalagem atrativa.</a:t>
            </a:r>
            <a:endParaRPr/>
          </a:p>
        </p:txBody>
      </p:sp>
      <p:sp>
        <p:nvSpPr>
          <p:cNvPr id="196" name="Google Shape;196;p19"/>
          <p:cNvSpPr txBox="1"/>
          <p:nvPr/>
        </p:nvSpPr>
        <p:spPr>
          <a:xfrm>
            <a:off x="8461474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Varejo/B2B</a:t>
            </a:r>
            <a:endParaRPr/>
          </a:p>
        </p:txBody>
      </p:sp>
      <p:sp>
        <p:nvSpPr>
          <p:cNvPr id="197" name="Google Shape;197;p19"/>
          <p:cNvSpPr txBox="1"/>
          <p:nvPr/>
        </p:nvSpPr>
        <p:spPr>
          <a:xfrm>
            <a:off x="8461474" y="4167187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Grandes redes de supermercados e lojas de utilidades que adquirem volumes elevados.</a:t>
            </a:r>
            <a:endParaRPr/>
          </a:p>
        </p:txBody>
      </p:sp>
      <p:pic>
        <p:nvPicPr>
          <p:cNvPr descr="image.png" id="198" name="Google Shape;198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04875" y="3014662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9" name="Google Shape;199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83174" y="3014662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0" name="Google Shape;200;p1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61474" y="3014662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19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SEGMENTOS DE MERCADO VISADOS</a:t>
            </a:r>
            <a:endParaRPr/>
          </a:p>
        </p:txBody>
      </p:sp>
      <p:sp>
        <p:nvSpPr>
          <p:cNvPr id="202" name="Google Shape;202;p19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7" name="Google Shape;207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8" name="Google Shape;208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376487"/>
            <a:ext cx="11049000" cy="310515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0"/>
          <p:cNvSpPr txBox="1"/>
          <p:nvPr/>
        </p:nvSpPr>
        <p:spPr>
          <a:xfrm>
            <a:off x="1766875" y="3076575"/>
            <a:ext cx="3980700" cy="16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0">
                <a:solidFill>
                  <a:srgbClr val="B03030"/>
                </a:solidFill>
                <a:latin typeface="Poppins"/>
                <a:ea typeface="Poppins"/>
                <a:cs typeface="Poppins"/>
                <a:sym typeface="Poppins"/>
              </a:rPr>
              <a:t>1.000</a:t>
            </a:r>
            <a:r>
              <a:rPr b="1" i="0" lang="en-US" sz="10500" u="none" cap="none" strike="noStrike">
                <a:solidFill>
                  <a:srgbClr val="B03030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/>
          </a:p>
        </p:txBody>
      </p:sp>
      <p:sp>
        <p:nvSpPr>
          <p:cNvPr id="210" name="Google Shape;210;p20"/>
          <p:cNvSpPr txBox="1"/>
          <p:nvPr/>
        </p:nvSpPr>
        <p:spPr>
          <a:xfrm>
            <a:off x="1766887" y="4505325"/>
            <a:ext cx="38385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48A1A"/>
                </a:solidFill>
                <a:latin typeface="Lato"/>
                <a:ea typeface="Lato"/>
                <a:cs typeface="Lato"/>
                <a:sym typeface="Lato"/>
              </a:rPr>
              <a:t>KITS POR SEMANA</a:t>
            </a:r>
            <a:endParaRPr/>
          </a:p>
        </p:txBody>
      </p:sp>
      <p:sp>
        <p:nvSpPr>
          <p:cNvPr id="211" name="Google Shape;211;p20"/>
          <p:cNvSpPr txBox="1"/>
          <p:nvPr/>
        </p:nvSpPr>
        <p:spPr>
          <a:xfrm>
            <a:off x="6417294" y="2431625"/>
            <a:ext cx="5203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Premissas Operacionais</a:t>
            </a:r>
            <a:endParaRPr/>
          </a:p>
        </p:txBody>
      </p:sp>
      <p:sp>
        <p:nvSpPr>
          <p:cNvPr id="212" name="Google Shape;212;p20"/>
          <p:cNvSpPr txBox="1"/>
          <p:nvPr/>
        </p:nvSpPr>
        <p:spPr>
          <a:xfrm>
            <a:off x="6808023" y="2967025"/>
            <a:ext cx="167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3" name="Google Shape;213;p20"/>
          <p:cNvSpPr txBox="1"/>
          <p:nvPr/>
        </p:nvSpPr>
        <p:spPr>
          <a:xfrm>
            <a:off x="6975532" y="2967025"/>
            <a:ext cx="4397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Capacidade Diária: 200 kits.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lang="en-US" sz="15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endParaRPr/>
          </a:p>
        </p:txBody>
      </p:sp>
      <p:sp>
        <p:nvSpPr>
          <p:cNvPr id="214" name="Google Shape;214;p20"/>
          <p:cNvSpPr txBox="1"/>
          <p:nvPr/>
        </p:nvSpPr>
        <p:spPr>
          <a:xfrm>
            <a:off x="6808023" y="3309925"/>
            <a:ext cx="167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5" name="Google Shape;215;p20"/>
          <p:cNvSpPr txBox="1"/>
          <p:nvPr/>
        </p:nvSpPr>
        <p:spPr>
          <a:xfrm>
            <a:off x="6975532" y="3309925"/>
            <a:ext cx="4397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Turnos: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1 turno de 8 horas.</a:t>
            </a:r>
            <a:endParaRPr/>
          </a:p>
        </p:txBody>
      </p:sp>
      <p:sp>
        <p:nvSpPr>
          <p:cNvPr id="216" name="Google Shape;216;p20"/>
          <p:cNvSpPr txBox="1"/>
          <p:nvPr/>
        </p:nvSpPr>
        <p:spPr>
          <a:xfrm>
            <a:off x="6808023" y="3652825"/>
            <a:ext cx="167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7" name="Google Shape;217;p20"/>
          <p:cNvSpPr txBox="1"/>
          <p:nvPr/>
        </p:nvSpPr>
        <p:spPr>
          <a:xfrm>
            <a:off x="6975532" y="3652825"/>
            <a:ext cx="4397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Eficiência: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η = 85% | Rejeito = 3%.</a:t>
            </a:r>
            <a:endParaRPr/>
          </a:p>
        </p:txBody>
      </p:sp>
      <p:sp>
        <p:nvSpPr>
          <p:cNvPr id="218" name="Google Shape;218;p20"/>
          <p:cNvSpPr txBox="1"/>
          <p:nvPr/>
        </p:nvSpPr>
        <p:spPr>
          <a:xfrm>
            <a:off x="6808023" y="3995725"/>
            <a:ext cx="167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9" name="Google Shape;219;p20"/>
          <p:cNvSpPr txBox="1"/>
          <p:nvPr/>
        </p:nvSpPr>
        <p:spPr>
          <a:xfrm>
            <a:off x="6975532" y="3995725"/>
            <a:ext cx="4397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Estoque: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2 semanas de segurança.</a:t>
            </a:r>
            <a:endParaRPr/>
          </a:p>
        </p:txBody>
      </p:sp>
      <p:sp>
        <p:nvSpPr>
          <p:cNvPr id="220" name="Google Shape;220;p20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META DE PRODUÇÃO</a:t>
            </a:r>
            <a:endParaRPr/>
          </a:p>
        </p:txBody>
      </p:sp>
      <p:sp>
        <p:nvSpPr>
          <p:cNvPr id="221" name="Google Shape;221;p20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0"/>
          <p:cNvSpPr txBox="1"/>
          <p:nvPr/>
        </p:nvSpPr>
        <p:spPr>
          <a:xfrm>
            <a:off x="6417294" y="4338625"/>
            <a:ext cx="5203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Justifcativa </a:t>
            </a:r>
            <a:endParaRPr/>
          </a:p>
        </p:txBody>
      </p:sp>
      <p:sp>
        <p:nvSpPr>
          <p:cNvPr id="223" name="Google Shape;223;p20"/>
          <p:cNvSpPr txBox="1"/>
          <p:nvPr/>
        </p:nvSpPr>
        <p:spPr>
          <a:xfrm>
            <a:off x="6417300" y="4773625"/>
            <a:ext cx="50079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lt1"/>
                </a:solidFill>
              </a:rPr>
              <a:t>O número escolhido foi de 1.000 kits por semana pois foi levado em conta a quantidade de horas no turno de trabalho, a </a:t>
            </a:r>
            <a:r>
              <a:rPr lang="en-US" sz="1200">
                <a:solidFill>
                  <a:schemeClr val="lt1"/>
                </a:solidFill>
              </a:rPr>
              <a:t>eficiência</a:t>
            </a:r>
            <a:r>
              <a:rPr lang="en-US" sz="1200">
                <a:solidFill>
                  <a:schemeClr val="lt1"/>
                </a:solidFill>
              </a:rPr>
              <a:t> e número de rejeito e a capacidade diária de produção dos kits.</a:t>
            </a:r>
            <a:endParaRPr sz="10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8" name="Google Shape;228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29" name="Google Shape;229;p21"/>
          <p:cNvGraphicFramePr/>
          <p:nvPr/>
        </p:nvGraphicFramePr>
        <p:xfrm>
          <a:off x="571500" y="244461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1711075"/>
                <a:gridCol w="4732150"/>
                <a:gridCol w="1288550"/>
                <a:gridCol w="3317225"/>
              </a:tblGrid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Descrição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Qtd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 / 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Lâmina Faca Inox AISI 420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Lâmina Garfo Inox 420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Cabo Madeira (pré-cortado)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Tábua Madeira Acabada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Rebites Inox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6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06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Embalagem Kraft Display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</a:tbl>
          </a:graphicData>
        </a:graphic>
      </p:graphicFrame>
      <p:sp>
        <p:nvSpPr>
          <p:cNvPr id="230" name="Google Shape;230;p21"/>
          <p:cNvSpPr/>
          <p:nvPr/>
        </p:nvSpPr>
        <p:spPr>
          <a:xfrm>
            <a:off x="571500" y="33242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1"/>
          <p:cNvSpPr/>
          <p:nvPr/>
        </p:nvSpPr>
        <p:spPr>
          <a:xfrm>
            <a:off x="2282576" y="33242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1"/>
          <p:cNvSpPr/>
          <p:nvPr/>
        </p:nvSpPr>
        <p:spPr>
          <a:xfrm>
            <a:off x="7014716" y="33242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1"/>
          <p:cNvSpPr/>
          <p:nvPr/>
        </p:nvSpPr>
        <p:spPr>
          <a:xfrm>
            <a:off x="8303269" y="33242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1"/>
          <p:cNvSpPr/>
          <p:nvPr/>
        </p:nvSpPr>
        <p:spPr>
          <a:xfrm>
            <a:off x="571500" y="37433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1"/>
          <p:cNvSpPr/>
          <p:nvPr/>
        </p:nvSpPr>
        <p:spPr>
          <a:xfrm>
            <a:off x="2282576" y="37433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1"/>
          <p:cNvSpPr/>
          <p:nvPr/>
        </p:nvSpPr>
        <p:spPr>
          <a:xfrm>
            <a:off x="7014716" y="37433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1"/>
          <p:cNvSpPr/>
          <p:nvPr/>
        </p:nvSpPr>
        <p:spPr>
          <a:xfrm>
            <a:off x="8303269" y="37433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1"/>
          <p:cNvSpPr/>
          <p:nvPr/>
        </p:nvSpPr>
        <p:spPr>
          <a:xfrm>
            <a:off x="571500" y="41624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1"/>
          <p:cNvSpPr/>
          <p:nvPr/>
        </p:nvSpPr>
        <p:spPr>
          <a:xfrm>
            <a:off x="2282576" y="41624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1"/>
          <p:cNvSpPr/>
          <p:nvPr/>
        </p:nvSpPr>
        <p:spPr>
          <a:xfrm>
            <a:off x="7014716" y="41624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1"/>
          <p:cNvSpPr/>
          <p:nvPr/>
        </p:nvSpPr>
        <p:spPr>
          <a:xfrm>
            <a:off x="8303269" y="41624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1"/>
          <p:cNvSpPr/>
          <p:nvPr/>
        </p:nvSpPr>
        <p:spPr>
          <a:xfrm>
            <a:off x="571500" y="45815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1"/>
          <p:cNvSpPr/>
          <p:nvPr/>
        </p:nvSpPr>
        <p:spPr>
          <a:xfrm>
            <a:off x="2282576" y="45815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1"/>
          <p:cNvSpPr/>
          <p:nvPr/>
        </p:nvSpPr>
        <p:spPr>
          <a:xfrm>
            <a:off x="7014716" y="45815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1"/>
          <p:cNvSpPr/>
          <p:nvPr/>
        </p:nvSpPr>
        <p:spPr>
          <a:xfrm>
            <a:off x="8303269" y="45815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1"/>
          <p:cNvSpPr/>
          <p:nvPr/>
        </p:nvSpPr>
        <p:spPr>
          <a:xfrm>
            <a:off x="571500" y="50006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1"/>
          <p:cNvSpPr/>
          <p:nvPr/>
        </p:nvSpPr>
        <p:spPr>
          <a:xfrm>
            <a:off x="2282576" y="50006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1"/>
          <p:cNvSpPr/>
          <p:nvPr/>
        </p:nvSpPr>
        <p:spPr>
          <a:xfrm>
            <a:off x="7014716" y="50006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1"/>
          <p:cNvSpPr/>
          <p:nvPr/>
        </p:nvSpPr>
        <p:spPr>
          <a:xfrm>
            <a:off x="8303269" y="50006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1"/>
          <p:cNvSpPr/>
          <p:nvPr/>
        </p:nvSpPr>
        <p:spPr>
          <a:xfrm>
            <a:off x="571500" y="54197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1"/>
          <p:cNvSpPr/>
          <p:nvPr/>
        </p:nvSpPr>
        <p:spPr>
          <a:xfrm>
            <a:off x="2282576" y="54197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1"/>
          <p:cNvSpPr/>
          <p:nvPr/>
        </p:nvSpPr>
        <p:spPr>
          <a:xfrm>
            <a:off x="7014716" y="54197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1"/>
          <p:cNvSpPr/>
          <p:nvPr/>
        </p:nvSpPr>
        <p:spPr>
          <a:xfrm>
            <a:off x="8303269" y="54197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1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TABELA 1: COMPONENTES</a:t>
            </a:r>
            <a:endParaRPr/>
          </a:p>
        </p:txBody>
      </p:sp>
      <p:sp>
        <p:nvSpPr>
          <p:cNvPr id="255" name="Google Shape;255;p21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0" name="Google Shape;260;p22"/>
          <p:cNvPicPr preferRelativeResize="0"/>
          <p:nvPr/>
        </p:nvPicPr>
        <p:blipFill rotWithShape="1">
          <a:blip r:embed="rId3">
            <a:alphaModFix/>
          </a:blip>
          <a:srcRect b="33500" l="-3440" r="3440" t="-3350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22"/>
          <p:cNvSpPr/>
          <p:nvPr/>
        </p:nvSpPr>
        <p:spPr>
          <a:xfrm>
            <a:off x="571500" y="33242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22"/>
          <p:cNvSpPr/>
          <p:nvPr/>
        </p:nvSpPr>
        <p:spPr>
          <a:xfrm>
            <a:off x="2282576" y="33242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2"/>
          <p:cNvSpPr/>
          <p:nvPr/>
        </p:nvSpPr>
        <p:spPr>
          <a:xfrm>
            <a:off x="7014716" y="33242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2"/>
          <p:cNvSpPr/>
          <p:nvPr/>
        </p:nvSpPr>
        <p:spPr>
          <a:xfrm>
            <a:off x="8303269" y="33242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2"/>
          <p:cNvSpPr/>
          <p:nvPr/>
        </p:nvSpPr>
        <p:spPr>
          <a:xfrm>
            <a:off x="571500" y="37433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2"/>
          <p:cNvSpPr/>
          <p:nvPr/>
        </p:nvSpPr>
        <p:spPr>
          <a:xfrm>
            <a:off x="2282576" y="37433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2"/>
          <p:cNvSpPr/>
          <p:nvPr/>
        </p:nvSpPr>
        <p:spPr>
          <a:xfrm>
            <a:off x="7014716" y="37433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2"/>
          <p:cNvSpPr/>
          <p:nvPr/>
        </p:nvSpPr>
        <p:spPr>
          <a:xfrm>
            <a:off x="8303269" y="37433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2"/>
          <p:cNvSpPr/>
          <p:nvPr/>
        </p:nvSpPr>
        <p:spPr>
          <a:xfrm>
            <a:off x="571500" y="41624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2"/>
          <p:cNvSpPr/>
          <p:nvPr/>
        </p:nvSpPr>
        <p:spPr>
          <a:xfrm>
            <a:off x="2282576" y="41624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2"/>
          <p:cNvSpPr/>
          <p:nvPr/>
        </p:nvSpPr>
        <p:spPr>
          <a:xfrm>
            <a:off x="7014716" y="41624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2"/>
          <p:cNvSpPr/>
          <p:nvPr/>
        </p:nvSpPr>
        <p:spPr>
          <a:xfrm>
            <a:off x="8303269" y="41624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2"/>
          <p:cNvSpPr/>
          <p:nvPr/>
        </p:nvSpPr>
        <p:spPr>
          <a:xfrm>
            <a:off x="571500" y="45815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2"/>
          <p:cNvSpPr/>
          <p:nvPr/>
        </p:nvSpPr>
        <p:spPr>
          <a:xfrm>
            <a:off x="2282576" y="45815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2"/>
          <p:cNvSpPr/>
          <p:nvPr/>
        </p:nvSpPr>
        <p:spPr>
          <a:xfrm>
            <a:off x="7014716" y="45815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2"/>
          <p:cNvSpPr/>
          <p:nvPr/>
        </p:nvSpPr>
        <p:spPr>
          <a:xfrm>
            <a:off x="8303269" y="45815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2"/>
          <p:cNvSpPr/>
          <p:nvPr/>
        </p:nvSpPr>
        <p:spPr>
          <a:xfrm>
            <a:off x="571500" y="50006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2"/>
          <p:cNvSpPr/>
          <p:nvPr/>
        </p:nvSpPr>
        <p:spPr>
          <a:xfrm>
            <a:off x="2282576" y="50006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2"/>
          <p:cNvSpPr/>
          <p:nvPr/>
        </p:nvSpPr>
        <p:spPr>
          <a:xfrm>
            <a:off x="7014716" y="50006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2"/>
          <p:cNvSpPr/>
          <p:nvPr/>
        </p:nvSpPr>
        <p:spPr>
          <a:xfrm>
            <a:off x="8303269" y="50006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2"/>
          <p:cNvSpPr/>
          <p:nvPr/>
        </p:nvSpPr>
        <p:spPr>
          <a:xfrm>
            <a:off x="571500" y="54197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2"/>
          <p:cNvSpPr/>
          <p:nvPr/>
        </p:nvSpPr>
        <p:spPr>
          <a:xfrm>
            <a:off x="2282576" y="54197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2"/>
          <p:cNvSpPr/>
          <p:nvPr/>
        </p:nvSpPr>
        <p:spPr>
          <a:xfrm>
            <a:off x="7014716" y="54197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2"/>
          <p:cNvSpPr/>
          <p:nvPr/>
        </p:nvSpPr>
        <p:spPr>
          <a:xfrm>
            <a:off x="8303269" y="54197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2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TABELA 1: </a:t>
            </a: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JUSTIFICATIVAS</a:t>
            </a:r>
            <a:endParaRPr/>
          </a:p>
        </p:txBody>
      </p:sp>
      <p:sp>
        <p:nvSpPr>
          <p:cNvPr id="286" name="Google Shape;286;p22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87" name="Google Shape;287;p22"/>
          <p:cNvGraphicFramePr/>
          <p:nvPr/>
        </p:nvGraphicFramePr>
        <p:xfrm>
          <a:off x="571500" y="244461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1315975"/>
                <a:gridCol w="3639475"/>
                <a:gridCol w="991025"/>
                <a:gridCol w="2551275"/>
                <a:gridCol w="2551275"/>
              </a:tblGrid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Descrição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Qtd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 / 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Justificativa</a:t>
                      </a:r>
                      <a:endParaRPr b="1" i="0" sz="1350" u="none" cap="none" strike="noStrike">
                        <a:solidFill>
                          <a:srgbClr val="FFFFFF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Lâmina Faca Inox AISI 420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Máquinas que proporcionam a qualidade no acabamento e na firmeza do corte da lâmina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Lâmina Garfo Inox 420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Máquinas que proporcionam a qualidade no acabamento e na firmeza da lâmina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Cabo Madeira (pré-cortado)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Compensa mais comprar por conta do baixo custo e a prioridade da empresa é focar nas lâminas </a:t>
                      </a:r>
                      <a:endParaRPr b="0" i="0" sz="1200" u="none" cap="none" strike="noStrike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Tábua Madeira Acabada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Compensa mais comprar por conta do baixo custo e a prioridade da empresa é focar nas lâminas 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Rebites Inox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6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Compensa mais comprar por conta do baixo custo e a prioridade da empresa é focar nas lâminas 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06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Embalagem Kraft Display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Compensa mais comprar por conta do baixo custo e a prioridade da empresa é focar nas lâminas 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92" name="Google Shape;292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23"/>
          <p:cNvSpPr/>
          <p:nvPr/>
        </p:nvSpPr>
        <p:spPr>
          <a:xfrm>
            <a:off x="571500" y="33242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23"/>
          <p:cNvSpPr/>
          <p:nvPr/>
        </p:nvSpPr>
        <p:spPr>
          <a:xfrm>
            <a:off x="2282576" y="33242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3"/>
          <p:cNvSpPr/>
          <p:nvPr/>
        </p:nvSpPr>
        <p:spPr>
          <a:xfrm>
            <a:off x="7014716" y="33242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23"/>
          <p:cNvSpPr/>
          <p:nvPr/>
        </p:nvSpPr>
        <p:spPr>
          <a:xfrm>
            <a:off x="8303269" y="33242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3"/>
          <p:cNvSpPr/>
          <p:nvPr/>
        </p:nvSpPr>
        <p:spPr>
          <a:xfrm>
            <a:off x="571500" y="37433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23"/>
          <p:cNvSpPr/>
          <p:nvPr/>
        </p:nvSpPr>
        <p:spPr>
          <a:xfrm>
            <a:off x="2282576" y="37433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3"/>
          <p:cNvSpPr/>
          <p:nvPr/>
        </p:nvSpPr>
        <p:spPr>
          <a:xfrm>
            <a:off x="7014716" y="37433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23"/>
          <p:cNvSpPr/>
          <p:nvPr/>
        </p:nvSpPr>
        <p:spPr>
          <a:xfrm>
            <a:off x="8303269" y="37433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23"/>
          <p:cNvSpPr/>
          <p:nvPr/>
        </p:nvSpPr>
        <p:spPr>
          <a:xfrm>
            <a:off x="571500" y="41624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23"/>
          <p:cNvSpPr/>
          <p:nvPr/>
        </p:nvSpPr>
        <p:spPr>
          <a:xfrm>
            <a:off x="2282576" y="41624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23"/>
          <p:cNvSpPr/>
          <p:nvPr/>
        </p:nvSpPr>
        <p:spPr>
          <a:xfrm>
            <a:off x="7014716" y="41624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3"/>
          <p:cNvSpPr/>
          <p:nvPr/>
        </p:nvSpPr>
        <p:spPr>
          <a:xfrm>
            <a:off x="8303269" y="41624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3"/>
          <p:cNvSpPr/>
          <p:nvPr/>
        </p:nvSpPr>
        <p:spPr>
          <a:xfrm>
            <a:off x="571500" y="45815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23"/>
          <p:cNvSpPr/>
          <p:nvPr/>
        </p:nvSpPr>
        <p:spPr>
          <a:xfrm>
            <a:off x="2282576" y="45815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23"/>
          <p:cNvSpPr/>
          <p:nvPr/>
        </p:nvSpPr>
        <p:spPr>
          <a:xfrm>
            <a:off x="7014716" y="45815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23"/>
          <p:cNvSpPr/>
          <p:nvPr/>
        </p:nvSpPr>
        <p:spPr>
          <a:xfrm>
            <a:off x="8303269" y="45815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23"/>
          <p:cNvSpPr/>
          <p:nvPr/>
        </p:nvSpPr>
        <p:spPr>
          <a:xfrm>
            <a:off x="571500" y="50006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3"/>
          <p:cNvSpPr/>
          <p:nvPr/>
        </p:nvSpPr>
        <p:spPr>
          <a:xfrm>
            <a:off x="2282576" y="50006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23"/>
          <p:cNvSpPr/>
          <p:nvPr/>
        </p:nvSpPr>
        <p:spPr>
          <a:xfrm>
            <a:off x="7014716" y="50006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23"/>
          <p:cNvSpPr/>
          <p:nvPr/>
        </p:nvSpPr>
        <p:spPr>
          <a:xfrm>
            <a:off x="8303269" y="50006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23"/>
          <p:cNvSpPr/>
          <p:nvPr/>
        </p:nvSpPr>
        <p:spPr>
          <a:xfrm>
            <a:off x="571500" y="54197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3"/>
          <p:cNvSpPr/>
          <p:nvPr/>
        </p:nvSpPr>
        <p:spPr>
          <a:xfrm>
            <a:off x="2282576" y="54197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23"/>
          <p:cNvSpPr/>
          <p:nvPr/>
        </p:nvSpPr>
        <p:spPr>
          <a:xfrm>
            <a:off x="7014716" y="54197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23"/>
          <p:cNvSpPr/>
          <p:nvPr/>
        </p:nvSpPr>
        <p:spPr>
          <a:xfrm>
            <a:off x="8303269" y="54197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23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PAIS E FILHOS</a:t>
            </a:r>
            <a:endParaRPr/>
          </a:p>
        </p:txBody>
      </p:sp>
      <p:sp>
        <p:nvSpPr>
          <p:cNvPr id="318" name="Google Shape;318;p23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9" name="Google Shape;319;p23" title="Flowchar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4725" y="1938199"/>
            <a:ext cx="11500227" cy="3481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24" name="Google Shape;324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25" name="Google Shape;325;p24"/>
          <p:cNvGraphicFramePr/>
          <p:nvPr/>
        </p:nvGraphicFramePr>
        <p:xfrm>
          <a:off x="571500" y="15954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898625"/>
                <a:gridCol w="4229250"/>
                <a:gridCol w="2273200"/>
                <a:gridCol w="3647925"/>
              </a:tblGrid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Nº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Processo / Descrição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Tipo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Recurso Físico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 de Matéria Prima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Balança, mesa de inspeção e micrômetro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 de Matéria Prima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Empilhadeira, caixas e pallet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Aço Inox para o corte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Esteiras e aço inox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Corte do aço inox para blanks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Máquina de corte e aço inox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 dos blanks 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Mesa de inspeção, micrômetro e blancks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06</a:t>
                      </a:r>
                      <a:endParaRPr b="0" i="0" sz="1200" u="none" cap="none" strike="noStrike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Tratamento térmico dos blanks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Forno industrial e blanks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07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Espera de 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resfriamento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dos blanks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Espera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Chiller industrial e blanks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08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Redobrar, lixar, e polir garfo e faca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Politriz industrial, retificadeira e blanks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09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Afiar facas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Afiodores e facas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10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 de garfos e facas semi acabadas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Caixas, empilhadeiras, garfos e facas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</a:tbl>
          </a:graphicData>
        </a:graphic>
      </p:graphicFrame>
      <p:sp>
        <p:nvSpPr>
          <p:cNvPr id="326" name="Google Shape;326;p24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PROCESSOS INDUSTRIAIS (P1)</a:t>
            </a:r>
            <a:endParaRPr/>
          </a:p>
        </p:txBody>
      </p:sp>
      <p:sp>
        <p:nvSpPr>
          <p:cNvPr id="327" name="Google Shape;327;p24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32" name="Google Shape;332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33" name="Google Shape;333;p25"/>
          <p:cNvGraphicFramePr/>
          <p:nvPr/>
        </p:nvGraphicFramePr>
        <p:xfrm>
          <a:off x="571500" y="15954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898625"/>
                <a:gridCol w="4229250"/>
                <a:gridCol w="2273200"/>
                <a:gridCol w="3647925"/>
              </a:tblGrid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Nº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Processo / Descrição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Tipo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Recurso Físico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de madeira para corte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Esteiras e madeira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Corte da tábua e blanks dos cabos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Serra industrial e madeira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Fresar tábua e furar cabos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Fresa, furadeira, cabos e tábua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Lixar cabos e tábua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Lixadeira, cabos e tábua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Acabamento superficial dos cabos e tábua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Plaina, cabos e tábua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6</a:t>
                      </a:r>
                      <a:endParaRPr b="0" i="0" sz="1200" u="none" cap="none" strike="noStrike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Aguardar cura e secagem do acabamento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Espera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Mesa, cabos e tábua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7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 de peças de madeira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Mesa de inspeção, micrômetro, cabos e tábua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8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de peças de madeira para montagem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Esteiras, cabos e tábua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9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de garfos e facas semi acabados para montagem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Esteiras, garfos e facas 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semi acabados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20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dos parafusos para montagem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Esteiras e parafusos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</a:tbl>
          </a:graphicData>
        </a:graphic>
      </p:graphicFrame>
      <p:sp>
        <p:nvSpPr>
          <p:cNvPr id="334" name="Google Shape;334;p25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PROCESSOS INDUSTRIAIS (P</a:t>
            </a: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)</a:t>
            </a:r>
            <a:endParaRPr/>
          </a:p>
        </p:txBody>
      </p:sp>
      <p:sp>
        <p:nvSpPr>
          <p:cNvPr id="335" name="Google Shape;335;p25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40" name="Google Shape;340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41" name="Google Shape;341;p26"/>
          <p:cNvGraphicFramePr/>
          <p:nvPr/>
        </p:nvGraphicFramePr>
        <p:xfrm>
          <a:off x="571500" y="15954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898625"/>
                <a:gridCol w="4229250"/>
                <a:gridCol w="2273200"/>
                <a:gridCol w="3647925"/>
              </a:tblGrid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Nº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Processo / Descrição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Tipo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Recurso Físico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Montagem de facas e garfos acabados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Parafusadeira, parafusos, cabos de madeira, garfos e facas semi acabados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 das facas e garfos acabados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Mesa de inspeção, garfos e facas acabados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da cartela para a mesa de montagem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 e cartela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Montagem do kit na mesa de montagem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Tábua, garfo, faca e cartela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do kit finalizado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 e kit finalizado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6</a:t>
                      </a:r>
                      <a:endParaRPr b="0" i="0" sz="1200" u="none" cap="none" strike="noStrike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 de kit finalizado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Kit finalizado, caixas, pallet e empilhadeira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</a:tbl>
          </a:graphicData>
        </a:graphic>
      </p:graphicFrame>
      <p:sp>
        <p:nvSpPr>
          <p:cNvPr id="342" name="Google Shape;342;p26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PROCESSOS INDUSTRIAIS (P</a:t>
            </a: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3</a:t>
            </a: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)</a:t>
            </a:r>
            <a:endParaRPr/>
          </a:p>
        </p:txBody>
      </p:sp>
      <p:sp>
        <p:nvSpPr>
          <p:cNvPr id="343" name="Google Shape;343;p26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27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DESENHO ESQUEMÁTICO DO ARRANJO FÍSICO</a:t>
            </a:r>
            <a:endParaRPr/>
          </a:p>
        </p:txBody>
      </p:sp>
      <p:sp>
        <p:nvSpPr>
          <p:cNvPr id="349" name="Google Shape;349;p27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28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MAPO</a:t>
            </a: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FLUXOGRAMA D</a:t>
            </a: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PRODUÇÃO</a:t>
            </a:r>
            <a:endParaRPr/>
          </a:p>
        </p:txBody>
      </p:sp>
      <p:sp>
        <p:nvSpPr>
          <p:cNvPr id="355" name="Google Shape;355;p28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6" name="Google Shape;356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65475" y="1155425"/>
            <a:ext cx="7439689" cy="54737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61" name="Google Shape;361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p29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TABELA EQUIPAMENTOS</a:t>
            </a:r>
            <a:endParaRPr/>
          </a:p>
        </p:txBody>
      </p:sp>
      <p:sp>
        <p:nvSpPr>
          <p:cNvPr id="363" name="Google Shape;363;p29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64" name="Google Shape;364;p29"/>
          <p:cNvGraphicFramePr/>
          <p:nvPr/>
        </p:nvGraphicFramePr>
        <p:xfrm>
          <a:off x="685825" y="14455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{5BC8699D-3FC4-49ED-B972-4155DA869AD9}</a:tableStyleId>
              </a:tblPr>
              <a:tblGrid>
                <a:gridCol w="1869250"/>
                <a:gridCol w="2542625"/>
                <a:gridCol w="2101425"/>
                <a:gridCol w="2426525"/>
                <a:gridCol w="1857600"/>
              </a:tblGrid>
              <a:tr h="8417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Equipamento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Fornecedor(es)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Medidas Aprox.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Capacidade (Fabricante)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Qtd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Prensa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Excêntrica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Madetech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(Guarulhos-SP)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RHTC / ProfiPress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1.850 × 1.200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× 2.400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~5.500 kg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1.500 W | 20.000 mm/min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Curso: 80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Mesa: 600×400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8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Forno de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Têmpera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Jung Industrial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(Joinville-SC)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Eletro Fornos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1.400 × 900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× 1.300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Câmara: 600 L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Até 1.200 °C | PID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Carga: 500 kg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Potência: 30 kW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8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Lixadeira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 Cinta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Lippel (SC)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Ferromax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Formfer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800 × 600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× 1.200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~180 kg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Motor 2,2 kW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Cinta: 100×1.200mm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1.400 m/min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b="1" sz="18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Rebitadeira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Pneumática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Pram Ferramentas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Metalurgica Basso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350 × 250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× 500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~25 kg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Força: 1 tf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Ar: 6–8 bar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600 ciclos/hora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b="1" sz="18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Afiadora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Automática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Lippel (SC)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Mecanofar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MPA Máquinas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1.100 × 700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× 1.200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~120 kg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Motor 0,75 kW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≤ 610 mm/faca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~400 facas/hora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8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30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SELEÇÃO DE 1 EQUIPAMENTO</a:t>
            </a:r>
            <a:endParaRPr/>
          </a:p>
        </p:txBody>
      </p:sp>
      <p:sp>
        <p:nvSpPr>
          <p:cNvPr id="370" name="Google Shape;370;p30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71" name="Google Shape;371;p30"/>
          <p:cNvGraphicFramePr/>
          <p:nvPr/>
        </p:nvGraphicFramePr>
        <p:xfrm>
          <a:off x="1340000" y="14420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{5BC8699D-3FC4-49ED-B972-4155DA869AD9}</a:tableStyleId>
              </a:tblPr>
              <a:tblGrid>
                <a:gridCol w="2054450"/>
                <a:gridCol w="2357425"/>
              </a:tblGrid>
              <a:tr h="8417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Item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Valor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Equipamento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Laser Fibra CNC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Fornecedor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Madetech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(Guarulhos-SP)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RHTC / ProfiPress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/>
                        <a:t/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Capacidade Nominal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20.000 mm/min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Curso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600 x 400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372" name="Google Shape;372;p30"/>
          <p:cNvGraphicFramePr/>
          <p:nvPr/>
        </p:nvGraphicFramePr>
        <p:xfrm>
          <a:off x="6799025" y="14420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{5BC8699D-3FC4-49ED-B972-4155DA869AD9}</a:tableStyleId>
              </a:tblPr>
              <a:tblGrid>
                <a:gridCol w="2068875"/>
                <a:gridCol w="2343000"/>
              </a:tblGrid>
              <a:tr h="65375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Parâmetro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Valor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653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Turnos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turno/dia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3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Jornada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8h/dia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3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Dias úteis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 dias/semana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3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Disponibilidade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90%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3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Eficiência 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85% 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14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Rejeição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3%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23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Setup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 min/semana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77" name="Google Shape;377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11125" y="-7937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31"/>
          <p:cNvSpPr txBox="1"/>
          <p:nvPr/>
        </p:nvSpPr>
        <p:spPr>
          <a:xfrm>
            <a:off x="685800" y="62715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PARQUE DE MÁQUINAS - QUANTIDADES FINAIS</a:t>
            </a:r>
            <a:endParaRPr/>
          </a:p>
        </p:txBody>
      </p:sp>
      <p:sp>
        <p:nvSpPr>
          <p:cNvPr id="379" name="Google Shape;379;p31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80" name="Google Shape;380;p31"/>
          <p:cNvGraphicFramePr/>
          <p:nvPr/>
        </p:nvGraphicFramePr>
        <p:xfrm>
          <a:off x="586163" y="15547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{5BC8699D-3FC4-49ED-B972-4155DA869AD9}</a:tableStyleId>
              </a:tblPr>
              <a:tblGrid>
                <a:gridCol w="1869250"/>
                <a:gridCol w="2542625"/>
                <a:gridCol w="2101425"/>
                <a:gridCol w="2426525"/>
                <a:gridCol w="1857600"/>
              </a:tblGrid>
              <a:tr h="8417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Equipamento / Maquinário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 anchor="ctr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Operações Realizadas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 anchor="ctr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Capacidade Nominal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 anchor="ctr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Qtd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 anchor="ctr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Observação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 anchor="ctr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3972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Laser Fibra CNC 1.500 W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Estampagem de blanks (faca e garfo)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20.000 mm/min | Curso 80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Calc. detalhado — Ponto 11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448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Forno de Têmpera Câmara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Têmpera de blanks (1.050–1.100 °C)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600 L | Carga: 500 kg | 30 kW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Ciclo ~45 min; 1 carga cobre lote diário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24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Lixadeira de Cinta Industrial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Desbaste, lixamento e polimento das lâminas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2,2 kW | 1.400 m/min | cinta 100mm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 estações em linha (sequência granas)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60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Rebitadeira Pneumática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Fixação de cabos de madeira por rebites inox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Força 1 tf | 6–8 bar | 600 ciclos/h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por estação de montagem (faca/garfo/extra)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30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Afiadora Automática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Afiamento de facas (fio de corte)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~400 facas/hora | Motor 0,75 kW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Capacidade supera demanda com folga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59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Politriz / Retificadeira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Polimento fino e acabamento superficial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Motor 1,5 kW | Disco Ø 250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Acabamento final lâminas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59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Empilhadeira Elétrica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Movimentação de pallets e armazenagem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Capacidade: 1.500 kg | 3,5 m lift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Logística interna geral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59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Esteiras Transportadoras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Transporte entre estações produtivas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Largura 300 mm | 0,5 kW/unid.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Interligam todos os postos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32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SELEÇÃO DE 1 EQUIPAMENTO</a:t>
            </a:r>
            <a:endParaRPr/>
          </a:p>
        </p:txBody>
      </p:sp>
      <p:sp>
        <p:nvSpPr>
          <p:cNvPr id="386" name="Google Shape;386;p32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32"/>
          <p:cNvSpPr txBox="1"/>
          <p:nvPr/>
        </p:nvSpPr>
        <p:spPr>
          <a:xfrm>
            <a:off x="809625" y="1643800"/>
            <a:ext cx="4634100" cy="121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Char char="-"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Produção necessária: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2000 kits / 5 dias = 200 kits / dia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200 / 8 = 25 kits / hora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32"/>
          <p:cNvSpPr txBox="1"/>
          <p:nvPr/>
        </p:nvSpPr>
        <p:spPr>
          <a:xfrm>
            <a:off x="809625" y="3302775"/>
            <a:ext cx="4634100" cy="6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Char char="-"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Produção necessária com perdas : 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25 / 0,85 x 0,97 = 30,3 kits / hora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32"/>
          <p:cNvSpPr txBox="1"/>
          <p:nvPr/>
        </p:nvSpPr>
        <p:spPr>
          <a:xfrm>
            <a:off x="809625" y="4430750"/>
            <a:ext cx="4634100" cy="6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Char char="-"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Capacidade do laser</a:t>
            </a: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:  60 golpes / min = 3600 ciclos / hora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32"/>
          <p:cNvSpPr txBox="1"/>
          <p:nvPr/>
        </p:nvSpPr>
        <p:spPr>
          <a:xfrm>
            <a:off x="809625" y="5558725"/>
            <a:ext cx="4634100" cy="6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Char char="-"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Quantidade: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 = 60,7 /3600 = 0,017 ≈ 1 laser 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32"/>
          <p:cNvSpPr txBox="1"/>
          <p:nvPr/>
        </p:nvSpPr>
        <p:spPr>
          <a:xfrm>
            <a:off x="6492675" y="1796200"/>
            <a:ext cx="4634100" cy="253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 Laser Fibra CNC foi dimensionado para o corte dos blanks de faca e garfo em chapa AISI 420. Considerando a demanda de 1.000 kits por semana (200 kits/dia), sua capacidade nominal de 60 golpes por minuto é significativamente superior à capacidade requerida pelo processo. Dessa forma, uma única unidade é suficiente para atender integralmente a demanda produtiva, não representando gargalo para a linha de produção. 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96" name="Google Shape;39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7" name="Google Shape;397;p33"/>
          <p:cNvSpPr/>
          <p:nvPr/>
        </p:nvSpPr>
        <p:spPr>
          <a:xfrm>
            <a:off x="5619750" y="479662"/>
            <a:ext cx="952500" cy="954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33"/>
          <p:cNvSpPr txBox="1"/>
          <p:nvPr/>
        </p:nvSpPr>
        <p:spPr>
          <a:xfrm>
            <a:off x="295275" y="860662"/>
            <a:ext cx="116016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Conclusões</a:t>
            </a:r>
            <a:endParaRPr/>
          </a:p>
        </p:txBody>
      </p:sp>
      <p:sp>
        <p:nvSpPr>
          <p:cNvPr id="399" name="Google Shape;399;p33"/>
          <p:cNvSpPr txBox="1"/>
          <p:nvPr/>
        </p:nvSpPr>
        <p:spPr>
          <a:xfrm>
            <a:off x="571575" y="6255037"/>
            <a:ext cx="11049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AAAAAA"/>
                </a:solidFill>
                <a:latin typeface="Lato"/>
                <a:ea typeface="Lato"/>
                <a:cs typeface="Lato"/>
                <a:sym typeface="Lato"/>
              </a:rPr>
              <a:t>Kit Churrasco Tramontina | Engenharia de Produção | 202</a:t>
            </a:r>
            <a:r>
              <a:rPr lang="en-US" sz="1500">
                <a:solidFill>
                  <a:srgbClr val="AAAAAA"/>
                </a:solidFill>
                <a:latin typeface="Lato"/>
                <a:ea typeface="Lato"/>
                <a:cs typeface="Lato"/>
                <a:sym typeface="Lato"/>
              </a:rPr>
              <a:t>6</a:t>
            </a:r>
            <a:endParaRPr/>
          </a:p>
        </p:txBody>
      </p:sp>
      <p:grpSp>
        <p:nvGrpSpPr>
          <p:cNvPr id="400" name="Google Shape;400;p33"/>
          <p:cNvGrpSpPr/>
          <p:nvPr/>
        </p:nvGrpSpPr>
        <p:grpSpPr>
          <a:xfrm>
            <a:off x="295168" y="2018700"/>
            <a:ext cx="11048723" cy="1876425"/>
            <a:chOff x="2638425" y="3081325"/>
            <a:chExt cx="7024875" cy="1876425"/>
          </a:xfrm>
        </p:grpSpPr>
        <p:pic>
          <p:nvPicPr>
            <p:cNvPr descr="image.png" id="401" name="Google Shape;401;p3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2638425" y="3081325"/>
              <a:ext cx="7024875" cy="18764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02" name="Google Shape;402;p33"/>
            <p:cNvSpPr txBox="1"/>
            <p:nvPr/>
          </p:nvSpPr>
          <p:spPr>
            <a:xfrm>
              <a:off x="3019425" y="3462337"/>
              <a:ext cx="6153300" cy="2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352425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650" u="none" cap="none" strike="noStrike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Projeto tecnicamente viável para </a:t>
              </a:r>
              <a:r>
                <a:rPr lang="en-US" sz="1650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2</a:t>
              </a:r>
              <a:r>
                <a:rPr b="0" i="0" lang="en-US" sz="1650" u="none" cap="none" strike="noStrike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000 kits/semana.</a:t>
              </a:r>
              <a:endParaRPr/>
            </a:p>
          </p:txBody>
        </p:sp>
        <p:sp>
          <p:nvSpPr>
            <p:cNvPr id="403" name="Google Shape;403;p33"/>
            <p:cNvSpPr txBox="1"/>
            <p:nvPr/>
          </p:nvSpPr>
          <p:spPr>
            <a:xfrm>
              <a:off x="3019425" y="3833812"/>
              <a:ext cx="6153300" cy="2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352425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650" u="none" cap="none" strike="noStrike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Linha compacta de 800m² com fluxo otimizado.</a:t>
              </a:r>
              <a:endParaRPr/>
            </a:p>
          </p:txBody>
        </p:sp>
        <p:sp>
          <p:nvSpPr>
            <p:cNvPr id="404" name="Google Shape;404;p33"/>
            <p:cNvSpPr txBox="1"/>
            <p:nvPr/>
          </p:nvSpPr>
          <p:spPr>
            <a:xfrm>
              <a:off x="3019425" y="4205287"/>
              <a:ext cx="6153300" cy="2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352425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650" u="none" cap="none" strike="noStrike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Equilíbrio entre recursos próprios (estampagem) e outsourcing.</a:t>
              </a:r>
              <a:endParaRPr/>
            </a:p>
          </p:txBody>
        </p:sp>
        <p:pic>
          <p:nvPicPr>
            <p:cNvPr descr="image.png" id="405" name="Google Shape;405;p3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3019425" y="3490912"/>
              <a:ext cx="209550" cy="209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image.png" id="406" name="Google Shape;406;p3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3019425" y="3862387"/>
              <a:ext cx="209550" cy="209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image.png" id="407" name="Google Shape;407;p3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3019425" y="4233862"/>
              <a:ext cx="209550" cy="2095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08" name="Google Shape;408;p33"/>
          <p:cNvGrpSpPr/>
          <p:nvPr/>
        </p:nvGrpSpPr>
        <p:grpSpPr>
          <a:xfrm>
            <a:off x="295293" y="4136875"/>
            <a:ext cx="11048723" cy="1876425"/>
            <a:chOff x="2638425" y="3081325"/>
            <a:chExt cx="7024875" cy="1876425"/>
          </a:xfrm>
        </p:grpSpPr>
        <p:pic>
          <p:nvPicPr>
            <p:cNvPr descr="image.png" id="409" name="Google Shape;409;p3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2638425" y="3081325"/>
              <a:ext cx="7024875" cy="18764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0" name="Google Shape;410;p33"/>
            <p:cNvSpPr txBox="1"/>
            <p:nvPr/>
          </p:nvSpPr>
          <p:spPr>
            <a:xfrm>
              <a:off x="3019425" y="3462337"/>
              <a:ext cx="61533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352425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O que seria necessário para aprimorar o projeto?</a:t>
              </a:r>
              <a:endParaRPr sz="165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-333375" lvl="0" marL="457200" marR="0" rtl="0" algn="l">
                <a:spcBef>
                  <a:spcPts val="0"/>
                </a:spcBef>
                <a:spcAft>
                  <a:spcPts val="0"/>
                </a:spcAft>
                <a:buClr>
                  <a:srgbClr val="E8E8E8"/>
                </a:buClr>
                <a:buSzPts val="1650"/>
                <a:buFont typeface="Lato"/>
                <a:buChar char="-"/>
              </a:pPr>
              <a:r>
                <a:rPr lang="en-US" sz="1650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Capital de investimento superior, possibilitando comprar máquinas melhores </a:t>
              </a:r>
              <a:endParaRPr sz="165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-333375" lvl="0" marL="457200" marR="0" rtl="0" algn="l">
                <a:spcBef>
                  <a:spcPts val="0"/>
                </a:spcBef>
                <a:spcAft>
                  <a:spcPts val="0"/>
                </a:spcAft>
                <a:buClr>
                  <a:srgbClr val="E8E8E8"/>
                </a:buClr>
                <a:buSzPts val="1650"/>
                <a:buFont typeface="Lato"/>
                <a:buChar char="-"/>
              </a:pPr>
              <a:r>
                <a:rPr lang="en-US" sz="1650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Parceiros logísticos fixos para entrega dos produtos a comprar com preço inferior </a:t>
              </a:r>
              <a:endParaRPr sz="165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pic>
          <p:nvPicPr>
            <p:cNvPr descr="image.png" id="411" name="Google Shape;411;p3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3019425" y="3490912"/>
              <a:ext cx="209550" cy="2095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16" name="Google Shape;416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17" name="Google Shape;417;p34"/>
          <p:cNvGraphicFramePr/>
          <p:nvPr/>
        </p:nvGraphicFramePr>
        <p:xfrm>
          <a:off x="571500" y="26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4841675"/>
                <a:gridCol w="4692700"/>
                <a:gridCol w="1514625"/>
              </a:tblGrid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Equipamento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Capacidade / Força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Qtd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Laser Fibra CNC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60 toneladas força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Forno de Têmpera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Câmara 600L | 1.100°C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Lixadeira de Cinta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2.200 W | Industrial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Rebitadeira Pneumática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Força 1 ton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Afiadora Automática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400 facas / hora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</a:tbl>
          </a:graphicData>
        </a:graphic>
      </p:graphicFrame>
      <p:sp>
        <p:nvSpPr>
          <p:cNvPr id="418" name="Google Shape;418;p34"/>
          <p:cNvSpPr/>
          <p:nvPr/>
        </p:nvSpPr>
        <p:spPr>
          <a:xfrm>
            <a:off x="571500" y="3533775"/>
            <a:ext cx="48416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34"/>
          <p:cNvSpPr/>
          <p:nvPr/>
        </p:nvSpPr>
        <p:spPr>
          <a:xfrm>
            <a:off x="5413176" y="3533775"/>
            <a:ext cx="469269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34"/>
          <p:cNvSpPr/>
          <p:nvPr/>
        </p:nvSpPr>
        <p:spPr>
          <a:xfrm>
            <a:off x="10105876" y="3533775"/>
            <a:ext cx="151462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34"/>
          <p:cNvSpPr/>
          <p:nvPr/>
        </p:nvSpPr>
        <p:spPr>
          <a:xfrm>
            <a:off x="571500" y="3952875"/>
            <a:ext cx="48416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34"/>
          <p:cNvSpPr/>
          <p:nvPr/>
        </p:nvSpPr>
        <p:spPr>
          <a:xfrm>
            <a:off x="5413176" y="3952875"/>
            <a:ext cx="469269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34"/>
          <p:cNvSpPr/>
          <p:nvPr/>
        </p:nvSpPr>
        <p:spPr>
          <a:xfrm>
            <a:off x="10105876" y="3952875"/>
            <a:ext cx="151462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34"/>
          <p:cNvSpPr/>
          <p:nvPr/>
        </p:nvSpPr>
        <p:spPr>
          <a:xfrm>
            <a:off x="571500" y="4371975"/>
            <a:ext cx="48416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34"/>
          <p:cNvSpPr/>
          <p:nvPr/>
        </p:nvSpPr>
        <p:spPr>
          <a:xfrm>
            <a:off x="5413176" y="4371975"/>
            <a:ext cx="469269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34"/>
          <p:cNvSpPr/>
          <p:nvPr/>
        </p:nvSpPr>
        <p:spPr>
          <a:xfrm>
            <a:off x="10105876" y="4371975"/>
            <a:ext cx="151462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34"/>
          <p:cNvSpPr/>
          <p:nvPr/>
        </p:nvSpPr>
        <p:spPr>
          <a:xfrm>
            <a:off x="571500" y="4791075"/>
            <a:ext cx="48416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34"/>
          <p:cNvSpPr/>
          <p:nvPr/>
        </p:nvSpPr>
        <p:spPr>
          <a:xfrm>
            <a:off x="5413176" y="4791075"/>
            <a:ext cx="469269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34"/>
          <p:cNvSpPr/>
          <p:nvPr/>
        </p:nvSpPr>
        <p:spPr>
          <a:xfrm>
            <a:off x="10105876" y="4791075"/>
            <a:ext cx="151462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4"/>
          <p:cNvSpPr/>
          <p:nvPr/>
        </p:nvSpPr>
        <p:spPr>
          <a:xfrm>
            <a:off x="571500" y="5210175"/>
            <a:ext cx="48416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34"/>
          <p:cNvSpPr/>
          <p:nvPr/>
        </p:nvSpPr>
        <p:spPr>
          <a:xfrm>
            <a:off x="5413176" y="5210175"/>
            <a:ext cx="469269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34"/>
          <p:cNvSpPr/>
          <p:nvPr/>
        </p:nvSpPr>
        <p:spPr>
          <a:xfrm>
            <a:off x="10105876" y="5210175"/>
            <a:ext cx="151462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34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PARQUE DE MÁQUINAS</a:t>
            </a:r>
            <a:endParaRPr/>
          </a:p>
        </p:txBody>
      </p:sp>
      <p:sp>
        <p:nvSpPr>
          <p:cNvPr id="434" name="Google Shape;434;p34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39" name="Google Shape;439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40" name="Google Shape;440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3009900"/>
            <a:ext cx="5286375" cy="2219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41" name="Google Shape;441;p3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3724275"/>
            <a:ext cx="5286375" cy="1132879"/>
          </a:xfrm>
          <a:prstGeom prst="rect">
            <a:avLst/>
          </a:prstGeom>
          <a:noFill/>
          <a:ln>
            <a:noFill/>
          </a:ln>
        </p:spPr>
      </p:pic>
      <p:sp>
        <p:nvSpPr>
          <p:cNvPr id="442" name="Google Shape;442;p35"/>
          <p:cNvSpPr txBox="1"/>
          <p:nvPr/>
        </p:nvSpPr>
        <p:spPr>
          <a:xfrm>
            <a:off x="571500" y="2628900"/>
            <a:ext cx="5550693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Dimensionamento</a:t>
            </a:r>
            <a:endParaRPr/>
          </a:p>
        </p:txBody>
      </p:sp>
      <p:sp>
        <p:nvSpPr>
          <p:cNvPr id="443" name="Google Shape;443;p35"/>
          <p:cNvSpPr txBox="1"/>
          <p:nvPr/>
        </p:nvSpPr>
        <p:spPr>
          <a:xfrm>
            <a:off x="571500" y="3171825"/>
            <a:ext cx="5286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Cálculo da quantidade de lasers para meta de 1.000 kits/semana (200/dia + rejeitos).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endParaRPr/>
          </a:p>
        </p:txBody>
      </p:sp>
      <p:sp>
        <p:nvSpPr>
          <p:cNvPr id="444" name="Google Shape;444;p35"/>
          <p:cNvSpPr txBox="1"/>
          <p:nvPr/>
        </p:nvSpPr>
        <p:spPr>
          <a:xfrm>
            <a:off x="6724650" y="3343275"/>
            <a:ext cx="4790598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Resultado Final</a:t>
            </a:r>
            <a:endParaRPr/>
          </a:p>
        </p:txBody>
      </p:sp>
      <p:sp>
        <p:nvSpPr>
          <p:cNvPr id="445" name="Google Shape;445;p35"/>
          <p:cNvSpPr txBox="1"/>
          <p:nvPr/>
        </p:nvSpPr>
        <p:spPr>
          <a:xfrm>
            <a:off x="6724650" y="3886200"/>
            <a:ext cx="4562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1 Laser Fibra CNC é suficiente para a demanda, operando com utilização de 49%.</a:t>
            </a: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endParaRPr/>
          </a:p>
        </p:txBody>
      </p:sp>
      <p:sp>
        <p:nvSpPr>
          <p:cNvPr id="446" name="Google Shape;446;p35"/>
          <p:cNvSpPr txBox="1"/>
          <p:nvPr/>
        </p:nvSpPr>
        <p:spPr>
          <a:xfrm>
            <a:off x="6724650" y="4362450"/>
            <a:ext cx="4562400" cy="3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Considerado setup de molde de 30 minutos entre lotes de facas e garfos.</a:t>
            </a:r>
            <a:endParaRPr/>
          </a:p>
        </p:txBody>
      </p:sp>
      <p:pic>
        <p:nvPicPr>
          <p:cNvPr descr="image.png" id="447" name="Google Shape;447;p3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9150" y="3971925"/>
            <a:ext cx="4791075" cy="114300"/>
          </a:xfrm>
          <a:prstGeom prst="rect">
            <a:avLst/>
          </a:prstGeom>
          <a:noFill/>
          <a:ln>
            <a:noFill/>
          </a:ln>
        </p:spPr>
      </p:pic>
      <p:sp>
        <p:nvSpPr>
          <p:cNvPr id="448" name="Google Shape;448;p35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MEMORIAL DE CÁLCULO (PRENSA)</a:t>
            </a:r>
            <a:endParaRPr/>
          </a:p>
        </p:txBody>
      </p:sp>
      <p:sp>
        <p:nvSpPr>
          <p:cNvPr id="449" name="Google Shape;449;p35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35"/>
          <p:cNvSpPr txBox="1"/>
          <p:nvPr/>
        </p:nvSpPr>
        <p:spPr>
          <a:xfrm>
            <a:off x="2083950" y="4124650"/>
            <a:ext cx="2261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Db = 200 / 0,97 = 206,2 kits/dia </a:t>
            </a:r>
            <a:endParaRPr/>
          </a:p>
        </p:txBody>
      </p:sp>
      <p:sp>
        <p:nvSpPr>
          <p:cNvPr id="451" name="Google Shape;451;p35"/>
          <p:cNvSpPr txBox="1"/>
          <p:nvPr/>
        </p:nvSpPr>
        <p:spPr>
          <a:xfrm>
            <a:off x="1902650" y="4347875"/>
            <a:ext cx="2888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Capacidade = 80 × 7 × 0,85 × 0,92 = 437 kits/dia </a:t>
            </a:r>
            <a:endParaRPr/>
          </a:p>
        </p:txBody>
      </p:sp>
      <p:sp>
        <p:nvSpPr>
          <p:cNvPr id="452" name="Google Shape;452;p35"/>
          <p:cNvSpPr txBox="1"/>
          <p:nvPr/>
        </p:nvSpPr>
        <p:spPr>
          <a:xfrm>
            <a:off x="1902650" y="4571100"/>
            <a:ext cx="2888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N = 412,37 / 1360 = 0,3 -&gt; 1 laser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57" name="Google Shape;45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58" name="Google Shape;458;p36"/>
          <p:cNvSpPr txBox="1"/>
          <p:nvPr/>
        </p:nvSpPr>
        <p:spPr>
          <a:xfrm>
            <a:off x="809625" y="2033587"/>
            <a:ext cx="49506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LAYOUT INDUSTRIAL</a:t>
            </a:r>
            <a:endParaRPr/>
          </a:p>
        </p:txBody>
      </p:sp>
      <p:sp>
        <p:nvSpPr>
          <p:cNvPr id="459" name="Google Shape;459;p36"/>
          <p:cNvSpPr/>
          <p:nvPr/>
        </p:nvSpPr>
        <p:spPr>
          <a:xfrm>
            <a:off x="571500" y="2033587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36"/>
          <p:cNvSpPr txBox="1"/>
          <p:nvPr/>
        </p:nvSpPr>
        <p:spPr>
          <a:xfrm>
            <a:off x="571500" y="3033712"/>
            <a:ext cx="52006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Arranjo Físico Proposto</a:t>
            </a:r>
            <a:endParaRPr/>
          </a:p>
        </p:txBody>
      </p:sp>
      <p:sp>
        <p:nvSpPr>
          <p:cNvPr id="461" name="Google Shape;461;p36"/>
          <p:cNvSpPr txBox="1"/>
          <p:nvPr/>
        </p:nvSpPr>
        <p:spPr>
          <a:xfrm>
            <a:off x="571500" y="3576637"/>
            <a:ext cx="495300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Planta dimensionada em 384 m² (24 × 16 m) focada em fluxo linear para minimizar movimentação de materiais.</a:t>
            </a:r>
            <a:endParaRPr/>
          </a:p>
        </p:txBody>
      </p:sp>
      <p:sp>
        <p:nvSpPr>
          <p:cNvPr id="462" name="Google Shape;462;p36"/>
          <p:cNvSpPr txBox="1"/>
          <p:nvPr/>
        </p:nvSpPr>
        <p:spPr>
          <a:xfrm>
            <a:off x="571500" y="4052887"/>
            <a:ext cx="495300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Setores: Recebimento -&gt; Estampagem -&gt; Tratamento Térmico -&gt; Polimento -&gt; Montagem -&gt; Expedição.</a:t>
            </a:r>
            <a:endParaRPr/>
          </a:p>
        </p:txBody>
      </p:sp>
      <p:sp>
        <p:nvSpPr>
          <p:cNvPr id="463" name="Google Shape;463;p36"/>
          <p:cNvSpPr txBox="1"/>
          <p:nvPr/>
        </p:nvSpPr>
        <p:spPr>
          <a:xfrm>
            <a:off x="571500" y="4529137"/>
            <a:ext cx="4953000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C48A1A"/>
                </a:solidFill>
                <a:latin typeface="Lato"/>
                <a:ea typeface="Lato"/>
                <a:cs typeface="Lato"/>
                <a:sym typeface="Lato"/>
              </a:rPr>
              <a:t>Fluxo otimizado para produção puxada.</a:t>
            </a:r>
            <a:endParaRPr/>
          </a:p>
        </p:txBody>
      </p:sp>
      <p:pic>
        <p:nvPicPr>
          <p:cNvPr descr="image.png" id="464" name="Google Shape;464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96000" y="0"/>
            <a:ext cx="1733550" cy="18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69" name="Google Shape;469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0" name="Google Shape;470;p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571625"/>
            <a:ext cx="5976342" cy="8648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1" name="Google Shape;471;p3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33592" y="1571625"/>
            <a:ext cx="3905250" cy="8648700"/>
          </a:xfrm>
          <a:prstGeom prst="rect">
            <a:avLst/>
          </a:prstGeom>
          <a:noFill/>
          <a:ln>
            <a:noFill/>
          </a:ln>
        </p:spPr>
      </p:pic>
      <p:sp>
        <p:nvSpPr>
          <p:cNvPr id="472" name="Google Shape;472;p37"/>
          <p:cNvSpPr txBox="1"/>
          <p:nvPr/>
        </p:nvSpPr>
        <p:spPr>
          <a:xfrm>
            <a:off x="571500" y="10220325"/>
            <a:ext cx="5976342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Prensa 60t: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Recorte preciso das lâminas em aço inox.</a:t>
            </a:r>
            <a:endParaRPr/>
          </a:p>
        </p:txBody>
      </p:sp>
      <p:sp>
        <p:nvSpPr>
          <p:cNvPr id="473" name="Google Shape;473;p37"/>
          <p:cNvSpPr txBox="1"/>
          <p:nvPr/>
        </p:nvSpPr>
        <p:spPr>
          <a:xfrm>
            <a:off x="6833592" y="10220325"/>
            <a:ext cx="3905250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Forno de Têmpera: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Garantia da dureza Rockwell necessária.</a:t>
            </a:r>
            <a:endParaRPr/>
          </a:p>
        </p:txBody>
      </p:sp>
      <p:pic>
        <p:nvPicPr>
          <p:cNvPr descr="image.png" id="474" name="Google Shape;474;p3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90550" y="1590675"/>
            <a:ext cx="5938241" cy="8610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5" name="Google Shape;475;p3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852642" y="1590675"/>
            <a:ext cx="1209675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p37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MAQUINÁRIO PRINCIPAL</a:t>
            </a:r>
            <a:endParaRPr/>
          </a:p>
        </p:txBody>
      </p:sp>
      <p:sp>
        <p:nvSpPr>
          <p:cNvPr id="477" name="Google Shape;477;p37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82" name="Google Shape;482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83" name="Google Shape;483;p38"/>
          <p:cNvSpPr/>
          <p:nvPr/>
        </p:nvSpPr>
        <p:spPr>
          <a:xfrm>
            <a:off x="571500" y="2333625"/>
            <a:ext cx="11049000" cy="771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38"/>
          <p:cNvSpPr/>
          <p:nvPr/>
        </p:nvSpPr>
        <p:spPr>
          <a:xfrm>
            <a:off x="571500" y="3105150"/>
            <a:ext cx="11049000" cy="828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38"/>
          <p:cNvSpPr/>
          <p:nvPr/>
        </p:nvSpPr>
        <p:spPr>
          <a:xfrm>
            <a:off x="571500" y="3933825"/>
            <a:ext cx="11049000" cy="771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38"/>
          <p:cNvSpPr/>
          <p:nvPr/>
        </p:nvSpPr>
        <p:spPr>
          <a:xfrm>
            <a:off x="571500" y="309562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38"/>
          <p:cNvSpPr/>
          <p:nvPr/>
        </p:nvSpPr>
        <p:spPr>
          <a:xfrm>
            <a:off x="571500" y="309562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8"/>
          <p:cNvSpPr/>
          <p:nvPr/>
        </p:nvSpPr>
        <p:spPr>
          <a:xfrm>
            <a:off x="571500" y="3924300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38"/>
          <p:cNvSpPr/>
          <p:nvPr/>
        </p:nvSpPr>
        <p:spPr>
          <a:xfrm>
            <a:off x="571500" y="3924300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38"/>
          <p:cNvSpPr/>
          <p:nvPr/>
        </p:nvSpPr>
        <p:spPr>
          <a:xfrm>
            <a:off x="571500" y="469582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38"/>
          <p:cNvSpPr/>
          <p:nvPr/>
        </p:nvSpPr>
        <p:spPr>
          <a:xfrm>
            <a:off x="571500" y="469582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492" name="Google Shape;492;p3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476500"/>
            <a:ext cx="1476375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493" name="Google Shape;493;p38"/>
          <p:cNvSpPr txBox="1"/>
          <p:nvPr/>
        </p:nvSpPr>
        <p:spPr>
          <a:xfrm>
            <a:off x="1666875" y="2524125"/>
            <a:ext cx="99536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https://assets.tramontina.com.br/upload/tramon/imagens/CUT/22399036PDM001G.jpg</a:t>
            </a:r>
            <a:endParaRPr/>
          </a:p>
        </p:txBody>
      </p:sp>
      <p:sp>
        <p:nvSpPr>
          <p:cNvPr id="494" name="Google Shape;494;p38"/>
          <p:cNvSpPr txBox="1"/>
          <p:nvPr/>
        </p:nvSpPr>
        <p:spPr>
          <a:xfrm>
            <a:off x="1666875" y="2724150"/>
            <a:ext cx="9953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global.tramontina.com</a:t>
            </a:r>
            <a:endParaRPr/>
          </a:p>
        </p:txBody>
      </p:sp>
      <p:pic>
        <p:nvPicPr>
          <p:cNvPr descr="image.png" id="495" name="Google Shape;495;p3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3276600"/>
            <a:ext cx="914400" cy="542925"/>
          </a:xfrm>
          <a:prstGeom prst="rect">
            <a:avLst/>
          </a:prstGeom>
          <a:noFill/>
          <a:ln>
            <a:noFill/>
          </a:ln>
        </p:spPr>
      </p:pic>
      <p:sp>
        <p:nvSpPr>
          <p:cNvPr id="496" name="Google Shape;496;p38"/>
          <p:cNvSpPr txBox="1"/>
          <p:nvPr/>
        </p:nvSpPr>
        <p:spPr>
          <a:xfrm>
            <a:off x="1666875" y="3248025"/>
            <a:ext cx="99536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https://netrinoimages.s3.eu-west-2.amazonaws.com/2019/08/11/633139/501874/production_line_layout_workshop_factory_industrial_floor_plan_3d_model_c4d_max_obj_fbx_ma_lwo_3ds_3dm_stl_5138621.webp</a:t>
            </a:r>
            <a:endParaRPr/>
          </a:p>
        </p:txBody>
      </p:sp>
      <p:sp>
        <p:nvSpPr>
          <p:cNvPr id="497" name="Google Shape;497;p38"/>
          <p:cNvSpPr txBox="1"/>
          <p:nvPr/>
        </p:nvSpPr>
        <p:spPr>
          <a:xfrm>
            <a:off x="1666875" y="3600450"/>
            <a:ext cx="9953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3dexport.com</a:t>
            </a:r>
            <a:endParaRPr/>
          </a:p>
        </p:txBody>
      </p:sp>
      <p:pic>
        <p:nvPicPr>
          <p:cNvPr descr="image.png" id="498" name="Google Shape;498;p3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4076700"/>
            <a:ext cx="1438275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499" name="Google Shape;499;p38"/>
          <p:cNvSpPr txBox="1"/>
          <p:nvPr/>
        </p:nvSpPr>
        <p:spPr>
          <a:xfrm>
            <a:off x="1666875" y="4124325"/>
            <a:ext cx="99536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http://stampingpress4u.com/upload/3190/o/1-6-60t-precision-metal-stamping-press_01.jpg</a:t>
            </a:r>
            <a:endParaRPr/>
          </a:p>
        </p:txBody>
      </p:sp>
      <p:sp>
        <p:nvSpPr>
          <p:cNvPr id="500" name="Google Shape;500;p38"/>
          <p:cNvSpPr txBox="1"/>
          <p:nvPr/>
        </p:nvSpPr>
        <p:spPr>
          <a:xfrm>
            <a:off x="1666875" y="4324350"/>
            <a:ext cx="9953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stampingpress4u.com</a:t>
            </a:r>
            <a:endParaRPr/>
          </a:p>
        </p:txBody>
      </p:sp>
      <p:pic>
        <p:nvPicPr>
          <p:cNvPr descr="image.png" id="501" name="Google Shape;501;p3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4876800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502" name="Google Shape;502;p38"/>
          <p:cNvSpPr txBox="1"/>
          <p:nvPr/>
        </p:nvSpPr>
        <p:spPr>
          <a:xfrm>
            <a:off x="1666875" y="4848225"/>
            <a:ext cx="99536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https://www.wisoven.com/sites/default/files/styles/product_slideshow/public/2016-11/Wisconsin%20Oven%20Daw%20and%20Temper%20Furnace%20601SM10740_SDB-668-12E%20with%20load%20table.JPG?itok=q_DrRHfK</a:t>
            </a:r>
            <a:endParaRPr/>
          </a:p>
        </p:txBody>
      </p:sp>
      <p:sp>
        <p:nvSpPr>
          <p:cNvPr id="503" name="Google Shape;503;p38"/>
          <p:cNvSpPr txBox="1"/>
          <p:nvPr/>
        </p:nvSpPr>
        <p:spPr>
          <a:xfrm>
            <a:off x="1666875" y="5200650"/>
            <a:ext cx="9953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www.wisoven.com</a:t>
            </a:r>
            <a:endParaRPr/>
          </a:p>
        </p:txBody>
      </p:sp>
      <p:sp>
        <p:nvSpPr>
          <p:cNvPr id="504" name="Google Shape;504;p38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FONTES DE PESQUISA</a:t>
            </a:r>
            <a:endParaRPr/>
          </a:p>
        </p:txBody>
      </p:sp>
      <p:sp>
        <p:nvSpPr>
          <p:cNvPr id="505" name="Google Shape;505;p38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172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7777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Fluxograma do Processo (1/2)</a:t>
            </a:r>
          </a:p>
        </p:txBody>
      </p:sp>
      <p:pic>
        <p:nvPicPr>
          <p:cNvPr id="4" name="Picture 3" descr="fluxo_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475945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172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7777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Fluxograma do Processo (2/2)</a:t>
            </a:r>
          </a:p>
        </p:txBody>
      </p:sp>
      <p:pic>
        <p:nvPicPr>
          <p:cNvPr id="4" name="Picture 3" descr="fluxo_b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475945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172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7777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Mapofluxograma da Produção</a:t>
            </a:r>
          </a:p>
        </p:txBody>
      </p:sp>
      <p:pic>
        <p:nvPicPr>
          <p:cNvPr id="4" name="Picture 3" descr="mapofluxograma_ren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475945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172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7777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Layout Esquemático — 24 × 16 m</a:t>
            </a:r>
          </a:p>
        </p:txBody>
      </p:sp>
      <p:pic>
        <p:nvPicPr>
          <p:cNvPr id="4" name="Picture 3" descr="layout_ren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47594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
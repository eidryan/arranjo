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82" r:id="rId42"/>
    <p:sldId id="283" r:id="rId43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12192000"/>
  <p:notesSz cx="6858000" cy="9144000"/>
  <p:embeddedFontLst>
    <p:embeddedFont>
      <p:font typeface="Lato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João Deccax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5B2FC3-EC09-4A34-8C88-7F451D0598A5}">
  <a:tblStyle styleId="{C85B2FC3-EC09-4A34-8C88-7F451D0598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BC8699D-3FC4-49ED-B972-4155DA869AD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font" Target="fonts/Lato-regular.fntdata"/><Relationship Id="rId35" Type="http://schemas.openxmlformats.org/officeDocument/2006/relationships/font" Target="fonts/Lato-bold.fntdata"/><Relationship Id="rId36" Type="http://schemas.openxmlformats.org/officeDocument/2006/relationships/font" Target="fonts/Lato-italic.fntdata"/><Relationship Id="rId37" Type="http://schemas.openxmlformats.org/officeDocument/2006/relationships/font" Target="fonts/Lato-boldItalic.fntdata"/><Relationship Id="rId38" Type="http://schemas.openxmlformats.org/officeDocument/2006/relationships/font" Target="fonts/Poppins-regular.fntdata"/><Relationship Id="rId39" Type="http://schemas.openxmlformats.org/officeDocument/2006/relationships/font" Target="fonts/Poppins-bold.fntdata"/><Relationship Id="rId40" Type="http://schemas.openxmlformats.org/officeDocument/2006/relationships/font" Target="fonts/Poppins-italic.fntdata"/><Relationship Id="rId41" Type="http://schemas.openxmlformats.org/officeDocument/2006/relationships/font" Target="fonts/Poppins-boldItalic.fntdata"/><Relationship Id="rId42" Type="http://schemas.openxmlformats.org/officeDocument/2006/relationships/slide" Target="slides/slide27.xml"/><Relationship Id="rId43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03T16:44:10.306">
    <p:pos x="6000" y="0"/>
    <p:text>Ponto 12: Desenho esquemático do arranjo físico com representação das áreas de produção, estoque, transporte e inspeção, localizando (com dimensões aproximadas) os equipamentos e mobiliários previstos para a instalação. Apresentar, no mínimo, as dimensões totais.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03T16:43:52.913">
    <p:pos x="6000" y="0"/>
    <p:text>Pontos 9 e 13: Fluxograma do processo para fabricação industrial, utilizando os ícones representativos dos tipos de processos (operação, transporte, inspeção, armazenagem, espera) e a numeração correspondente a tabela 2. e Mapofluxograma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03T16:43:13.663">
    <p:pos x="0" y="0"/>
    <p:text>Ponto 10: Tabela 3 com tipos de equipamentos selecionados, fornecedores, medidas aproximadas, capacidade informada pelo fabricante.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6-03T16:45:24.232">
    <p:pos x="6000" y="0"/>
    <p:text>Ponto 11: Seleção de 1 equipamento - Informações sobre o equipamento e cálculo de quantidade necessária para atender à demanda. Apresentar descritivo de cálculo e premissas consideradas sobre turnos de trabalho, horas úteis disponíveis para produção, capacidade nominal do equipamento, confiabilidade, as operações que serão realizadas nele, tempos padrão considerados, eficiência e % de produção boa. OBS.: As mesmas premissas, com exceção da capacidade nominal e das operações. deverão ser consideradas para a definição da quantidade dos demais equipamentos/maquinário da fábrica. No entanto, para os demais equipamentos não deverá ser apresentada a memória de cálculo.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6-03T16:43:29.222">
    <p:pos x="6000" y="0"/>
    <p:text>Ponto 14: Conclusões, incluindo reflexão sobre o que seria necessário para aprimorar o projeto.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6-03T16:42:38.604">
    <p:pos x="6000" y="0"/>
    <p:text>Desse slide para baixo foi tudo feito pela IA (acredito eu) e não parece precisar deles nas orientações da Suzana, acho que podemos deletar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8071531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80715317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18e94d5e4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18e94d5e4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80a6f95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80a6f957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80a6f95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80a6f957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80a6f957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80a6f957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80a6f957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e80a6f957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80a6f957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80a6f957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8e9bc890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8e9bc890a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8c1e322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8c1e322f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.png"/><Relationship Id="rId9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Relationship Id="rId9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.xml"/><Relationship Id="rId4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2.xml"/><Relationship Id="rId4" Type="http://schemas.openxmlformats.org/officeDocument/2006/relationships/image" Target="../media/image11.png"/><Relationship Id="rId5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3.xml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5.xml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6.xml"/><Relationship Id="rId4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62" y="1537394"/>
            <a:ext cx="10353675" cy="37832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28762" y="2146994"/>
            <a:ext cx="913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48A1A"/>
                </a:solidFill>
                <a:latin typeface="Lato"/>
                <a:ea typeface="Lato"/>
                <a:cs typeface="Lato"/>
                <a:sym typeface="Lato"/>
              </a:rPr>
              <a:t>ARRANJO FÍSICO INDUSTRIAL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00400" y="2585144"/>
            <a:ext cx="959119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Kit Churrasco Tramontina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28762" y="3529905"/>
            <a:ext cx="91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Engenharia de Produção | Grupo A | 202</a:t>
            </a:r>
            <a:r>
              <a:rPr lang="en-US" sz="1800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143500" y="4091880"/>
            <a:ext cx="1905000" cy="3810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528762" y="4415730"/>
            <a:ext cx="9134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48A1A"/>
                </a:solidFill>
                <a:latin typeface="Lato"/>
                <a:ea typeface="Lato"/>
                <a:cs typeface="Lato"/>
                <a:sym typeface="Lato"/>
              </a:rPr>
              <a:t>Cód. Tramontina: 22399/036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04875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Grupo 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167187"/>
            <a:ext cx="28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Integrantes responsáveis pelo planejamento 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de  produção do Kit 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Churrasco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da Tramontina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83174" y="3624262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83174" y="4167187"/>
            <a:ext cx="282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Adrian Vilela, André Bapista, Bernardo Gomes, Clara Barboza, João Pedro Deccax, Leonardo Nespoli e Lucas de Mello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61474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Orientação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61474" y="4167187"/>
            <a:ext cx="28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Professora 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: Suzana Dantas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Disciplina: 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Arranjo Físico Industrial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Semestre: 202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6.</a:t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0146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30146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30146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EQUIPE DO PROJETO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04875" y="3624262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Objetivo Geral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4167187"/>
            <a:ext cx="282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Estruturar e implementar uma unidade fabril capaz de produzir o Kit Churrasco Tramontina (3 peças) em escala industrial, garantindo a viabilidade técnica e econômica do processo.</a:t>
            </a:r>
            <a:endParaRPr sz="1200">
              <a:solidFill>
                <a:srgbClr val="E8E8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683174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Processos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83174" y="4167187"/>
            <a:ext cx="282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Definição detalhada dos fluxos produtivos, tipos de operações (estampagem, tratamento térmico, polimento, montagem) e os recursos físicos (maquinário e mobiliário) indispensáveis.</a:t>
            </a:r>
            <a:endParaRPr sz="1200">
              <a:solidFill>
                <a:srgbClr val="E8E8E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200">
              <a:solidFill>
                <a:srgbClr val="E8E8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461474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Dimensionamento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61474" y="4167187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Calcular a carga de máquinas e layout para atender à meta de 1.000 kits semanais.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0146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30146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3014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 </a:t>
            </a: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 PROJETO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27765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Kit Churrasco Dynamic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8200" y="3367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52500" y="33670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Peça 1: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Faca 8" em Aço Inox AISI 420.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8200" y="36718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36718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Peça 2: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Garfo Trinchante Inox Estampado.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8200" y="3976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39766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Peça 3: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Tábua de Madeira (35x22x1.8cm).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8200" y="42814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52500" y="42814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Cabos: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Madeira natural rebitada.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38200" y="4586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52500" y="45862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Diferencial: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Tratamento térmico para durabilidade do fio.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DESCRIÇÃO DO PRODUTO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725" y="1399200"/>
            <a:ext cx="4850151" cy="485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7975"/>
            <a:ext cx="52863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47975"/>
            <a:ext cx="52863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04875" y="3181350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Faca &amp; Garfo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04875" y="3724275"/>
            <a:ext cx="461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Faca: Lâmina 200mm | Cabo 120mm | Total 320mm.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04875" y="4019550"/>
            <a:ext cx="4619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Garfo: Comprimento total ≈ 330mm.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04875" y="4324350"/>
            <a:ext cx="461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Material: Aço Inox AISI 420 (Alta Resistência).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67500" y="3181350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Tábua de Corte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0" y="3724275"/>
            <a:ext cx="461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Dimensões: 340 x 190 x 15 mm.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67500" y="4019550"/>
            <a:ext cx="461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Material: Madeira Maçaranduba.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0" y="4314825"/>
            <a:ext cx="461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Fixação: 3 Rebites de aço inox por cabo.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DIMENSÕES TÉCNICAS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9887"/>
            <a:ext cx="3492549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909887"/>
            <a:ext cx="3492549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909887"/>
            <a:ext cx="3492549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04875" y="3243262"/>
            <a:ext cx="28257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3030"/>
                </a:solidFill>
                <a:latin typeface="Lato"/>
                <a:ea typeface="Lato"/>
                <a:cs typeface="Lato"/>
                <a:sym typeface="Lato"/>
              </a:rPr>
              <a:t>NÍVEL 0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04875" y="3538537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Kit Acabado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04875" y="4081462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Produto final embalado em caixa display kraft com janela.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683174" y="3243262"/>
            <a:ext cx="28257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3030"/>
                </a:solidFill>
                <a:latin typeface="Lato"/>
                <a:ea typeface="Lato"/>
                <a:cs typeface="Lato"/>
                <a:sym typeface="Lato"/>
              </a:rPr>
              <a:t>NÍVEL 1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683174" y="3538537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Subconjuntos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683174" y="4081462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Faca montada, Garfo montado, Tábua processada e Embalagem.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461474" y="3243262"/>
            <a:ext cx="28257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3030"/>
                </a:solidFill>
                <a:latin typeface="Lato"/>
                <a:ea typeface="Lato"/>
                <a:cs typeface="Lato"/>
                <a:sym typeface="Lato"/>
              </a:rPr>
              <a:t>NÍVEL 2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461474" y="3538537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Insumos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461474" y="4081462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Chapas de Inox, cabos de madeira, rebites e caixa display.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 DO PRODUTO 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3187"/>
            <a:ext cx="3492549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904875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Doméstico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04875" y="4167187"/>
            <a:ext cx="28257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Consumidores finais (B2C) que buscam qualidade Tramontina para churrascos em família.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683174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Presentes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683174" y="4167187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Mercado sazonal de alto giro (Dia dos Pais, Natal) devido à embalagem atrativa.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461474" y="3624262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Varejo/B2B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461474" y="4167187"/>
            <a:ext cx="2825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Grandes redes de supermercados e lojas de utilidades que adquirem volumes elevados.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0146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30146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30146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SEGMENTOS DE MERCADO VISADOS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110490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766875" y="3076575"/>
            <a:ext cx="3980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0">
                <a:solidFill>
                  <a:srgbClr val="B03030"/>
                </a:solidFill>
                <a:latin typeface="Poppins"/>
                <a:ea typeface="Poppins"/>
                <a:cs typeface="Poppins"/>
                <a:sym typeface="Poppins"/>
              </a:rPr>
              <a:t>1.000</a:t>
            </a:r>
            <a:r>
              <a:rPr b="1" i="0" lang="en-US" sz="10500" u="none" cap="none" strike="noStrike">
                <a:solidFill>
                  <a:srgbClr val="B0303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766887" y="4505325"/>
            <a:ext cx="383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8A1A"/>
                </a:solidFill>
                <a:latin typeface="Lato"/>
                <a:ea typeface="Lato"/>
                <a:cs typeface="Lato"/>
                <a:sym typeface="Lato"/>
              </a:rPr>
              <a:t>KITS POR SEMANA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417294" y="2431625"/>
            <a:ext cx="520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Premissas Operacionais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808023" y="2967025"/>
            <a:ext cx="1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975532" y="2967025"/>
            <a:ext cx="43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Capacidade Diária: 200 kits.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lang="en-US" sz="15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808023" y="3309925"/>
            <a:ext cx="1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975532" y="3309925"/>
            <a:ext cx="43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Turnos: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1 turno de 8 horas.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808023" y="3652825"/>
            <a:ext cx="1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975532" y="3652825"/>
            <a:ext cx="43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Eficiência: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η = 85% | Rejeito = 3%.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808023" y="3995725"/>
            <a:ext cx="1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975532" y="3995725"/>
            <a:ext cx="43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Estoque:</a:t>
            </a:r>
            <a:r>
              <a:rPr b="0" i="0" lang="en-US" sz="15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2 semanas de segurança.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META DE PRODUÇÃO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417294" y="4338625"/>
            <a:ext cx="520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Justifcativa 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417300" y="4773625"/>
            <a:ext cx="500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O número escolhido foi de 1.000 kits por semana pois foi levado em conta a quantidade de horas no turno de trabalho, a </a:t>
            </a:r>
            <a:r>
              <a:rPr lang="en-US" sz="1200">
                <a:solidFill>
                  <a:schemeClr val="lt1"/>
                </a:solidFill>
              </a:rPr>
              <a:t>eficiência</a:t>
            </a:r>
            <a:r>
              <a:rPr lang="en-US" sz="1200">
                <a:solidFill>
                  <a:schemeClr val="lt1"/>
                </a:solidFill>
              </a:rPr>
              <a:t> e número de rejeito e a capacidade diária de produção dos kits.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1"/>
          <p:cNvGraphicFramePr/>
          <p:nvPr/>
        </p:nvGraphicFramePr>
        <p:xfrm>
          <a:off x="571500" y="2444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1711075"/>
                <a:gridCol w="4732150"/>
                <a:gridCol w="1288550"/>
                <a:gridCol w="3317225"/>
              </a:tblGrid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Qtd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 / 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Lâmina Faca Inox AISI 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Lâmina Garfo Inox 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Cabo Madeira (pré-cortado)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Tábua Madeira Acabada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Rebites Inox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Embalagem Kraft Display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1"/>
          <p:cNvSpPr/>
          <p:nvPr/>
        </p:nvSpPr>
        <p:spPr>
          <a:xfrm>
            <a:off x="571500" y="33242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282576" y="33242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014716" y="33242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8303269" y="33242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37433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282576" y="37433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014716" y="37433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8303269" y="37433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71500" y="41624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282576" y="41624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7014716" y="41624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8303269" y="41624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71500" y="45815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282576" y="45815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7014716" y="45815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8303269" y="45815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71500" y="50006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282576" y="50006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7014716" y="50006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8303269" y="50006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71500" y="5419725"/>
            <a:ext cx="17110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282576" y="5419725"/>
            <a:ext cx="47321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014716" y="5419725"/>
            <a:ext cx="12885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8303269" y="5419725"/>
            <a:ext cx="3317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TABELA 1: COMPONENTES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33500" l="-3440" r="3440" t="-335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571500" y="33242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282576" y="33242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7014716" y="33242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303269" y="33242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71500" y="37433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2282576" y="37433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7014716" y="37433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8303269" y="37433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71500" y="41624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2282576" y="41624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014716" y="41624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303269" y="41624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71500" y="45815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2282576" y="45815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7014716" y="45815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303269" y="45815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571500" y="50006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2282576" y="50006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7014716" y="50006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8303269" y="50006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71500" y="54197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2282576" y="54197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7014716" y="54197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8303269" y="54197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TABELA 1: </a:t>
            </a: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JUSTIFICATIVAS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22"/>
          <p:cNvGraphicFramePr/>
          <p:nvPr/>
        </p:nvGraphicFramePr>
        <p:xfrm>
          <a:off x="571500" y="2444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1315975"/>
                <a:gridCol w="3639475"/>
                <a:gridCol w="991025"/>
                <a:gridCol w="2551275"/>
                <a:gridCol w="2551275"/>
              </a:tblGrid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Qtd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 / 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Justificativa</a:t>
                      </a:r>
                      <a:endParaRPr b="1" i="0" sz="135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Lâmina Faca Inox AISI 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Máquinas que proporcionam a qualidade no acabamento e na firmeza do corte da lâmina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Lâmina Garfo Inox 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Máquinas que proporcionam a qualidade no acabamento e na firmeza da lâmina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Cabo Madeira (pré-cortado)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Compensa mais comprar por conta do baixo custo e a prioridade da empresa é focar nas lâminas </a:t>
                      </a:r>
                      <a:endParaRPr b="0" i="0" sz="1200" u="none" cap="none" strike="noStrike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Tábua Madeira Acabada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Compensa mais comprar por conta do baixo custo e a prioridade da empresa é focar nas lâminas 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2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Rebites Inox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Compensa mais comprar por conta do baixo custo e a prioridade da empresa é focar nas lâminas 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Embalagem Kraft Display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Compensa mais comprar por conta do baixo custo e a prioridade da empresa é focar nas lâminas 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/>
          <p:nvPr/>
        </p:nvSpPr>
        <p:spPr>
          <a:xfrm>
            <a:off x="571500" y="33242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2282576" y="33242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7014716" y="33242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8303269" y="33242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571500" y="37433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2282576" y="37433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7014716" y="37433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8303269" y="37433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71500" y="41624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2282576" y="41624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7014716" y="41624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8303269" y="41624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571500" y="45815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282576" y="45815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7014716" y="45815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8303269" y="45815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571500" y="50006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2282576" y="50006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7014716" y="50006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303269" y="50006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71500" y="5419725"/>
            <a:ext cx="1711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2282576" y="5419725"/>
            <a:ext cx="47322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7014716" y="5419725"/>
            <a:ext cx="1288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8303269" y="5419725"/>
            <a:ext cx="3317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PAIS E FILHOS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3" title="Flow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25" y="1938199"/>
            <a:ext cx="11500227" cy="34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5" name="Google Shape;325;p24"/>
          <p:cNvGraphicFramePr/>
          <p:nvPr/>
        </p:nvGraphicFramePr>
        <p:xfrm>
          <a:off x="571500" y="15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898625"/>
                <a:gridCol w="4229250"/>
                <a:gridCol w="2273200"/>
                <a:gridCol w="364792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Processo / 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Recurso Físico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 de Matéria Prima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Balança, mesa de inspeção e micrômetro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 de Matéria Prima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Empilhadeira, caixas e pallet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Aço Inox para o corte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Esteiras e aço inox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Corte do aço inox para blanks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 de corte e aço inox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 dos blanks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Mesa de inspeção, micrômetro e blancks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06</a:t>
                      </a:r>
                      <a:endParaRPr b="0" i="0" sz="1200" u="none" cap="none" strike="noStrike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Tratamento térmico dos blanks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Forno industrial e blanks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07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Espera de 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resfriamento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dos blanks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Espera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Chiller industrial e blanks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08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Redobrar, lixar, e polir garfo e faca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Politriz industrial, retificadeira e blanks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09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Afiar facas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Afiodores e facas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 de garfos e facas semi acabadas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Caixas, empilhadeiras, garfos e facas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2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PROCESSOS INDUSTRIAIS (P1)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5"/>
          <p:cNvGraphicFramePr/>
          <p:nvPr/>
        </p:nvGraphicFramePr>
        <p:xfrm>
          <a:off x="571500" y="15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898625"/>
                <a:gridCol w="4229250"/>
                <a:gridCol w="2273200"/>
                <a:gridCol w="364792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Processo / 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Recurso Físico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de madeira para corte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Esteiras e madeira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Corte da tábua e blanks dos cabos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Serra industrial e madeira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Fresar tábua e furar cabos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Fresa, furadeira, cabos e tábua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Lixar cabos e tábua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Lixadeira, cabos e tábua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Acabamento superficial dos cabos e tábua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Plaina, cabos e tábua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b="0" i="0" sz="1200" u="none" cap="none" strike="noStrike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Aguardar cura e secagem do acabamento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Espera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Mesa, cabos e tábua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 de peças de madeira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Mesa de inspeção, micrômetro, cabos e tábua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de peças de madeira para montagem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Esteiras, cabos e tábua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de garfos e facas semi acabados para montagem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Esteiras, garfos e facas 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semi acabados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dos parafusos para montagem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Esteiras e parafusos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25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PROCESSOS INDUSTRIAIS (P</a:t>
            </a: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1" name="Google Shape;341;p26"/>
          <p:cNvGraphicFramePr/>
          <p:nvPr/>
        </p:nvGraphicFramePr>
        <p:xfrm>
          <a:off x="571500" y="15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898625"/>
                <a:gridCol w="4229250"/>
                <a:gridCol w="2273200"/>
                <a:gridCol w="364792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Processo / 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Recurso Físico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Montagem de facas e garfos acabados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Parafusadeira, parafusos, cabos de madeira, garfos e facas semi acabados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 das facas e garfos acabados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Mesa de inspeção, garfos e facas acabados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da cartela para a mesa de montagem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 e cartela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Montagem do kit na mesa de montagem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Tábua, garfo, faca e cartela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 do kit finalizado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Esteira e kit finalizado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b="0" i="0" sz="1200" u="none" cap="none" strike="noStrike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 de kit finalizado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Armazenagem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Kit finalizado, caixas, pallet e empilhadeira</a:t>
                      </a:r>
                      <a:endParaRPr sz="1200">
                        <a:solidFill>
                          <a:srgbClr val="E8E8E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26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PROCESSOS INDUSTRIAIS (P</a:t>
            </a: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DESENHO ESQUEMÁTICO DO ARRANJO FÍSICO</a:t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Picture 349" descr="layout_r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263852"/>
            <a:ext cx="8961120" cy="38064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MAPO</a:t>
            </a: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FLUXOGRAMA D</a:t>
            </a: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PRODUÇÃO</a:t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5475" y="1155425"/>
            <a:ext cx="7439689" cy="547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Picture 356" descr="mapofluxograma_re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6702376"/>
            <a:ext cx="8961120" cy="-16320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TABELA EQUIPAMENTOS</a:t>
            </a:r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29"/>
          <p:cNvGraphicFramePr/>
          <p:nvPr/>
        </p:nvGraphicFramePr>
        <p:xfrm>
          <a:off x="685825" y="144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{5BC8699D-3FC4-49ED-B972-4155DA869AD9}</a:tableStyleId>
              </a:tblPr>
              <a:tblGrid>
                <a:gridCol w="1869250"/>
                <a:gridCol w="2542625"/>
                <a:gridCol w="2101425"/>
                <a:gridCol w="2426525"/>
                <a:gridCol w="1857600"/>
              </a:tblGrid>
              <a:tr h="8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Equipamento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Fornecedor(es)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Medidas Aprox.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 (Fabricante)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Qtd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Prensa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Excêntrica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Madetech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(Guarulhos-SP)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RHTC / ProfiPress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1.850 × 1.200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2.400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~5.500 kg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 W | 20.000 mm/min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Curso: 80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Mesa: 600×400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Forno de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Têmpera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Jung Industrial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(Joinville-SC)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Eletro Fornos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1.400 × 900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1.300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Câmara: 600 L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1.200 °C | PID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Carga: 500 kg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Potência: 30 kW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Lixadeira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Cinta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Lippel (SC)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Ferromax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Formfer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 × 600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1.200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~180 kg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2,2 kW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Cinta: 100×1.200mm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1.400 m/min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Rebitadeira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Pneumática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Pram Ferramentas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Metalurgica Basso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 × 250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500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~25 kg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Força: 1 tf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Ar: 6–8 bar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ciclos/hora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Afiadora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Automática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Lippel (SC)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Mecanofar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MPA Máquinas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1.100 × 700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1.200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~120 kg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0,75 kW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610 mm/faca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~400 facas/hora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SELEÇÃO DE 1 EQUIPAMENTO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30"/>
          <p:cNvGraphicFramePr/>
          <p:nvPr/>
        </p:nvGraphicFramePr>
        <p:xfrm>
          <a:off x="1340000" y="144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{5BC8699D-3FC4-49ED-B972-4155DA869AD9}</a:tableStyleId>
              </a:tblPr>
              <a:tblGrid>
                <a:gridCol w="2054450"/>
                <a:gridCol w="2357425"/>
              </a:tblGrid>
              <a:tr h="8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Equipamento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Laser Fibra CNC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Fornecedor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Madetech (SP)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(Guarulhos-SP)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RHTC / ProfiPress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 Nominal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20.000 mm/min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Curso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x 400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2" name="Google Shape;372;p30"/>
          <p:cNvGraphicFramePr/>
          <p:nvPr/>
        </p:nvGraphicFramePr>
        <p:xfrm>
          <a:off x="6799025" y="144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{5BC8699D-3FC4-49ED-B972-4155DA869AD9}</a:tableStyleId>
              </a:tblPr>
              <a:tblGrid>
                <a:gridCol w="2068875"/>
                <a:gridCol w="2343000"/>
              </a:tblGrid>
              <a:tr h="6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Parâmetro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Turnos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turno/dia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Jornada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8h/dia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 úteis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dias/semana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Disponibilidade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90%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Eficiência 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85% 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Rejeição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Setup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min/semana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125" y="-793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/>
          <p:nvPr/>
        </p:nvSpPr>
        <p:spPr>
          <a:xfrm>
            <a:off x="685800" y="62715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PARQUE DE MÁQUINAS - QUANTIDADES FINAIS</a:t>
            </a: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31"/>
          <p:cNvGraphicFramePr/>
          <p:nvPr/>
        </p:nvGraphicFramePr>
        <p:xfrm>
          <a:off x="586163" y="155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{5BC8699D-3FC4-49ED-B972-4155DA869AD9}</a:tableStyleId>
              </a:tblPr>
              <a:tblGrid>
                <a:gridCol w="1869250"/>
                <a:gridCol w="2542625"/>
                <a:gridCol w="2101425"/>
                <a:gridCol w="2426525"/>
                <a:gridCol w="1857600"/>
              </a:tblGrid>
              <a:tr h="8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Equipamento / Maquinário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Operações Realizadas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 Nominal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Qtd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Observação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9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Laser Fibra CNC 1.500 W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Estampagem de blanks (faca e garfo)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20.000 mm/min | Curso 80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Calc. detalhado — Ponto 11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Forno de Têmpera Câmara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Têmpera de blanks (1.050–1.100 °C)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L | Carga: 500 kg | 30 kW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 ~45 min; 1 carga cobre lote diário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Lixadeira de Cinta Industrial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Desbaste, lixamento e polimento das lâminas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 kW | 1.400 m/min | cinta 100mm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estações em linha (sequência granas)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Rebitadeira Pneumática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Fixação de cabos de madeira por rebites inox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Força 1 tf | 6–8 bar | 600 ciclos/h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por estação de montagem (faca/garfo/extra)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Afiadora Automática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Afiamento de facas (fio de corte)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~400 facas/hora | Motor 0,75 kW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 supera demanda com folga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Politriz / Retificadeira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Polimento fino e acabamento superficial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1,5 kW | Disco Ø 250 mm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Acabamento final lâminas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Empilhadeira Elétrica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Movimentação de pallets e armazenagem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Capacidade: 1.500 kg | 3,5 m lift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Logística interna geral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Esteiras Transportadoras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Transporte entre estações produtivas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Largura 300 mm | 0,5 kW/unid.</a:t>
                      </a:r>
                      <a:endParaRPr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Interligam todos os postos</a:t>
                      </a:r>
                      <a:endParaRPr i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SELEÇÃO DE 1 EQUIPAMENTO</a:t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571500" y="571500"/>
            <a:ext cx="114300" cy="6192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809625" y="1643800"/>
            <a:ext cx="4634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Produção necessária: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2000 kits / 5 dias = 200 kits / dia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200 / 8 = 25 kits / hora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 txBox="1"/>
          <p:nvPr/>
        </p:nvSpPr>
        <p:spPr>
          <a:xfrm>
            <a:off x="809625" y="3302775"/>
            <a:ext cx="4634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Produção necessária com perdas :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 / 0,85 x 0,97 = 30,3 kits / hora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 txBox="1"/>
          <p:nvPr/>
        </p:nvSpPr>
        <p:spPr>
          <a:xfrm>
            <a:off x="809625" y="4430750"/>
            <a:ext cx="4634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Capacidade do laser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 60 golpes / min = 3600 ciclos / hora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809625" y="5558725"/>
            <a:ext cx="4634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Quantidade: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 = 60,7 /3600 = 0,017 ≈ 1 laser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6492675" y="1796200"/>
            <a:ext cx="46341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Laser Fibra CNC foi dimensionado para o corte dos blanks de faca e garfo em chapa AISI 420. Considerando a demanda de 1.000 kits por semana (200 kits/dia), sua capacidade nominal de 60 golpes por minuto é significativamente superior à capacidade requerida pelo processo. Dessa forma, uma única unidade é suficiente para atender integralmente a demanda produtiva, não representando gargalo para a linha de produção.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5619750" y="479662"/>
            <a:ext cx="952500" cy="9540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295275" y="860662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Conclusões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571575" y="62550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Kit Churrasco Tramontina | Engenharia de Produção | 202</a:t>
            </a:r>
            <a:r>
              <a:rPr lang="en-US" sz="1500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grpSp>
        <p:nvGrpSpPr>
          <p:cNvPr id="400" name="Google Shape;400;p33"/>
          <p:cNvGrpSpPr/>
          <p:nvPr/>
        </p:nvGrpSpPr>
        <p:grpSpPr>
          <a:xfrm>
            <a:off x="295168" y="2018700"/>
            <a:ext cx="11048723" cy="1876425"/>
            <a:chOff x="2638425" y="3081325"/>
            <a:chExt cx="7024875" cy="1876425"/>
          </a:xfrm>
        </p:grpSpPr>
        <p:pic>
          <p:nvPicPr>
            <p:cNvPr descr="image.png" id="401" name="Google Shape;401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38425" y="3081325"/>
              <a:ext cx="7024875" cy="187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33"/>
            <p:cNvSpPr txBox="1"/>
            <p:nvPr/>
          </p:nvSpPr>
          <p:spPr>
            <a:xfrm>
              <a:off x="3019425" y="3462337"/>
              <a:ext cx="6153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5242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Projeto tecnicamente viável para </a:t>
              </a:r>
              <a:r>
                <a:rPr lang="en-US" sz="1650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b="0" i="0" lang="en-US" sz="1650" u="none" cap="none" strike="noStrike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000 kits/semana.</a:t>
              </a:r>
              <a:endParaRPr/>
            </a:p>
          </p:txBody>
        </p:sp>
        <p:sp>
          <p:nvSpPr>
            <p:cNvPr id="403" name="Google Shape;403;p33"/>
            <p:cNvSpPr txBox="1"/>
            <p:nvPr/>
          </p:nvSpPr>
          <p:spPr>
            <a:xfrm>
              <a:off x="3019425" y="3833812"/>
              <a:ext cx="6153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5242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Linha compacta de 800m² com fluxo otimizado.</a:t>
              </a:r>
              <a:endParaRPr/>
            </a:p>
          </p:txBody>
        </p:sp>
        <p:sp>
          <p:nvSpPr>
            <p:cNvPr id="404" name="Google Shape;404;p33"/>
            <p:cNvSpPr txBox="1"/>
            <p:nvPr/>
          </p:nvSpPr>
          <p:spPr>
            <a:xfrm>
              <a:off x="3019425" y="4205287"/>
              <a:ext cx="6153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5242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Equilíbrio entre recursos próprios (estampagem) e outsourcing.</a:t>
              </a:r>
              <a:endParaRPr/>
            </a:p>
          </p:txBody>
        </p:sp>
        <p:pic>
          <p:nvPicPr>
            <p:cNvPr descr="image.png" id="405" name="Google Shape;40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9425" y="3490912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406" name="Google Shape;406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9425" y="3862387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407" name="Google Shape;407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9425" y="4233862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p33"/>
          <p:cNvGrpSpPr/>
          <p:nvPr/>
        </p:nvGrpSpPr>
        <p:grpSpPr>
          <a:xfrm>
            <a:off x="295293" y="4136875"/>
            <a:ext cx="11048723" cy="1876425"/>
            <a:chOff x="2638425" y="3081325"/>
            <a:chExt cx="7024875" cy="1876425"/>
          </a:xfrm>
        </p:grpSpPr>
        <p:pic>
          <p:nvPicPr>
            <p:cNvPr descr="image.png" id="409" name="Google Shape;409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38425" y="3081325"/>
              <a:ext cx="7024875" cy="187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3019425" y="3462337"/>
              <a:ext cx="6153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5242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O que seria necessário para aprimorar o projeto?</a:t>
              </a:r>
              <a:endParaRPr sz="165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3375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8E8E8"/>
                </a:buClr>
                <a:buSzPts val="1650"/>
                <a:buFont typeface="Lato"/>
                <a:buChar char="-"/>
              </a:pPr>
              <a:r>
                <a:rPr lang="en-US" sz="1650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Capital de investimento superior, possibilitando comprar máquinas melhores </a:t>
              </a:r>
              <a:endParaRPr sz="165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3375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8E8E8"/>
                </a:buClr>
                <a:buSzPts val="1650"/>
                <a:buFont typeface="Lato"/>
                <a:buChar char="-"/>
              </a:pPr>
              <a:r>
                <a:rPr lang="en-US" sz="1650">
                  <a:solidFill>
                    <a:srgbClr val="E8E8E8"/>
                  </a:solidFill>
                  <a:latin typeface="Lato"/>
                  <a:ea typeface="Lato"/>
                  <a:cs typeface="Lato"/>
                  <a:sym typeface="Lato"/>
                </a:rPr>
                <a:t>Parceiros logísticos fixos para entrega dos produtos a comprar com preço inferior </a:t>
              </a:r>
              <a:endParaRPr sz="165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descr="image.png" id="411" name="Google Shape;411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9425" y="3490912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7" name="Google Shape;417;p34"/>
          <p:cNvGraphicFramePr/>
          <p:nvPr/>
        </p:nvGraphicFramePr>
        <p:xfrm>
          <a:off x="571500" y="26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{C85B2FC3-EC09-4A34-8C88-7F451D0598A5}</a:tableStyleId>
              </a:tblPr>
              <a:tblGrid>
                <a:gridCol w="4841675"/>
                <a:gridCol w="4692700"/>
                <a:gridCol w="151462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Equipamento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Capacidade / Força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Qtd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303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Laser Fibra CNC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 toneladas força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Forno de Têmpera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Câmara 600L | 1.100°C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Lixadeira de Cinta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2.200 W | Industrial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Rebitadeira Pneumática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Força 1 ton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Afiadora Automática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400 facas / hora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8E8E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34"/>
          <p:cNvSpPr/>
          <p:nvPr/>
        </p:nvSpPr>
        <p:spPr>
          <a:xfrm>
            <a:off x="571500" y="3533775"/>
            <a:ext cx="48416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5413176" y="3533775"/>
            <a:ext cx="46926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10105876" y="3533775"/>
            <a:ext cx="15146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571500" y="3952875"/>
            <a:ext cx="48416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413176" y="3952875"/>
            <a:ext cx="46926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10105876" y="3952875"/>
            <a:ext cx="15146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571500" y="4371975"/>
            <a:ext cx="48416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5413176" y="4371975"/>
            <a:ext cx="46926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10105876" y="4371975"/>
            <a:ext cx="15146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571500" y="4791075"/>
            <a:ext cx="48416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5413176" y="4791075"/>
            <a:ext cx="46926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0105876" y="4791075"/>
            <a:ext cx="15146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571500" y="5210175"/>
            <a:ext cx="48416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5413176" y="5210175"/>
            <a:ext cx="46926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10105876" y="5210175"/>
            <a:ext cx="15146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PARQUE DE MÁQUINAS</a:t>
            </a:r>
            <a:endParaRPr/>
          </a:p>
        </p:txBody>
      </p:sp>
      <p:sp>
        <p:nvSpPr>
          <p:cNvPr id="434" name="Google Shape;434;p34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9" name="Google Shape;4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09900"/>
            <a:ext cx="5286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24275"/>
            <a:ext cx="5286375" cy="113287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5"/>
          <p:cNvSpPr txBox="1"/>
          <p:nvPr/>
        </p:nvSpPr>
        <p:spPr>
          <a:xfrm>
            <a:off x="571500" y="26289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Dimensionamento</a:t>
            </a:r>
            <a:endParaRPr/>
          </a:p>
        </p:txBody>
      </p:sp>
      <p:sp>
        <p:nvSpPr>
          <p:cNvPr id="443" name="Google Shape;443;p35"/>
          <p:cNvSpPr txBox="1"/>
          <p:nvPr/>
        </p:nvSpPr>
        <p:spPr>
          <a:xfrm>
            <a:off x="571500" y="3171825"/>
            <a:ext cx="52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Cálculo da quantidade de lasers para meta de 1.000 kits/semana (200/dia + rejeitos).</a:t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6724650" y="3343275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Resultado Final</a:t>
            </a:r>
            <a:endParaRPr/>
          </a:p>
        </p:txBody>
      </p:sp>
      <p:sp>
        <p:nvSpPr>
          <p:cNvPr id="445" name="Google Shape;445;p35"/>
          <p:cNvSpPr txBox="1"/>
          <p:nvPr/>
        </p:nvSpPr>
        <p:spPr>
          <a:xfrm>
            <a:off x="6724650" y="3886200"/>
            <a:ext cx="45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1 Laser Fibra CNC é suficiente para a demanda, operando com utilização de 49%.</a:t>
            </a: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6724650" y="4362450"/>
            <a:ext cx="4562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Considerado setup de molde de 30 minutos entre lotes de facas e garfos.</a:t>
            </a:r>
            <a:endParaRPr/>
          </a:p>
        </p:txBody>
      </p:sp>
      <p:pic>
        <p:nvPicPr>
          <p:cNvPr descr="image.png" id="447" name="Google Shape;44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971925"/>
            <a:ext cx="47910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MEMORIAL DE CÁLCULO (PRENSA)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5"/>
          <p:cNvSpPr txBox="1"/>
          <p:nvPr/>
        </p:nvSpPr>
        <p:spPr>
          <a:xfrm>
            <a:off x="2083950" y="4124650"/>
            <a:ext cx="226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Db = 200 / 0,97 = 206,2 kits/dia 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1902650" y="4347875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Capacidade = 80 × 7 × 0,85 × 0,92 = 437 kits/dia 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1902650" y="4571100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N = 412,37 / 1360 = 0,3 -&gt; 1 laser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09625" y="2033587"/>
            <a:ext cx="49506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LAYOUT INDUSTRIAL</a:t>
            </a:r>
            <a:endParaRPr/>
          </a:p>
        </p:txBody>
      </p:sp>
      <p:sp>
        <p:nvSpPr>
          <p:cNvPr id="459" name="Google Shape;459;p36"/>
          <p:cNvSpPr/>
          <p:nvPr/>
        </p:nvSpPr>
        <p:spPr>
          <a:xfrm>
            <a:off x="571500" y="2033587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571500" y="3033712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8A1A"/>
                </a:solidFill>
                <a:latin typeface="Poppins"/>
                <a:ea typeface="Poppins"/>
                <a:cs typeface="Poppins"/>
                <a:sym typeface="Poppins"/>
              </a:rPr>
              <a:t>Arranjo Físico Proposto</a:t>
            </a:r>
            <a:endParaRPr/>
          </a:p>
        </p:txBody>
      </p:sp>
      <p:sp>
        <p:nvSpPr>
          <p:cNvPr id="461" name="Google Shape;461;p36"/>
          <p:cNvSpPr txBox="1"/>
          <p:nvPr/>
        </p:nvSpPr>
        <p:spPr>
          <a:xfrm>
            <a:off x="571500" y="3576637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Planta dimensionada em 384 m² (24 × 16 m) focada em fluxo linear para minimizar movimentação de materiais.</a:t>
            </a:r>
            <a:endParaRPr/>
          </a:p>
        </p:txBody>
      </p:sp>
      <p:sp>
        <p:nvSpPr>
          <p:cNvPr id="462" name="Google Shape;462;p36"/>
          <p:cNvSpPr txBox="1"/>
          <p:nvPr/>
        </p:nvSpPr>
        <p:spPr>
          <a:xfrm>
            <a:off x="571500" y="4052887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Setores: Recebimento -&gt; Estampagem -&gt; Tratamento Térmico -&gt; Polimento -&gt; Montagem -&gt; Expedição.</a:t>
            </a:r>
            <a:endParaRPr/>
          </a:p>
        </p:txBody>
      </p:sp>
      <p:sp>
        <p:nvSpPr>
          <p:cNvPr id="463" name="Google Shape;463;p36"/>
          <p:cNvSpPr txBox="1"/>
          <p:nvPr/>
        </p:nvSpPr>
        <p:spPr>
          <a:xfrm>
            <a:off x="571500" y="4529137"/>
            <a:ext cx="495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48A1A"/>
                </a:solidFill>
                <a:latin typeface="Lato"/>
                <a:ea typeface="Lato"/>
                <a:cs typeface="Lato"/>
                <a:sym typeface="Lato"/>
              </a:rPr>
              <a:t>Fluxo otimizado para produção puxada.</a:t>
            </a:r>
            <a:endParaRPr/>
          </a:p>
        </p:txBody>
      </p:sp>
      <p:pic>
        <p:nvPicPr>
          <p:cNvPr descr="image.png" id="464" name="Google Shape;4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7335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5976342" cy="864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3592" y="1571625"/>
            <a:ext cx="3905250" cy="86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7"/>
          <p:cNvSpPr txBox="1"/>
          <p:nvPr/>
        </p:nvSpPr>
        <p:spPr>
          <a:xfrm>
            <a:off x="571500" y="10220325"/>
            <a:ext cx="597634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Prensa 60t:</a:t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Recorte preciso das lâminas em aço inox.</a:t>
            </a:r>
            <a:endParaRPr/>
          </a:p>
        </p:txBody>
      </p:sp>
      <p:sp>
        <p:nvSpPr>
          <p:cNvPr id="473" name="Google Shape;473;p37"/>
          <p:cNvSpPr txBox="1"/>
          <p:nvPr/>
        </p:nvSpPr>
        <p:spPr>
          <a:xfrm>
            <a:off x="6833592" y="10220325"/>
            <a:ext cx="3905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Forno de Têmpera:</a:t>
            </a: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 Garantia da dureza Rockwell necessária.</a:t>
            </a:r>
            <a:endParaRPr/>
          </a:p>
        </p:txBody>
      </p:sp>
      <p:pic>
        <p:nvPicPr>
          <p:cNvPr descr="image.png" id="474" name="Google Shape;47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590675"/>
            <a:ext cx="5938241" cy="86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2642" y="1590675"/>
            <a:ext cx="12096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MAQUINÁRIO PRINCIPAL</a:t>
            </a:r>
            <a:endParaRPr/>
          </a:p>
        </p:txBody>
      </p:sp>
      <p:sp>
        <p:nvSpPr>
          <p:cNvPr id="477" name="Google Shape;477;p37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/>
          <p:nvPr/>
        </p:nvSpPr>
        <p:spPr>
          <a:xfrm>
            <a:off x="571500" y="23336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571500" y="3105150"/>
            <a:ext cx="11049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71500" y="3933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571500" y="3095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571500" y="3095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2" name="Google Shape;49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14763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1666875" y="2524125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https://assets.tramontina.com.br/upload/tramon/imagens/CUT/22399036PDM001G.jpg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1666875" y="272415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global.tramontina.com</a:t>
            </a:r>
            <a:endParaRPr/>
          </a:p>
        </p:txBody>
      </p:sp>
      <p:pic>
        <p:nvPicPr>
          <p:cNvPr descr="image.png" id="495" name="Google Shape;4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6600"/>
            <a:ext cx="9144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8"/>
          <p:cNvSpPr txBox="1"/>
          <p:nvPr/>
        </p:nvSpPr>
        <p:spPr>
          <a:xfrm>
            <a:off x="1666875" y="3248025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https://netrinoimages.s3.eu-west-2.amazonaws.com/2019/08/11/633139/501874/production_line_layout_workshop_factory_industrial_floor_plan_3d_model_c4d_max_obj_fbx_ma_lwo_3ds_3dm_stl_5138621.webp</a:t>
            </a:r>
            <a:endParaRPr/>
          </a:p>
        </p:txBody>
      </p:sp>
      <p:sp>
        <p:nvSpPr>
          <p:cNvPr id="497" name="Google Shape;497;p38"/>
          <p:cNvSpPr txBox="1"/>
          <p:nvPr/>
        </p:nvSpPr>
        <p:spPr>
          <a:xfrm>
            <a:off x="1666875" y="360045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3dexport.com</a:t>
            </a:r>
            <a:endParaRPr/>
          </a:p>
        </p:txBody>
      </p:sp>
      <p:pic>
        <p:nvPicPr>
          <p:cNvPr descr="image.png" id="498" name="Google Shape;49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6700"/>
            <a:ext cx="14382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8"/>
          <p:cNvSpPr txBox="1"/>
          <p:nvPr/>
        </p:nvSpPr>
        <p:spPr>
          <a:xfrm>
            <a:off x="1666875" y="4124325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http://stampingpress4u.com/upload/3190/o/1-6-60t-precision-metal-stamping-press_01.jpg</a:t>
            </a:r>
            <a:endParaRPr/>
          </a:p>
        </p:txBody>
      </p:sp>
      <p:sp>
        <p:nvSpPr>
          <p:cNvPr id="500" name="Google Shape;500;p38"/>
          <p:cNvSpPr txBox="1"/>
          <p:nvPr/>
        </p:nvSpPr>
        <p:spPr>
          <a:xfrm>
            <a:off x="1666875" y="432435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stampingpress4u.com</a:t>
            </a:r>
            <a:endParaRPr/>
          </a:p>
        </p:txBody>
      </p:sp>
      <p:pic>
        <p:nvPicPr>
          <p:cNvPr descr="image.png" id="501" name="Google Shape;501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76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8"/>
          <p:cNvSpPr txBox="1"/>
          <p:nvPr/>
        </p:nvSpPr>
        <p:spPr>
          <a:xfrm>
            <a:off x="1666875" y="4848225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https://www.wisoven.com/sites/default/files/styles/product_slideshow/public/2016-11/Wisconsin%20Oven%20Daw%20and%20Temper%20Furnace%20601SM10740_SDB-668-12E%20with%20load%20table.JPG?itok=q_DrRHfK</a:t>
            </a:r>
            <a:endParaRPr/>
          </a:p>
        </p:txBody>
      </p:sp>
      <p:sp>
        <p:nvSpPr>
          <p:cNvPr id="503" name="Google Shape;503;p38"/>
          <p:cNvSpPr txBox="1"/>
          <p:nvPr/>
        </p:nvSpPr>
        <p:spPr>
          <a:xfrm>
            <a:off x="1666875" y="520065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www.wisoven.com</a:t>
            </a:r>
            <a:endParaRPr/>
          </a:p>
        </p:txBody>
      </p:sp>
      <p:sp>
        <p:nvSpPr>
          <p:cNvPr id="504" name="Google Shape;504;p38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FONTES DE PESQUISA</a:t>
            </a:r>
            <a:endParaRPr/>
          </a:p>
        </p:txBody>
      </p:sp>
      <p:sp>
        <p:nvSpPr>
          <p:cNvPr id="505" name="Google Shape;505;p38"/>
          <p:cNvSpPr/>
          <p:nvPr/>
        </p:nvSpPr>
        <p:spPr>
          <a:xfrm>
            <a:off x="571500" y="571500"/>
            <a:ext cx="114300" cy="619125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7777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Fluxograma do Processo (1/2)</a:t>
            </a:r>
          </a:p>
        </p:txBody>
      </p:sp>
      <p:pic>
        <p:nvPicPr>
          <p:cNvPr id="4" name="Picture 3" descr="flux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594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7777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Fluxograma do Processo (2/2)</a:t>
            </a:r>
          </a:p>
        </p:txBody>
      </p:sp>
      <p:pic>
        <p:nvPicPr>
          <p:cNvPr id="4" name="Picture 3" descr="fluxo_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594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
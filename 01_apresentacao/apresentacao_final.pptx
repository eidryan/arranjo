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82" r:id="rId42"/>
    <p:sldId id="283" r:id="rId43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y="6858000" cx="12192000"/>
  <p:notesSz cx="6858000" cy="9144000"/>
  <p:embeddedFontLst>
    <p:embeddedFont>
      <p:font typeface="Lato"/>
      <p:regular r:id="rId34"/>
      <p:bold r:id="rId35"/>
      <p:italic r:id="rId36"/>
      <p:boldItalic r:id="rId37"/>
    </p:embeddedFont>
    <p:embeddedFont>
      <p:font typeface="Poppi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6" name="João Deccax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B2FC3-EC09-4A34-8C88-7F451D0598A5}">
  <a:tblStyle styleId="{C85B2FC3-EC09-4A34-8C88-7F451D0598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5BC8699D-3FC4-49ED-B972-4155DA869AD9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font" Target="fonts/Lato-regular.fntdata"/><Relationship Id="rId35" Type="http://schemas.openxmlformats.org/officeDocument/2006/relationships/font" Target="fonts/Lato-bold.fntdata"/><Relationship Id="rId36" Type="http://schemas.openxmlformats.org/officeDocument/2006/relationships/font" Target="fonts/Lato-italic.fntdata"/><Relationship Id="rId37" Type="http://schemas.openxmlformats.org/officeDocument/2006/relationships/font" Target="fonts/Lato-boldItalic.fntdata"/><Relationship Id="rId38" Type="http://schemas.openxmlformats.org/officeDocument/2006/relationships/font" Target="fonts/Poppins-regular.fntdata"/><Relationship Id="rId39" Type="http://schemas.openxmlformats.org/officeDocument/2006/relationships/font" Target="fonts/Poppins-bold.fntdata"/><Relationship Id="rId40" Type="http://schemas.openxmlformats.org/officeDocument/2006/relationships/font" Target="fonts/Poppins-italic.fntdata"/><Relationship Id="rId41" Type="http://schemas.openxmlformats.org/officeDocument/2006/relationships/font" Target="fonts/Poppins-boldItalic.fntdata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03T16:44:10.306">
    <p:pos x="6000" y="0"/>
    <p:text>Ponto 12: Desenho esquemático do arranjo físico com representação das áreas de produção, estoque, transporte e inspeção, localizando (com dimensões aproximadas) os equipamentos e mobiliários previstos para a instalação. Apresentar, no mínimo, as dimensões totais.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6-03T16:43:52.913">
    <p:pos x="6000" y="0"/>
    <p:text>Pontos 9 e 13: Fluxograma do processo para fabricação industrial, utilizando os ícones representativos dos tipos de processos (operação, transporte, inspeção, armazenagem, espera) e a numeração correspondente a tabela 2. e Mapofluxograma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03T16:43:13.663">
    <p:pos x="0" y="0"/>
    <p:text>Ponto 10: Tabela 3 com tipos de equipamentos selecionados, fornecedores, medidas aproximadas, capacidade informada pelo fabricante.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03T16:45:24.232">
    <p:pos x="6000" y="0"/>
    <p:text>Ponto 11: Seleção de 1 equipamento - Informações sobre o equipamento e cálculo de quantidade necessária para atender à demanda. Apresentar descritivo de cálculo e premissas consideradas sobre turnos de trabalho, horas úteis disponíveis para produção, capacidade nominal do equipamento, confiabilidade, as operações que serão realizadas nele, tempos padrão considerados, eficiência e % de produção boa. OBS.: As mesmas premissas, com exceção da capacidade nominal e das operações. deverão ser consideradas para a definição da quantidade dos demais equipamentos/maquinário da fábrica. No entanto, para os demais equipamentos não deverá ser apresentada a memória de cálculo.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03T16:43:29.222">
    <p:pos x="6000" y="0"/>
    <p:text>Ponto 14: Conclusões, incluindo reflexão sobre o que seria necessário para aprimorar o projeto.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03T16:42:38.604">
    <p:pos x="6000" y="0"/>
    <p:text>Desse slide para baixo foi tudo feito pela IA (acredito eu) e não parece precisar deles nas orientações da Suzana, acho que podemos deletar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8071531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e8071531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8e94d5e4_7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18e94d5e4_7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80a6f9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e80a6f9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80a6f95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80a6f957d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80a6f957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80a6f957d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80a6f957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e80a6f957d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e80a6f957d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e80a6f957d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e8e9bc890a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e8e9bc890a_1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8c1e322f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8c1e322f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5.png"/><Relationship Id="rId8" Type="http://schemas.openxmlformats.org/officeDocument/2006/relationships/image" Target="../media/image1.png"/><Relationship Id="rId9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Relationship Id="rId9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.xml"/><Relationship Id="rId4" Type="http://schemas.openxmlformats.org/officeDocument/2006/relationships/image" Target="../media/image3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Relationship Id="rId5" Type="http://schemas.openxmlformats.org/officeDocument/2006/relationships/image" Target="../media/image4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3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5.xml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6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23.png"/><Relationship Id="rId7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9162" y="1537394"/>
            <a:ext cx="10353675" cy="378321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28762" y="2146994"/>
            <a:ext cx="9134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00400" y="2585144"/>
            <a:ext cx="9591198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Kit Churrasco Tramontina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528762" y="3529905"/>
            <a:ext cx="9134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Engenharia de Produção | Grupo A | 202</a:t>
            </a:r>
            <a:r>
              <a:rPr lang="en-US" sz="18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5143500" y="4091880"/>
            <a:ext cx="1905000" cy="381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528762" y="4415730"/>
            <a:ext cx="9134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Cód. Tramontina: 22399/036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Grupo 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Integrantes responsáveis pelo planejamento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  produção do Kit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Churrasco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da Tramontina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683174" y="4167187"/>
            <a:ext cx="282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Adrian Vilela, André Bapista, Bernardo Gomes, Clara Barboza, João Pedro Deccax, Leonardo Nespoli e Lucas de Mello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Orientação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461474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Professora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: Suzana Dantas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Disciplina: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Semestre: 202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6.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/>
          </a:p>
        </p:txBody>
      </p:sp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EQUIPE DO PROJETO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04875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Objetivo Geral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4167187"/>
            <a:ext cx="2825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Estruturar e implementar uma unidade fabril capaz de produzir o Kit Churrasco Tramontina (3 peças) em escala industrial, garantindo a viabilidade técnica e econômica do processo.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Processos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83174" y="4167187"/>
            <a:ext cx="282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Definição detalhada dos fluxos produtivos, tipos de operações (estampagem, tratamento térmico, polimento, montagem) e os recursos físicos (maquinário e mobiliário) indispensáveis.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Calcular a carga de máquinas e layout para atender à meta de 5.000 kits semanais.</a:t>
            </a:r>
            <a:endParaRPr/>
          </a:p>
        </p:txBody>
      </p:sp>
      <p:pic>
        <p:nvPicPr>
          <p:cNvPr descr="image.png" id="124" name="Google Shape;12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 PROJETO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27765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Churrasco Dynamic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8200" y="33670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52500" y="33670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1: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Faca 8" em Aço Inox AISI 420.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38200" y="36718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952500" y="36718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2: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Garfo Trinchante Inox Estampado.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38200" y="3976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952500" y="39766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3: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Tábua de Madeira (35x22x1.8cm).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8200" y="42814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52500" y="42814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Cabos: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Madeira natural rebitada.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3820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52500" y="45862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Diferencial: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Tratamento térmico para durabilidade do fio.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DESCRIÇÃO DO PRODUTO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0725" y="1399200"/>
            <a:ext cx="4850151" cy="485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04875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Faca &amp; Garfo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Faca: Lâmina 200mm | Cabo 120mm | Total 320mm.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4019550"/>
            <a:ext cx="4619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Garfo: Comprimento total ≈ 330mm.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43243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Aço Inox AISI 420 (Alta Resistência).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667500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Tábua de Corte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0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Dimensões: 350 x 220 x 18 mm.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667500" y="40195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Madeira Certificada (Eucalipto/Pinus).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31482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Fixação: 3 Rebites de aço inox por cabo.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DIMENSÕES TÉCNICAS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9" name="Google Shape;1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904875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0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904875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Acabado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904875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Produto final embalado em caixa display kraft com janela.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46831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1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46831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Subconjuntos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46831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 montada, Garfo montado, Tábua processada e Embalagem.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84614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2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84614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Insumos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84614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Chapas de Inox, cabos de madeira, rebites e caixa display.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ESTRUTURA DO PRODUTO </a:t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Doméstico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04875" y="4167187"/>
            <a:ext cx="2825799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Consumidores finais (B2C) que buscam qualidade Tramontina para churrascos em família.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Presentes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46831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Mercado sazonal de alto giro (Dia dos Pais, Natal) devido à embalagem atrativa.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Varejo/B2B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Grandes redes de supermercados e lojas de utilidades que adquirem volumes elevados.</a:t>
            </a:r>
            <a:endParaRPr/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SEGMENTOS DE MERCADO VISADOS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7" name="Google Shape;20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6487"/>
            <a:ext cx="11049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1766875" y="3076575"/>
            <a:ext cx="3980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0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10500" u="none" cap="none" strike="noStrike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.000</a:t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1766887" y="4505325"/>
            <a:ext cx="38385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KITS POR SEMANA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6417294" y="2431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Premissas Operacionais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6808023" y="29670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6975532" y="29670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Diária: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400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kits.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6808023" y="33099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6975532" y="33099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Turnos: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1 turno de 8 horas.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6808023" y="36528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975532" y="36528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Eficiência: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η = 85% | Rejeito = 3%.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808023" y="39957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975532" y="39957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Estoque: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2 semanas de segurança.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META DE PRODUÇÃO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6417294" y="4338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Justifcativa 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417300" y="4773625"/>
            <a:ext cx="500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lt1"/>
                </a:solidFill>
              </a:rPr>
              <a:t>O número escolhido foi de 2.000 kits por semana pois foi levado em conta a quantidade de horas no turno de trabalho, a </a:t>
            </a:r>
            <a:r>
              <a:rPr lang="en-US" sz="1000">
                <a:solidFill>
                  <a:schemeClr val="lt1"/>
                </a:solidFill>
              </a:rPr>
              <a:t>eficiência</a:t>
            </a:r>
            <a:r>
              <a:rPr lang="en-US" sz="1000">
                <a:solidFill>
                  <a:schemeClr val="lt1"/>
                </a:solidFill>
              </a:rPr>
              <a:t> e número de rejeito e a capacidade diária de produção dos kits.</a:t>
            </a:r>
            <a:endParaRPr sz="1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21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711075"/>
                <a:gridCol w="4732150"/>
                <a:gridCol w="1288550"/>
                <a:gridCol w="331722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21"/>
          <p:cNvSpPr/>
          <p:nvPr/>
        </p:nvSpPr>
        <p:spPr>
          <a:xfrm>
            <a:off x="571500" y="33242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2282576" y="33242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7014716" y="33242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8303269" y="33242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571500" y="37433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282576" y="37433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14716" y="37433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8303269" y="37433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571500" y="41624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2576" y="41624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014716" y="41624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8303269" y="41624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71500" y="45815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2282576" y="45815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7014716" y="45815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8303269" y="45815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71500" y="50006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2282576" y="50006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7014716" y="50006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8303269" y="50006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71500" y="54197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2576" y="54197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7014716" y="54197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8303269" y="54197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COMPONENTES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2"/>
          <p:cNvPicPr preferRelativeResize="0"/>
          <p:nvPr/>
        </p:nvPicPr>
        <p:blipFill rotWithShape="1">
          <a:blip r:embed="rId3">
            <a:alphaModFix/>
          </a:blip>
          <a:srcRect b="33500" l="-3440" r="3440" t="-3350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JUSTIFICATIVAS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7" name="Google Shape;287;p22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315975"/>
                <a:gridCol w="3639475"/>
                <a:gridCol w="991025"/>
                <a:gridCol w="2551275"/>
                <a:gridCol w="255127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Justificativa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do corte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3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PAIS E FILHOS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23" title="Flow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725" y="1938199"/>
            <a:ext cx="11500227" cy="348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5" name="Google Shape;325;p24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Balança, mesa de inspeção e micrômetro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Empilhadeira, caixas e pallet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Aço Inox para o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do aço inox para blanks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corte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dos blanks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 e blancks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Tratamento térmico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 de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resfriamento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Chiller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Redobrar, lixar, e polir garfo e faca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Politriz industrial, retificadeira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Afiar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Afiodores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garfos e facas semi acabadas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Caixas, empilhadeiras, garfos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(P1)</a:t>
            </a:r>
            <a:endParaRPr/>
          </a:p>
        </p:txBody>
      </p:sp>
      <p:sp>
        <p:nvSpPr>
          <p:cNvPr id="327" name="Google Shape;327;p2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3" name="Google Shape;333;p25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madeira para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da tábua e blanks dos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Serra industrial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Fresar tábua e furar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Fresa, furadeira,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Lixar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Acabamento superficial dos cabos e tábua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Plaina,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Aguardar cura e secagem do acabamento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peças de madeira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peças de madeira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garfos e facas semi acabados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garfos e facas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semi acabados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dos parafusos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parafusos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34" name="Google Shape;334;p2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1" name="Google Shape;341;p26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de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Parafusadeira, parafusos, cabos de madeira, garfos e facas semi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das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garfos e facas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da cartela para 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do kit na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Tábua, garfo, faca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 kit finalizado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kit finalizado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kit finalizado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 finalizado, caixas, pallet e empilhadeira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26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7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DESENHO ESQUEMÁTICO DO ARRANJO FÍSICO</a:t>
            </a:r>
            <a:endParaRPr/>
          </a:p>
        </p:txBody>
      </p:sp>
      <p:sp>
        <p:nvSpPr>
          <p:cNvPr id="349" name="Google Shape;349;p27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0" name="Picture 349" descr="layout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263852"/>
            <a:ext cx="8961120" cy="38064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MAPO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FLUXOGRAMA D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PRODUÇÃO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475" y="1155425"/>
            <a:ext cx="7439689" cy="547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Picture 356" descr="mapofluxograma_ren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6702376"/>
            <a:ext cx="8961120" cy="-16320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EQUIPAMENTOS</a:t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4" name="Google Shape;364;p29"/>
          <p:cNvGraphicFramePr/>
          <p:nvPr/>
        </p:nvGraphicFramePr>
        <p:xfrm>
          <a:off x="685825" y="1445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Fornecedor(es)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Medidas Aprox.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(Fabricante)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Excêntrica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Harlo do Brasil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1.850 × 1.200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2.400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tf | 60 golpes/min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Curso: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Mesa: 600×400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Jung Industrial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(Joinville-SC)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Eletro Fornos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× 900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1.300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Câmara: 600 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Até 1.200 °C | PID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Carga: 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Potência: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Cinta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Ferromax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Formfer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 × 600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2,2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Cinta: 100×1.200mm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Pram Ferramentas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Metalurgica Basso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 × 250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500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~25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Força: 1 tf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Ar: 6–8 bar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ciclos/hora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Mecanofar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MPA Máquinas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1.100 × 700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~120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≤ 610 mm/faca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1" name="Google Shape;371;p30"/>
          <p:cNvGraphicFramePr/>
          <p:nvPr/>
        </p:nvGraphicFramePr>
        <p:xfrm>
          <a:off x="1340000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54450"/>
                <a:gridCol w="2357425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 Excêntrica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Harlo do Brasil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golpes/min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x 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372" name="Google Shape;372;p30"/>
          <p:cNvGraphicFramePr/>
          <p:nvPr/>
        </p:nvGraphicFramePr>
        <p:xfrm>
          <a:off x="6799025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68875"/>
                <a:gridCol w="2343000"/>
              </a:tblGrid>
              <a:tr h="65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Parâmetro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Turnos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turno/dia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Jornada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8h/dia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 úteis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dias/semana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Eficiência 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85% 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Rejeição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Setup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min/semana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125" y="-793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685800" y="62715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 - QUANTIDADES FINAIS</a:t>
            </a:r>
            <a:endParaRPr/>
          </a:p>
        </p:txBody>
      </p:sp>
      <p:sp>
        <p:nvSpPr>
          <p:cNvPr id="379" name="Google Shape;379;p31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0" name="Google Shape;380;p31"/>
          <p:cNvGraphicFramePr/>
          <p:nvPr/>
        </p:nvGraphicFramePr>
        <p:xfrm>
          <a:off x="586163" y="1554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 / Maquinário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Operações Realizadas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39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 Excêntrica 60 tf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Estampagem de blanks (faca e garfo)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 golpes/min | Curso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Calc. detalhado — Ponto 11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 Têmpera Câmara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 de blanks (1.050–1.100 °C)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L | Carga: 500 kg |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Ciclo ~45 min; 1 carga cobre lote diário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 de Cinta Industrial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Desbaste, lixamento e polimento das lâminas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 kW | 1.400 m/min | cinta 100mm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estações em linha (sequência granas)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 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Fixação de cabos de madeira por rebites inox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 1 tf | 6–8 bar | 600 ciclos/h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por estação de montagem (faca/garfo/extra)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 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Afiamento de facas (fio de corte)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 | 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supera demanda com folga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Politriz / Retificadeira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Polimento fino e acabamento superficial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1,5 kW | Disco Ø 250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Acabamento final lâminas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Empilhadeira Elétrica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Movimentação de pallets e armazenagem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Capacidade: 1.500 kg | 3,5 m lift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Logística interna geral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Esteiras Transportadoras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Transporte entre estações produtivas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Largura 300 mm | 0,5 kW/unid.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Interligam todos os postos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809625" y="1643800"/>
            <a:ext cx="4634100" cy="12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2000 kits / 5 dias = 400 kits / dia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400 / 8 = 50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2"/>
          <p:cNvSpPr txBox="1"/>
          <p:nvPr/>
        </p:nvSpPr>
        <p:spPr>
          <a:xfrm>
            <a:off x="809625" y="330277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 com perdas :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50 / 0,85 x 0,97 = 60,7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809625" y="4430750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Capacidade da prensa</a:t>
            </a: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 60 golpes / min = 3600 ciclos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809625" y="555872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Quantidade: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 = 60,7 /3600 = 0,017 ≈ 1 prensa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6492675" y="1796200"/>
            <a:ext cx="46341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 Prensa Excêntrica foi dimensionada para as operações de corte e estampagem dos componentes metálicos. Considerando a demanda de 2.000 kits por semana (400 kits/dia), sua capacidade nominal de 60 golpes por minuto é significativamente superior à capacidade requerida pelo processo. Dessa forma, uma única unidade é suficiente para atender integralmente a demanda produtiva, não representando gargalo para a linha de produção.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3"/>
          <p:cNvSpPr/>
          <p:nvPr/>
        </p:nvSpPr>
        <p:spPr>
          <a:xfrm>
            <a:off x="5619750" y="479662"/>
            <a:ext cx="952500" cy="954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295275" y="86066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Conclusões</a:t>
            </a:r>
            <a:endParaRPr/>
          </a:p>
        </p:txBody>
      </p:sp>
      <p:sp>
        <p:nvSpPr>
          <p:cNvPr id="399" name="Google Shape;399;p33"/>
          <p:cNvSpPr txBox="1"/>
          <p:nvPr/>
        </p:nvSpPr>
        <p:spPr>
          <a:xfrm>
            <a:off x="571575" y="625503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Kit Churrasco Tramontina | Engenharia de Produção | 202</a:t>
            </a:r>
            <a:r>
              <a:rPr lang="en-US" sz="15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295168" y="2018700"/>
            <a:ext cx="11048723" cy="1876425"/>
            <a:chOff x="2638425" y="3081325"/>
            <a:chExt cx="7024875" cy="1876425"/>
          </a:xfrm>
        </p:grpSpPr>
        <p:pic>
          <p:nvPicPr>
            <p:cNvPr descr="image.png" id="401" name="Google Shape;401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2" name="Google Shape;402;p33"/>
            <p:cNvSpPr txBox="1"/>
            <p:nvPr/>
          </p:nvSpPr>
          <p:spPr>
            <a:xfrm>
              <a:off x="3019425" y="346233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Projeto tecnicamente viável para </a:t>
              </a: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000 kits/semana.</a:t>
              </a:r>
              <a:endParaRPr/>
            </a:p>
          </p:txBody>
        </p:sp>
        <p:sp>
          <p:nvSpPr>
            <p:cNvPr id="403" name="Google Shape;403;p33"/>
            <p:cNvSpPr txBox="1"/>
            <p:nvPr/>
          </p:nvSpPr>
          <p:spPr>
            <a:xfrm>
              <a:off x="3019425" y="3833812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Linha compacta de 800m² com fluxo otimizado.</a:t>
              </a:r>
              <a:endParaRPr/>
            </a:p>
          </p:txBody>
        </p:sp>
        <p:sp>
          <p:nvSpPr>
            <p:cNvPr id="404" name="Google Shape;404;p33"/>
            <p:cNvSpPr txBox="1"/>
            <p:nvPr/>
          </p:nvSpPr>
          <p:spPr>
            <a:xfrm>
              <a:off x="3019425" y="420528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Equilíbrio entre recursos próprios (estampagem) e outsourcing.</a:t>
              </a:r>
              <a:endParaRPr/>
            </a:p>
          </p:txBody>
        </p:sp>
        <p:pic>
          <p:nvPicPr>
            <p:cNvPr descr="image.png" id="405" name="Google Shape;405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6" name="Google Shape;406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862387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7" name="Google Shape;407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423386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8" name="Google Shape;408;p33"/>
          <p:cNvGrpSpPr/>
          <p:nvPr/>
        </p:nvGrpSpPr>
        <p:grpSpPr>
          <a:xfrm>
            <a:off x="295293" y="4136875"/>
            <a:ext cx="11048723" cy="1876425"/>
            <a:chOff x="2638425" y="3081325"/>
            <a:chExt cx="7024875" cy="1876425"/>
          </a:xfrm>
        </p:grpSpPr>
        <p:pic>
          <p:nvPicPr>
            <p:cNvPr descr="image.png" id="409" name="Google Shape;409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0" name="Google Shape;410;p33"/>
            <p:cNvSpPr txBox="1"/>
            <p:nvPr/>
          </p:nvSpPr>
          <p:spPr>
            <a:xfrm>
              <a:off x="3019425" y="3462337"/>
              <a:ext cx="6153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O que seria necessário para aprimorar o projeto?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Capital de investimento superior, possibilitando comprar máquinas melhores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Parceiros logísticos fixos para entrega dos produtos a comprar com preço inferior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descr="image.png" id="411" name="Google Shape;411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7" name="Google Shape;417;p34"/>
          <p:cNvGraphicFramePr/>
          <p:nvPr/>
        </p:nvGraphicFramePr>
        <p:xfrm>
          <a:off x="571500" y="26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4841675"/>
                <a:gridCol w="4692700"/>
                <a:gridCol w="15146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Equipamento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Capacidade /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Prensa Excêntrica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60 toneladas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de Têmpera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Câmara 600L | 1.100°C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 de Cinta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2.200 W | Industrial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Rebitadeira Pneumática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Força 1 ton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Afiadora Automática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facas / hora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418" name="Google Shape;418;p34"/>
          <p:cNvSpPr/>
          <p:nvPr/>
        </p:nvSpPr>
        <p:spPr>
          <a:xfrm>
            <a:off x="571500" y="35337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4"/>
          <p:cNvSpPr/>
          <p:nvPr/>
        </p:nvSpPr>
        <p:spPr>
          <a:xfrm>
            <a:off x="5413176" y="35337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4"/>
          <p:cNvSpPr/>
          <p:nvPr/>
        </p:nvSpPr>
        <p:spPr>
          <a:xfrm>
            <a:off x="10105876" y="35337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4"/>
          <p:cNvSpPr/>
          <p:nvPr/>
        </p:nvSpPr>
        <p:spPr>
          <a:xfrm>
            <a:off x="571500" y="39528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4"/>
          <p:cNvSpPr/>
          <p:nvPr/>
        </p:nvSpPr>
        <p:spPr>
          <a:xfrm>
            <a:off x="5413176" y="39528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4"/>
          <p:cNvSpPr/>
          <p:nvPr/>
        </p:nvSpPr>
        <p:spPr>
          <a:xfrm>
            <a:off x="10105876" y="39528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4"/>
          <p:cNvSpPr/>
          <p:nvPr/>
        </p:nvSpPr>
        <p:spPr>
          <a:xfrm>
            <a:off x="571500" y="43719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5413176" y="43719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4"/>
          <p:cNvSpPr/>
          <p:nvPr/>
        </p:nvSpPr>
        <p:spPr>
          <a:xfrm>
            <a:off x="10105876" y="43719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4"/>
          <p:cNvSpPr/>
          <p:nvPr/>
        </p:nvSpPr>
        <p:spPr>
          <a:xfrm>
            <a:off x="571500" y="47910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5413176" y="47910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10105876" y="47910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71500" y="52101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4"/>
          <p:cNvSpPr/>
          <p:nvPr/>
        </p:nvSpPr>
        <p:spPr>
          <a:xfrm>
            <a:off x="5413176" y="52101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4"/>
          <p:cNvSpPr/>
          <p:nvPr/>
        </p:nvSpPr>
        <p:spPr>
          <a:xfrm>
            <a:off x="10105876" y="52101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</a:t>
            </a:r>
            <a:endParaRPr/>
          </a:p>
        </p:txBody>
      </p:sp>
      <p:sp>
        <p:nvSpPr>
          <p:cNvPr id="434" name="Google Shape;434;p3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9" name="Google Shape;4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009900"/>
            <a:ext cx="5286375" cy="2219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1" name="Google Shape;44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24275"/>
            <a:ext cx="5286375" cy="113287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5"/>
          <p:cNvSpPr txBox="1"/>
          <p:nvPr/>
        </p:nvSpPr>
        <p:spPr>
          <a:xfrm>
            <a:off x="571500" y="26289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3171825"/>
            <a:ext cx="528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Cálculo da quantidade de prensas para meta de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.000 unidades/semana 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(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400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/dia + rejeitos)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444" name="Google Shape;444;p35"/>
          <p:cNvSpPr txBox="1"/>
          <p:nvPr/>
        </p:nvSpPr>
        <p:spPr>
          <a:xfrm>
            <a:off x="6724650" y="3343275"/>
            <a:ext cx="47905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Resultado Final</a:t>
            </a:r>
            <a:endParaRPr/>
          </a:p>
        </p:txBody>
      </p:sp>
      <p:sp>
        <p:nvSpPr>
          <p:cNvPr id="445" name="Google Shape;445;p35"/>
          <p:cNvSpPr txBox="1"/>
          <p:nvPr/>
        </p:nvSpPr>
        <p:spPr>
          <a:xfrm>
            <a:off x="6724650" y="3886200"/>
            <a:ext cx="4562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 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Excêntrica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é suficiente para a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demanda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, operando com uma folga de capacidade de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70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%.</a:t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6724650" y="4362450"/>
            <a:ext cx="45624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Considerado setup de molde de 30 minutos entre lotes de facas e garfos.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3971925"/>
            <a:ext cx="47910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MEMORIAL DE CÁLCULO (PRENSA)</a:t>
            </a:r>
            <a:endParaRPr/>
          </a:p>
        </p:txBody>
      </p:sp>
      <p:sp>
        <p:nvSpPr>
          <p:cNvPr id="449" name="Google Shape;449;p3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5"/>
          <p:cNvSpPr txBox="1"/>
          <p:nvPr/>
        </p:nvSpPr>
        <p:spPr>
          <a:xfrm>
            <a:off x="2083950" y="4124650"/>
            <a:ext cx="226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Db = 400 / 0,97 = 412,37 kits/dia </a:t>
            </a:r>
            <a:endParaRPr/>
          </a:p>
        </p:txBody>
      </p:sp>
      <p:sp>
        <p:nvSpPr>
          <p:cNvPr id="451" name="Google Shape;451;p35"/>
          <p:cNvSpPr txBox="1"/>
          <p:nvPr/>
        </p:nvSpPr>
        <p:spPr>
          <a:xfrm>
            <a:off x="1902650" y="4347875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= 367,2 / 0,27 = 1360 kits / dia </a:t>
            </a:r>
            <a:endParaRPr/>
          </a:p>
        </p:txBody>
      </p:sp>
      <p:sp>
        <p:nvSpPr>
          <p:cNvPr id="452" name="Google Shape;452;p35"/>
          <p:cNvSpPr txBox="1"/>
          <p:nvPr/>
        </p:nvSpPr>
        <p:spPr>
          <a:xfrm>
            <a:off x="1902650" y="4571100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N = 412,37 / 1360 = 0,3 -&gt; 1 prensa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7" name="Google Shape;45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 txBox="1"/>
          <p:nvPr/>
        </p:nvSpPr>
        <p:spPr>
          <a:xfrm>
            <a:off x="809625" y="2033587"/>
            <a:ext cx="49506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LAYOUT INDUSTRIAL</a:t>
            </a:r>
            <a:endParaRPr/>
          </a:p>
        </p:txBody>
      </p:sp>
      <p:sp>
        <p:nvSpPr>
          <p:cNvPr id="459" name="Google Shape;459;p36"/>
          <p:cNvSpPr/>
          <p:nvPr/>
        </p:nvSpPr>
        <p:spPr>
          <a:xfrm>
            <a:off x="571500" y="2033587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/>
          <p:nvPr/>
        </p:nvSpPr>
        <p:spPr>
          <a:xfrm>
            <a:off x="571500" y="3033712"/>
            <a:ext cx="52006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Arranjo Físico Proposto</a:t>
            </a:r>
            <a:endParaRPr/>
          </a:p>
        </p:txBody>
      </p:sp>
      <p:sp>
        <p:nvSpPr>
          <p:cNvPr id="461" name="Google Shape;461;p36"/>
          <p:cNvSpPr txBox="1"/>
          <p:nvPr/>
        </p:nvSpPr>
        <p:spPr>
          <a:xfrm>
            <a:off x="571500" y="357663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Planta dimensionada em 800m² (40m x 20m) focada em fluxo linear para minimizar movimentação de materiais.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571500" y="405288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Setores: Recebimento -&gt; Estampagem -&gt; Tratamento Térmico -&gt; Polimento -&gt; Montagem -&gt; Expedição.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571500" y="4529137"/>
            <a:ext cx="4953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Fluxo otimizado para produção puxada.</a:t>
            </a:r>
            <a:endParaRPr/>
          </a:p>
        </p:txBody>
      </p:sp>
      <p:pic>
        <p:nvPicPr>
          <p:cNvPr descr="image.png" id="464" name="Google Shape;46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17335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9" name="Google Shape;4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5976342" cy="864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3592" y="1571625"/>
            <a:ext cx="3905250" cy="86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571500" y="10220325"/>
            <a:ext cx="5976342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 60t: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Recorte preciso das lâminas em aço inox.</a:t>
            </a:r>
            <a:endParaRPr/>
          </a:p>
        </p:txBody>
      </p:sp>
      <p:sp>
        <p:nvSpPr>
          <p:cNvPr id="473" name="Google Shape;473;p37"/>
          <p:cNvSpPr txBox="1"/>
          <p:nvPr/>
        </p:nvSpPr>
        <p:spPr>
          <a:xfrm>
            <a:off x="6833592" y="10220325"/>
            <a:ext cx="39052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Forno de Têmpera: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Garantia da dureza Rockwell necessária.</a:t>
            </a:r>
            <a:endParaRPr/>
          </a:p>
        </p:txBody>
      </p:sp>
      <p:pic>
        <p:nvPicPr>
          <p:cNvPr descr="image.png" id="474" name="Google Shape;4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0550" y="1590675"/>
            <a:ext cx="5938241" cy="8610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2642" y="1590675"/>
            <a:ext cx="12096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MAQUINÁRIO PRINCIPAL</a:t>
            </a:r>
            <a:endParaRPr/>
          </a:p>
        </p:txBody>
      </p:sp>
      <p:sp>
        <p:nvSpPr>
          <p:cNvPr id="477" name="Google Shape;477;p3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8"/>
          <p:cNvSpPr/>
          <p:nvPr/>
        </p:nvSpPr>
        <p:spPr>
          <a:xfrm>
            <a:off x="571500" y="23336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8"/>
          <p:cNvSpPr/>
          <p:nvPr/>
        </p:nvSpPr>
        <p:spPr>
          <a:xfrm>
            <a:off x="571500" y="3105150"/>
            <a:ext cx="11049000" cy="82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571500" y="39338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92" name="Google Shape;492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76500"/>
            <a:ext cx="14763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1666875" y="25241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https://assets.tramontina.com.br/upload/tramon/imagens/CUT/22399036PDM001G.jpg</a:t>
            </a:r>
            <a:endParaRPr/>
          </a:p>
        </p:txBody>
      </p:sp>
      <p:sp>
        <p:nvSpPr>
          <p:cNvPr id="494" name="Google Shape;494;p38"/>
          <p:cNvSpPr txBox="1"/>
          <p:nvPr/>
        </p:nvSpPr>
        <p:spPr>
          <a:xfrm>
            <a:off x="1666875" y="27241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global.tramontina.com</a:t>
            </a:r>
            <a:endParaRPr/>
          </a:p>
        </p:txBody>
      </p:sp>
      <p:pic>
        <p:nvPicPr>
          <p:cNvPr descr="image.png" id="495" name="Google Shape;495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76600"/>
            <a:ext cx="914400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8"/>
          <p:cNvSpPr txBox="1"/>
          <p:nvPr/>
        </p:nvSpPr>
        <p:spPr>
          <a:xfrm>
            <a:off x="1666875" y="32480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https://netrinoimages.s3.eu-west-2.amazonaws.com/2019/08/11/633139/501874/production_line_layout_workshop_factory_industrial_floor_plan_3d_model_c4d_max_obj_fbx_ma_lwo_3ds_3dm_stl_5138621.webp</a:t>
            </a:r>
            <a:endParaRPr/>
          </a:p>
        </p:txBody>
      </p:sp>
      <p:sp>
        <p:nvSpPr>
          <p:cNvPr id="497" name="Google Shape;497;p38"/>
          <p:cNvSpPr txBox="1"/>
          <p:nvPr/>
        </p:nvSpPr>
        <p:spPr>
          <a:xfrm>
            <a:off x="1666875" y="36004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3dexport.com</a:t>
            </a:r>
            <a:endParaRPr/>
          </a:p>
        </p:txBody>
      </p:sp>
      <p:pic>
        <p:nvPicPr>
          <p:cNvPr descr="image.png" id="498" name="Google Shape;498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14382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8"/>
          <p:cNvSpPr txBox="1"/>
          <p:nvPr/>
        </p:nvSpPr>
        <p:spPr>
          <a:xfrm>
            <a:off x="1666875" y="41243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http://stampingpress4u.com/upload/3190/o/1-6-60t-precision-metal-stamping-press_01.jpg</a:t>
            </a:r>
            <a:endParaRPr/>
          </a:p>
        </p:txBody>
      </p:sp>
      <p:sp>
        <p:nvSpPr>
          <p:cNvPr id="500" name="Google Shape;500;p38"/>
          <p:cNvSpPr txBox="1"/>
          <p:nvPr/>
        </p:nvSpPr>
        <p:spPr>
          <a:xfrm>
            <a:off x="1666875" y="43243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stampingpress4u.com</a:t>
            </a:r>
            <a:endParaRPr/>
          </a:p>
        </p:txBody>
      </p:sp>
      <p:pic>
        <p:nvPicPr>
          <p:cNvPr descr="image.png" id="501" name="Google Shape;501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876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8"/>
          <p:cNvSpPr txBox="1"/>
          <p:nvPr/>
        </p:nvSpPr>
        <p:spPr>
          <a:xfrm>
            <a:off x="1666875" y="48482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https://www.wisoven.com/sites/default/files/styles/product_slideshow/public/2016-11/Wisconsin%20Oven%20Daw%20and%20Temper%20Furnace%20601SM10740_SDB-668-12E%20with%20load%20table.JPG?itok=q_DrRHfK</a:t>
            </a:r>
            <a:endParaRPr/>
          </a:p>
        </p:txBody>
      </p:sp>
      <p:sp>
        <p:nvSpPr>
          <p:cNvPr id="503" name="Google Shape;503;p38"/>
          <p:cNvSpPr txBox="1"/>
          <p:nvPr/>
        </p:nvSpPr>
        <p:spPr>
          <a:xfrm>
            <a:off x="1666875" y="52006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www.wisoven.com</a:t>
            </a:r>
            <a:endParaRPr/>
          </a:p>
        </p:txBody>
      </p:sp>
      <p:sp>
        <p:nvSpPr>
          <p:cNvPr id="504" name="Google Shape;504;p3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FONTES DE PESQUISA</a:t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(1/2)</a:t>
            </a:r>
          </a:p>
        </p:txBody>
      </p:sp>
      <p:pic>
        <p:nvPicPr>
          <p:cNvPr id="5" name="Picture 4" descr="fluxo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(2/2)</a:t>
            </a:r>
          </a:p>
        </p:txBody>
      </p:sp>
      <p:pic>
        <p:nvPicPr>
          <p:cNvPr id="5" name="Picture 4" descr="fluxo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